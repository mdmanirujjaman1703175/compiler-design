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0" r:id="rId2"/>
    <p:sldMasterId id="2147483672" r:id="rId3"/>
    <p:sldMasterId id="2147483685" r:id="rId4"/>
  </p:sldMasterIdLst>
  <p:notesMasterIdLst>
    <p:notesMasterId r:id="rId8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33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presProps" Target="presProps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tableStyles" Target="tableStyles.xml"/><Relationship Id="rId61" Type="http://schemas.openxmlformats.org/officeDocument/2006/relationships/slide" Target="slides/slide57.xml"/><Relationship Id="rId82" Type="http://schemas.openxmlformats.org/officeDocument/2006/relationships/slide" Target="slides/slide7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3F761C-D59A-4DBA-B359-4583657C5735}" type="datetimeFigureOut">
              <a:rPr lang="en-US"/>
              <a:t>10/30/2025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7F2AAF-B118-4C61-ADE6-2F12701FF428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52184D40-4F0F-49A5-ADCD-8A936DA22F34}" type="slidenum">
              <a:rPr lang="en-US">
                <a:latin typeface="Arial" panose="020B0604020202020204" pitchFamily="34" charset="0"/>
              </a:rPr>
              <a:t>1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hdr" sz="quarter"/>
          </p:nvPr>
        </p:nvSpPr>
        <p:spPr bwMode="auto">
          <a:noFill/>
          <a:ln>
            <a:miter lim="800000"/>
          </a:ln>
        </p:spPr>
        <p:txBody>
          <a:bodyPr wrap="square" numCol="1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lec02-parserCFG</a:t>
            </a:r>
          </a:p>
        </p:txBody>
      </p:sp>
      <p:sp>
        <p:nvSpPr>
          <p:cNvPr id="1249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noFill/>
          <a:ln>
            <a:miter lim="800000"/>
          </a:ln>
        </p:spPr>
        <p:txBody>
          <a:bodyPr wrap="square" numCol="1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B5B3129-83C0-4BC7-B5A7-B60E5811C56D}" type="datetime4">
              <a:rPr lang="en-US"/>
              <a:t>October 30, 2025</a:t>
            </a:fld>
            <a:endParaRPr lang="en-US"/>
          </a:p>
        </p:txBody>
      </p:sp>
      <p:sp>
        <p:nvSpPr>
          <p:cNvPr id="12493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48D7873-16C6-4E1F-84F3-CD61177E2303}" type="slidenum">
              <a:rPr lang="en-US"/>
              <a:t>3</a:t>
            </a:fld>
            <a:endParaRPr lang="en-US"/>
          </a:p>
        </p:txBody>
      </p:sp>
      <p:sp>
        <p:nvSpPr>
          <p:cNvPr id="12493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24934" name="Rectangle 1027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93800" y="681038"/>
            <a:ext cx="4545013" cy="3408362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</a:ln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84798" y="4362155"/>
            <a:ext cx="5088404" cy="4088697"/>
          </a:xfrm>
          <a:prstGeom prst="rect">
            <a:avLst/>
          </a:prstGeom>
          <a:noFill/>
          <a:ln>
            <a:miter lim="800000"/>
          </a:ln>
        </p:spPr>
        <p:txBody>
          <a:bodyPr lIns="87664" tIns="43832" rIns="87664" bIns="43832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93800" y="681038"/>
            <a:ext cx="4545013" cy="3408362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</a:ln>
        </p:spPr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84798" y="4362155"/>
            <a:ext cx="5088404" cy="4088697"/>
          </a:xfrm>
          <a:prstGeom prst="rect">
            <a:avLst/>
          </a:prstGeom>
          <a:noFill/>
          <a:ln>
            <a:miter lim="800000"/>
          </a:ln>
        </p:spPr>
        <p:txBody>
          <a:bodyPr lIns="87664" tIns="43832" rIns="87664" bIns="43832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7F2AAF-B118-4C61-ADE6-2F12701FF428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52184D40-4F0F-49A5-ADCD-8A936DA22F34}" type="slidenum">
              <a:rPr lang="en-US">
                <a:latin typeface="Arial" panose="020B0604020202020204" pitchFamily="34" charset="0"/>
              </a:rPr>
              <a:t>37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hdr" sz="quarter"/>
          </p:nvPr>
        </p:nvSpPr>
        <p:spPr bwMode="auto">
          <a:noFill/>
          <a:ln>
            <a:miter lim="800000"/>
          </a:ln>
        </p:spPr>
        <p:txBody>
          <a:bodyPr wrap="square" numCol="1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lec03-topdownparser</a:t>
            </a:r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noFill/>
          <a:ln>
            <a:miter lim="800000"/>
          </a:ln>
        </p:spPr>
        <p:txBody>
          <a:bodyPr wrap="square" numCol="1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80D122D5-0349-4959-967E-E9F22015B079}" type="datetime4">
              <a:rPr lang="en-US"/>
              <a:t>October 30, 2025</a:t>
            </a:fld>
            <a:endParaRPr lang="en-US"/>
          </a:p>
        </p:txBody>
      </p:sp>
      <p:sp>
        <p:nvSpPr>
          <p:cNvPr id="12595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52542B7-5D91-4D6C-941E-54684E6DE271}" type="slidenum">
              <a:rPr lang="en-US"/>
              <a:t>39</a:t>
            </a:fld>
            <a:endParaRPr lang="en-US"/>
          </a:p>
        </p:txBody>
      </p:sp>
      <p:sp>
        <p:nvSpPr>
          <p:cNvPr id="1259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2595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44575" y="762000"/>
            <a:ext cx="5086350" cy="3814763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</a:ln>
        </p:spPr>
      </p:sp>
      <p:sp>
        <p:nvSpPr>
          <p:cNvPr id="1740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5930" y="4882433"/>
            <a:ext cx="5267440" cy="4576360"/>
          </a:xfrm>
          <a:prstGeom prst="rect">
            <a:avLst/>
          </a:prstGeom>
          <a:noFill/>
          <a:ln>
            <a:miter lim="800000"/>
          </a:ln>
        </p:spPr>
        <p:txBody>
          <a:bodyPr lIns="94958" tIns="47479" rIns="94958" bIns="47479"/>
          <a:lstStyle/>
          <a:p>
            <a:r>
              <a:rPr lang="en-US" altLang="zh-TW"/>
              <a:t>A large number of TD parsing can be generalized as LL(1), in which … we scan strictly left-to-right, thus derives the sentential form in lm.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44575" y="762000"/>
            <a:ext cx="5086350" cy="3814763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</a:ln>
        </p:spPr>
      </p:sp>
      <p:sp>
        <p:nvSpPr>
          <p:cNvPr id="2539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5930" y="4882433"/>
            <a:ext cx="5267440" cy="4576360"/>
          </a:xfrm>
          <a:prstGeom prst="rect">
            <a:avLst/>
          </a:prstGeom>
          <a:noFill/>
          <a:ln>
            <a:miter lim="800000"/>
          </a:ln>
        </p:spPr>
        <p:txBody>
          <a:bodyPr lIns="94958" tIns="47479" rIns="94958" bIns="47479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52184D40-4F0F-49A5-ADCD-8A936DA22F34}" type="slidenum">
              <a:rPr lang="en-US">
                <a:latin typeface="Arial" panose="020B0604020202020204" pitchFamily="34" charset="0"/>
              </a:rPr>
              <a:t>51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44575" y="762000"/>
            <a:ext cx="5086350" cy="3814763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</a:ln>
        </p:spPr>
      </p:sp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5930" y="4882433"/>
            <a:ext cx="5267440" cy="4576360"/>
          </a:xfrm>
          <a:prstGeom prst="rect">
            <a:avLst/>
          </a:prstGeom>
          <a:noFill/>
          <a:ln>
            <a:miter lim="800000"/>
          </a:ln>
        </p:spPr>
        <p:txBody>
          <a:bodyPr lIns="94958" tIns="47479" rIns="94958" bIns="47479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52184D40-4F0F-49A5-ADCD-8A936DA22F34}" type="slidenum">
              <a:rPr lang="en-US">
                <a:latin typeface="Arial" panose="020B0604020202020204" pitchFamily="34" charset="0"/>
              </a:rPr>
              <a:t>66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832E6-B55A-4E24-AC1A-FA114B576BC7}" type="datetime1">
              <a:rPr lang="en-US"/>
              <a:t>10/30/2025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6CC19BE-7371-47B2-943B-F4A7FF6ACF5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832E6-B55A-4E24-AC1A-FA114B576BC7}" type="datetime1">
              <a:rPr lang="en-US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16CC19BE-7371-47B2-943B-F4A7FF6ACF5A}" type="slidenum">
              <a:rPr lang="en-US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832E6-B55A-4E24-AC1A-FA114B576BC7}" type="datetime1">
              <a:rPr lang="en-US"/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16CC19BE-7371-47B2-943B-F4A7FF6ACF5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832E6-B55A-4E24-AC1A-FA114B576BC7}" type="datetime1">
              <a:rPr lang="en-US"/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16CC19BE-7371-47B2-943B-F4A7FF6ACF5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832E6-B55A-4E24-AC1A-FA114B576BC7}" type="datetime1">
              <a:rPr lang="en-US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16CC19BE-7371-47B2-943B-F4A7FF6ACF5A}" type="slidenum">
              <a:rPr lang="en-US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769BE4A-9773-4FA3-A948-966EEB5C37EC}" type="datetime1">
              <a:rPr lang="en-US"/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Md Zahim Hassan, BAUST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pPr>
              <a:defRPr/>
            </a:pPr>
            <a:fld id="{451F66F0-BF42-4185-990A-1FDB79CB886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E6BBE3-C0A4-428F-9EBC-4C99FFE6CD45}" type="datetime1">
              <a:rPr lang="en-US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Md Zahim Hassan, BAUST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pPr>
              <a:defRPr/>
            </a:pPr>
            <a:fld id="{5B3E84DD-8F10-4A46-8A7D-909DFC9ACC0C}" type="slidenum">
              <a:rPr lang="en-US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BB962C8B-B14F-4D97-AF65-F5344CB8AC3E}" type="datetime1">
              <a:rPr lang="en-US" altLang="zh-TW"/>
              <a:t>10/30/2025</a:t>
            </a:fld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/>
              <a:t>Md Zahim Hassan, BAUST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0EB9F77E-C9CE-4252-B9CC-B63796FA1A62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769BE4A-9773-4FA3-A948-966EEB5C37EC}" type="datetime1">
              <a:rPr lang="en-US"/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Azhar, KUET.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pPr>
              <a:defRPr/>
            </a:pPr>
            <a:fld id="{451F66F0-BF42-4185-990A-1FDB79CB886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E6BBE3-C0A4-428F-9EBC-4C99FFE6CD45}" type="datetime1">
              <a:rPr lang="en-US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Azhar, KUET.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pPr>
              <a:defRPr/>
            </a:pPr>
            <a:fld id="{5B3E84DD-8F10-4A46-8A7D-909DFC9ACC0C}" type="slidenum">
              <a:rPr lang="en-US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010832E6-B55A-4E24-AC1A-FA114B576BC7}" type="datetime1">
              <a:rPr lang="en-US"/>
              <a:t>10/30/2025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r>
              <a:rPr lang="en-US"/>
              <a:t>Md Zahim Hassan, BAUST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16CC19BE-7371-47B2-943B-F4A7FF6ACF5A}" type="slidenum">
              <a:rPr lang="en-US"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4" r:id="rId3"/>
  </p:sldLayoutIdLst>
  <p:hf hdr="0"/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 panose="05020102010507070707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 panose="05000000000000000000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 panose="05020102010507070707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 panose="05000000000000000000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 panose="05020102010507070707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010832E6-B55A-4E24-AC1A-FA114B576BC7}" type="datetime1">
              <a:rPr lang="en-US"/>
              <a:t>10/30/2025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r>
              <a:rPr lang="en-US"/>
              <a:t>Md Zahim Hassan, BAUST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16CC19BE-7371-47B2-943B-F4A7FF6ACF5A}" type="slidenum">
              <a:rPr lang="en-US"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8" r:id="rId2"/>
  </p:sldLayoutIdLst>
  <p:hf hdr="0"/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 panose="05020102010507070707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 panose="05000000000000000000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 panose="05020102010507070707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 panose="05000000000000000000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 panose="05020102010507070707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FF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7E4A7785-CDE2-4669-9158-F1D57E54FBFB}" type="datetime1">
              <a:rPr lang="en-US"/>
              <a:t>10/30/2025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Md Zahim Hassan, BAUST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D98B80C6-68FE-459F-8EE5-03348F31B255}" type="slidenum">
              <a:rPr lang="en-US"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0" r:id="rId2"/>
    <p:sldLayoutId id="2147483681" r:id="rId3"/>
  </p:sldLayoutIdLst>
  <p:hf hdr="0"/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 panose="05020102010507070707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 panose="05000000000000000000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 panose="05020102010507070707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 panose="05000000000000000000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 panose="05020102010507070707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FF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7E4A7785-CDE2-4669-9158-F1D57E54FBFB}" type="datetime1">
              <a:rPr lang="en-US"/>
              <a:t>10/30/2025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Dr. Azhar, KUET.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D98B80C6-68FE-459F-8EE5-03348F31B255}" type="slidenum">
              <a:rPr lang="en-US"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3" r:id="rId2"/>
  </p:sldLayoutIdLst>
  <p:hf hdr="0" ftr="0"/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 panose="05020102010507070707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 panose="05000000000000000000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 panose="05020102010507070707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 panose="05000000000000000000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 panose="05020102010507070707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057400"/>
            <a:ext cx="8077200" cy="1219200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en-US" sz="4800" b="1" dirty="0">
                <a:solidFill>
                  <a:schemeClr val="tx1"/>
                </a:solidFill>
                <a:latin typeface="+mn-lt"/>
              </a:rPr>
              <a:t>Syntax Analysis</a:t>
            </a:r>
          </a:p>
        </p:txBody>
      </p:sp>
      <p:sp>
        <p:nvSpPr>
          <p:cNvPr id="307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026FD60-F092-4190-B331-9840380FBE71}" type="datetime1">
              <a:rPr lang="en-US">
                <a:latin typeface="Arial" panose="020B0604020202020204" pitchFamily="34" charset="0"/>
              </a:rPr>
              <a:t>10/30/2025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07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Arial" panose="020B0604020202020204" pitchFamily="34" charset="0"/>
              </a:rPr>
              <a:t>Md Zahim Hassan, BAUST</a:t>
            </a:r>
          </a:p>
        </p:txBody>
      </p:sp>
      <p:sp>
        <p:nvSpPr>
          <p:cNvPr id="307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E96DA8DC-BF72-4030-82CD-5BDDC1EA7C12}" type="slidenum">
              <a:rPr lang="en-US">
                <a:latin typeface="Arial" panose="020B0604020202020204" pitchFamily="34" charset="0"/>
              </a:rPr>
              <a:t>1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33600" y="3429000"/>
            <a:ext cx="487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Part I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Phases of a Compiler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A318-DCBA-4447-84B4-B53354073B57}" type="datetime1">
              <a:rPr lang="en-US"/>
              <a:t>10/30/2025</a:t>
            </a:fld>
            <a:endParaRPr lang="en-US"/>
          </a:p>
        </p:txBody>
      </p:sp>
      <p:sp>
        <p:nvSpPr>
          <p:cNvPr id="26" name="Footer Placeholder 2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939CF-315A-4CB2-A4B7-D4A9C8153E95}" type="slidenum">
              <a:rPr lang="en-US"/>
              <a:t>2</a:t>
            </a:fld>
            <a:endParaRPr lang="en-US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3352800" y="1514475"/>
            <a:ext cx="2138363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i="0" dirty="0"/>
              <a:t>Source program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3276600" y="2200275"/>
            <a:ext cx="2211388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/>
          <a:p>
            <a:r>
              <a:rPr lang="en-US" i="0" dirty="0"/>
              <a:t>Lexical analyzer</a:t>
            </a: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3276600" y="2886075"/>
            <a:ext cx="21463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/>
          <a:p>
            <a:r>
              <a:rPr lang="en-US" i="0" dirty="0"/>
              <a:t>Syntax analyzer</a:t>
            </a: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3200400" y="3571875"/>
            <a:ext cx="243205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/>
          <a:p>
            <a:r>
              <a:rPr lang="en-US" i="0"/>
              <a:t>Semantic analyzer</a:t>
            </a: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2667000" y="4257675"/>
            <a:ext cx="36068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/>
          <a:p>
            <a:r>
              <a:rPr lang="en-US" i="0" dirty="0"/>
              <a:t>Intermediate code generator</a:t>
            </a: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3352800" y="5019675"/>
            <a:ext cx="2078038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/>
          <a:p>
            <a:r>
              <a:rPr lang="en-US" i="0"/>
              <a:t>Code optimizer</a:t>
            </a:r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3352800" y="5934075"/>
            <a:ext cx="2062163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/>
          <a:p>
            <a:r>
              <a:rPr lang="en-US" i="0"/>
              <a:t>Code generator</a:t>
            </a:r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914400" y="3190875"/>
            <a:ext cx="1808163" cy="831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/>
          <a:p>
            <a:r>
              <a:rPr lang="en-US" i="0"/>
              <a:t>Symbol table</a:t>
            </a:r>
          </a:p>
          <a:p>
            <a:r>
              <a:rPr lang="en-US" i="0"/>
              <a:t>manager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6308725" y="3460750"/>
            <a:ext cx="1825625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/>
          <a:p>
            <a:r>
              <a:rPr lang="en-US" i="0"/>
              <a:t>Error handler</a:t>
            </a:r>
          </a:p>
        </p:txBody>
      </p:sp>
      <p:sp>
        <p:nvSpPr>
          <p:cNvPr id="15" name="Line 12"/>
          <p:cNvSpPr>
            <a:spLocks noChangeShapeType="1"/>
          </p:cNvSpPr>
          <p:nvPr/>
        </p:nvSpPr>
        <p:spPr bwMode="auto">
          <a:xfrm>
            <a:off x="4343400" y="1971675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Line 13"/>
          <p:cNvSpPr>
            <a:spLocks noChangeShapeType="1"/>
          </p:cNvSpPr>
          <p:nvPr/>
        </p:nvSpPr>
        <p:spPr bwMode="auto">
          <a:xfrm>
            <a:off x="4343400" y="26574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Line 14"/>
          <p:cNvSpPr>
            <a:spLocks noChangeShapeType="1"/>
          </p:cNvSpPr>
          <p:nvPr/>
        </p:nvSpPr>
        <p:spPr bwMode="auto">
          <a:xfrm>
            <a:off x="4343400" y="33432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Line 15"/>
          <p:cNvSpPr>
            <a:spLocks noChangeShapeType="1"/>
          </p:cNvSpPr>
          <p:nvPr/>
        </p:nvSpPr>
        <p:spPr bwMode="auto">
          <a:xfrm>
            <a:off x="4343400" y="4105275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Line 16"/>
          <p:cNvSpPr>
            <a:spLocks noChangeShapeType="1"/>
          </p:cNvSpPr>
          <p:nvPr/>
        </p:nvSpPr>
        <p:spPr bwMode="auto">
          <a:xfrm>
            <a:off x="4343400" y="4714875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Line 17"/>
          <p:cNvSpPr>
            <a:spLocks noChangeShapeType="1"/>
          </p:cNvSpPr>
          <p:nvPr/>
        </p:nvSpPr>
        <p:spPr bwMode="auto">
          <a:xfrm>
            <a:off x="4343400" y="5553075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Hexagon 22"/>
          <p:cNvSpPr/>
          <p:nvPr/>
        </p:nvSpPr>
        <p:spPr>
          <a:xfrm>
            <a:off x="2895600" y="2667000"/>
            <a:ext cx="2971800" cy="838200"/>
          </a:xfrm>
          <a:prstGeom prst="hexagon">
            <a:avLst/>
          </a:prstGeom>
          <a:solidFill>
            <a:srgbClr val="002060">
              <a:alpha val="12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3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Syntax Analyzer</a:t>
            </a:r>
          </a:p>
        </p:txBody>
      </p:sp>
      <p:sp>
        <p:nvSpPr>
          <p:cNvPr id="4102" name="Date Placeholder 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3A4B6AD-3853-4ED2-A309-58D85048D7FB}" type="datetime1">
              <a:rPr lang="en-US"/>
              <a:t>10/30/2025</a:t>
            </a:fld>
            <a:endParaRPr lang="en-US"/>
          </a:p>
        </p:txBody>
      </p:sp>
      <p:sp>
        <p:nvSpPr>
          <p:cNvPr id="4098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409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1CC1B64A-04AC-4070-94BE-DB0E2CF5FC3E}" type="slidenum">
              <a:rPr lang="en-US"/>
              <a:t>3</a:t>
            </a:fld>
            <a:endParaRPr lang="en-US"/>
          </a:p>
        </p:txBody>
      </p:sp>
      <p:sp>
        <p:nvSpPr>
          <p:cNvPr id="410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en-US" sz="2000" i="1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400" i="1" dirty="0"/>
              <a:t>Syntax Analyzer</a:t>
            </a:r>
            <a:r>
              <a:rPr lang="en-US" sz="2400" dirty="0"/>
              <a:t> creates the </a:t>
            </a:r>
            <a:r>
              <a:rPr lang="en-US" sz="2400" dirty="0">
                <a:solidFill>
                  <a:srgbClr val="FF0000"/>
                </a:solidFill>
              </a:rPr>
              <a:t>syntactic structure </a:t>
            </a:r>
            <a:r>
              <a:rPr lang="en-US" sz="2400" dirty="0"/>
              <a:t>of the given source program.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400" dirty="0"/>
              <a:t>This syntactic structure is mostly a </a:t>
            </a:r>
            <a:r>
              <a:rPr lang="en-US" sz="2400" i="1" dirty="0">
                <a:solidFill>
                  <a:srgbClr val="FF0000"/>
                </a:solidFill>
              </a:rPr>
              <a:t>parse tree</a:t>
            </a:r>
            <a:r>
              <a:rPr lang="en-US" sz="2400" dirty="0"/>
              <a:t>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400" dirty="0"/>
              <a:t>Syntax Analyzer is also known as </a:t>
            </a:r>
            <a:r>
              <a:rPr lang="en-US" sz="2400" i="1" dirty="0"/>
              <a:t>parser</a:t>
            </a:r>
            <a:r>
              <a:rPr lang="en-US" sz="2400" dirty="0"/>
              <a:t>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400" dirty="0"/>
              <a:t>The syntax of a programming is described by a </a:t>
            </a:r>
            <a:r>
              <a:rPr lang="en-US" sz="2400" i="1" dirty="0">
                <a:solidFill>
                  <a:srgbClr val="FF0000"/>
                </a:solidFill>
              </a:rPr>
              <a:t>context-free grammar </a:t>
            </a:r>
            <a:r>
              <a:rPr lang="en-US" sz="2400" i="1" dirty="0"/>
              <a:t>(CFG) or </a:t>
            </a:r>
            <a:r>
              <a:rPr lang="en-US" sz="2400" dirty="0"/>
              <a:t>BNF (Backus-Naur Form) notation.</a:t>
            </a:r>
          </a:p>
          <a:p>
            <a:pPr>
              <a:buNone/>
            </a:pPr>
            <a:endParaRPr lang="en-US" sz="1600" dirty="0"/>
          </a:p>
          <a:p>
            <a:pPr>
              <a:buNone/>
            </a:pPr>
            <a:endParaRPr lang="en-US" sz="2000" i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3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Syntax Analyzer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FE1BE80-BD2D-4309-9425-224705F3D5A3}" type="datetime1">
              <a:rPr lang="en-US"/>
              <a:t>10/30/2025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Md Zahim Hassan, BAUST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3E84DD-8F10-4A46-8A7D-909DFC9ACC0C}" type="slidenum">
              <a:rPr lang="en-US"/>
              <a:t>4</a:t>
            </a:fld>
            <a:endParaRPr lang="en-US"/>
          </a:p>
        </p:txBody>
      </p:sp>
      <p:sp>
        <p:nvSpPr>
          <p:cNvPr id="33" name="Content Placeholder 32"/>
          <p:cNvSpPr>
            <a:spLocks noGrp="1"/>
          </p:cNvSpPr>
          <p:nvPr>
            <p:ph sz="quarter" idx="1"/>
          </p:nvPr>
        </p:nvSpPr>
        <p:spPr>
          <a:xfrm>
            <a:off x="152400" y="1295400"/>
            <a:ext cx="8839200" cy="5109584"/>
          </a:xfrm>
        </p:spPr>
        <p:txBody>
          <a:bodyPr>
            <a:normAutofit fontScale="92500" lnSpcReduction="10000"/>
          </a:bodyPr>
          <a:lstStyle/>
          <a:p>
            <a:endParaRPr lang="en-US" sz="2000" dirty="0"/>
          </a:p>
          <a:p>
            <a:r>
              <a:rPr lang="en-US" sz="2000" dirty="0"/>
              <a:t>The syntax analyzer (parser) checks whether a given source program </a:t>
            </a:r>
            <a:r>
              <a:rPr lang="en-US" sz="2000" dirty="0">
                <a:solidFill>
                  <a:srgbClr val="C00000"/>
                </a:solidFill>
              </a:rPr>
              <a:t>satisfies the rules implied </a:t>
            </a:r>
            <a:r>
              <a:rPr lang="en-US" sz="2000" dirty="0"/>
              <a:t>by a Context-Free Grammar (CFG) or not.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If it satisfies, the parser creates the parse tree of that program.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Otherwise the parser gives the error messages.</a:t>
            </a:r>
          </a:p>
          <a:p>
            <a:pPr lvl="1"/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/>
              <a:t>A CFG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gives a precise syntactic specification of a programming language.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the design of the grammar is an initial phase of the design of a compiler.</a:t>
            </a:r>
          </a:p>
          <a:p>
            <a:pPr marL="274320" lvl="1" indent="0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r>
              <a:rPr lang="en-US" sz="2200" dirty="0"/>
              <a:t>A CFG G can be represented by four components, denoted G=(V,T, P,S) 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V is the set of variables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T is the set of terminals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P is the set of production rules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 is the start symbol.</a:t>
            </a:r>
          </a:p>
          <a:p>
            <a:pPr lvl="1"/>
            <a:endParaRPr lang="en-US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Parser</a:t>
            </a:r>
          </a:p>
        </p:txBody>
      </p:sp>
      <p:sp>
        <p:nvSpPr>
          <p:cNvPr id="5146" name="Date Placeholder 15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4AEA92C-531E-4014-944C-9310A9420847}" type="datetime1">
              <a:rPr lang="en-US"/>
              <a:t>10/30/2025</a:t>
            </a:fld>
            <a:endParaRPr lang="en-US"/>
          </a:p>
        </p:txBody>
      </p:sp>
      <p:sp>
        <p:nvSpPr>
          <p:cNvPr id="5122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512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448B4A8-5ADE-4FB3-A567-38006051FDD5}" type="slidenum">
              <a:rPr lang="en-US"/>
              <a:t>5</a:t>
            </a:fld>
            <a:endParaRPr lang="en-US"/>
          </a:p>
        </p:txBody>
      </p:sp>
      <p:grpSp>
        <p:nvGrpSpPr>
          <p:cNvPr id="2" name="Group 16"/>
          <p:cNvGrpSpPr/>
          <p:nvPr/>
        </p:nvGrpSpPr>
        <p:grpSpPr>
          <a:xfrm>
            <a:off x="609600" y="2133600"/>
            <a:ext cx="7772400" cy="2997200"/>
            <a:chOff x="685800" y="2667000"/>
            <a:chExt cx="7772400" cy="2997200"/>
          </a:xfrm>
        </p:grpSpPr>
        <p:grpSp>
          <p:nvGrpSpPr>
            <p:cNvPr id="3" name="Group 4"/>
            <p:cNvGrpSpPr/>
            <p:nvPr/>
          </p:nvGrpSpPr>
          <p:grpSpPr bwMode="auto">
            <a:xfrm>
              <a:off x="1676400" y="2743200"/>
              <a:ext cx="1346200" cy="939800"/>
              <a:chOff x="1360" y="1696"/>
              <a:chExt cx="976" cy="592"/>
            </a:xfrm>
          </p:grpSpPr>
          <p:sp>
            <p:nvSpPr>
              <p:cNvPr id="40" name="Rectangle 5"/>
              <p:cNvSpPr>
                <a:spLocks noChangeArrowheads="1"/>
              </p:cNvSpPr>
              <p:nvPr/>
            </p:nvSpPr>
            <p:spPr bwMode="auto">
              <a:xfrm>
                <a:off x="1360" y="1696"/>
                <a:ext cx="976" cy="592"/>
              </a:xfrm>
              <a:prstGeom prst="rect">
                <a:avLst/>
              </a:prstGeom>
              <a:noFill/>
              <a:ln w="508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" name="Rectangle 6"/>
              <p:cNvSpPr>
                <a:spLocks noChangeArrowheads="1"/>
              </p:cNvSpPr>
              <p:nvPr/>
            </p:nvSpPr>
            <p:spPr bwMode="auto">
              <a:xfrm>
                <a:off x="1369" y="1703"/>
                <a:ext cx="943" cy="51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algn="ctr" defTabSz="762000"/>
                <a:r>
                  <a:rPr lang="en-US" altLang="zh-TW">
                    <a:solidFill>
                      <a:srgbClr val="000000"/>
                    </a:solidFill>
                  </a:rPr>
                  <a:t>Lexical</a:t>
                </a:r>
              </a:p>
              <a:p>
                <a:pPr algn="ctr" defTabSz="762000"/>
                <a:r>
                  <a:rPr lang="en-US" altLang="zh-TW">
                    <a:solidFill>
                      <a:srgbClr val="000000"/>
                    </a:solidFill>
                  </a:rPr>
                  <a:t>Analyzer</a:t>
                </a:r>
                <a:endParaRPr lang="en-US" altLang="zh-TW" sz="28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9" name="Rectangle 7"/>
            <p:cNvSpPr>
              <a:spLocks noChangeArrowheads="1"/>
            </p:cNvSpPr>
            <p:nvPr/>
          </p:nvSpPr>
          <p:spPr bwMode="auto">
            <a:xfrm>
              <a:off x="4572000" y="2667000"/>
              <a:ext cx="990600" cy="939800"/>
            </a:xfrm>
            <a:prstGeom prst="rect">
              <a:avLst/>
            </a:prstGeom>
            <a:noFill/>
            <a:ln w="508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Rectangle 8"/>
            <p:cNvSpPr>
              <a:spLocks noChangeArrowheads="1"/>
            </p:cNvSpPr>
            <p:nvPr/>
          </p:nvSpPr>
          <p:spPr bwMode="auto">
            <a:xfrm>
              <a:off x="4572000" y="2895600"/>
              <a:ext cx="946150" cy="4572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defTabSz="762000"/>
              <a:r>
                <a:rPr lang="en-US" altLang="zh-TW">
                  <a:solidFill>
                    <a:srgbClr val="000000"/>
                  </a:solidFill>
                </a:rPr>
                <a:t>Parser</a:t>
              </a:r>
              <a:endParaRPr lang="en-US" altLang="zh-TW" sz="2800">
                <a:solidFill>
                  <a:srgbClr val="000000"/>
                </a:solidFill>
              </a:endParaRPr>
            </a:p>
          </p:txBody>
        </p:sp>
        <p:sp>
          <p:nvSpPr>
            <p:cNvPr id="21" name="Rectangle 9"/>
            <p:cNvSpPr>
              <a:spLocks noChangeArrowheads="1"/>
            </p:cNvSpPr>
            <p:nvPr/>
          </p:nvSpPr>
          <p:spPr bwMode="auto">
            <a:xfrm>
              <a:off x="4343400" y="4724400"/>
              <a:ext cx="1549400" cy="939800"/>
            </a:xfrm>
            <a:prstGeom prst="rect">
              <a:avLst/>
            </a:prstGeom>
            <a:noFill/>
            <a:ln w="508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Rectangle 10"/>
            <p:cNvSpPr>
              <a:spLocks noChangeArrowheads="1"/>
            </p:cNvSpPr>
            <p:nvPr/>
          </p:nvSpPr>
          <p:spPr bwMode="auto">
            <a:xfrm>
              <a:off x="4495800" y="4800600"/>
              <a:ext cx="1131888" cy="82232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ctr" defTabSz="762000"/>
              <a:r>
                <a:rPr lang="en-US" altLang="zh-TW">
                  <a:solidFill>
                    <a:srgbClr val="000000"/>
                  </a:solidFill>
                </a:rPr>
                <a:t>Symbol</a:t>
              </a:r>
            </a:p>
            <a:p>
              <a:pPr algn="ctr" defTabSz="762000"/>
              <a:r>
                <a:rPr lang="en-US" altLang="zh-TW">
                  <a:solidFill>
                    <a:srgbClr val="000000"/>
                  </a:solidFill>
                </a:rPr>
                <a:t>Table</a:t>
              </a:r>
              <a:endParaRPr lang="en-US" altLang="zh-TW" sz="2800">
                <a:solidFill>
                  <a:srgbClr val="000000"/>
                </a:solidFill>
              </a:endParaRPr>
            </a:p>
          </p:txBody>
        </p:sp>
        <p:sp>
          <p:nvSpPr>
            <p:cNvPr id="23" name="Line 11"/>
            <p:cNvSpPr>
              <a:spLocks noChangeShapeType="1"/>
            </p:cNvSpPr>
            <p:nvPr/>
          </p:nvSpPr>
          <p:spPr bwMode="auto">
            <a:xfrm>
              <a:off x="3063875" y="3044825"/>
              <a:ext cx="1508125" cy="3175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Line 12"/>
            <p:cNvSpPr>
              <a:spLocks noChangeShapeType="1"/>
            </p:cNvSpPr>
            <p:nvPr/>
          </p:nvSpPr>
          <p:spPr bwMode="auto">
            <a:xfrm>
              <a:off x="3063875" y="3425825"/>
              <a:ext cx="1508125" cy="3175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Rectangle 13"/>
            <p:cNvSpPr>
              <a:spLocks noChangeArrowheads="1"/>
            </p:cNvSpPr>
            <p:nvPr/>
          </p:nvSpPr>
          <p:spPr bwMode="auto">
            <a:xfrm>
              <a:off x="3352800" y="2667000"/>
              <a:ext cx="860425" cy="4572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defTabSz="762000"/>
              <a:r>
                <a:rPr lang="en-US" altLang="zh-TW">
                  <a:solidFill>
                    <a:srgbClr val="000000"/>
                  </a:solidFill>
                </a:rPr>
                <a:t>token</a:t>
              </a:r>
            </a:p>
          </p:txBody>
        </p:sp>
        <p:sp>
          <p:nvSpPr>
            <p:cNvPr id="26" name="Rectangle 14"/>
            <p:cNvSpPr>
              <a:spLocks noChangeArrowheads="1"/>
            </p:cNvSpPr>
            <p:nvPr/>
          </p:nvSpPr>
          <p:spPr bwMode="auto">
            <a:xfrm>
              <a:off x="3124200" y="3352800"/>
              <a:ext cx="1460500" cy="4572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defTabSz="762000"/>
              <a:r>
                <a:rPr lang="en-US" altLang="zh-TW">
                  <a:solidFill>
                    <a:srgbClr val="000000"/>
                  </a:solidFill>
                </a:rPr>
                <a:t>next token</a:t>
              </a:r>
            </a:p>
          </p:txBody>
        </p:sp>
        <p:sp>
          <p:nvSpPr>
            <p:cNvPr id="27" name="Line 15"/>
            <p:cNvSpPr>
              <a:spLocks noChangeShapeType="1"/>
            </p:cNvSpPr>
            <p:nvPr/>
          </p:nvSpPr>
          <p:spPr bwMode="auto">
            <a:xfrm flipV="1">
              <a:off x="685800" y="3197225"/>
              <a:ext cx="1006475" cy="3175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Line 16"/>
            <p:cNvSpPr>
              <a:spLocks noChangeShapeType="1"/>
            </p:cNvSpPr>
            <p:nvPr/>
          </p:nvSpPr>
          <p:spPr bwMode="auto">
            <a:xfrm>
              <a:off x="5562600" y="3200400"/>
              <a:ext cx="1066800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Rectangle 17"/>
            <p:cNvSpPr>
              <a:spLocks noChangeArrowheads="1"/>
            </p:cNvSpPr>
            <p:nvPr/>
          </p:nvSpPr>
          <p:spPr bwMode="auto">
            <a:xfrm>
              <a:off x="685800" y="2743200"/>
              <a:ext cx="979488" cy="4572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ctr" defTabSz="762000"/>
              <a:r>
                <a:rPr lang="en-US" altLang="zh-TW">
                  <a:solidFill>
                    <a:srgbClr val="000000"/>
                  </a:solidFill>
                </a:rPr>
                <a:t>source</a:t>
              </a:r>
            </a:p>
          </p:txBody>
        </p:sp>
        <p:sp>
          <p:nvSpPr>
            <p:cNvPr id="30" name="Line 18"/>
            <p:cNvSpPr>
              <a:spLocks noChangeShapeType="1"/>
            </p:cNvSpPr>
            <p:nvPr/>
          </p:nvSpPr>
          <p:spPr bwMode="auto">
            <a:xfrm>
              <a:off x="2286000" y="3733800"/>
              <a:ext cx="2514600" cy="9906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Line 19"/>
            <p:cNvSpPr>
              <a:spLocks noChangeShapeType="1"/>
            </p:cNvSpPr>
            <p:nvPr/>
          </p:nvSpPr>
          <p:spPr bwMode="auto">
            <a:xfrm flipH="1">
              <a:off x="5410200" y="3657600"/>
              <a:ext cx="1905000" cy="10668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" name="Group 20"/>
            <p:cNvGrpSpPr/>
            <p:nvPr/>
          </p:nvGrpSpPr>
          <p:grpSpPr bwMode="auto">
            <a:xfrm>
              <a:off x="6629400" y="2667000"/>
              <a:ext cx="1346200" cy="939800"/>
              <a:chOff x="1360" y="1696"/>
              <a:chExt cx="976" cy="592"/>
            </a:xfrm>
          </p:grpSpPr>
          <p:sp>
            <p:nvSpPr>
              <p:cNvPr id="38" name="Rectangle 21"/>
              <p:cNvSpPr>
                <a:spLocks noChangeArrowheads="1"/>
              </p:cNvSpPr>
              <p:nvPr/>
            </p:nvSpPr>
            <p:spPr bwMode="auto">
              <a:xfrm>
                <a:off x="1360" y="1696"/>
                <a:ext cx="976" cy="592"/>
              </a:xfrm>
              <a:prstGeom prst="rect">
                <a:avLst/>
              </a:prstGeom>
              <a:noFill/>
              <a:ln w="508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" name="Rectangle 22"/>
              <p:cNvSpPr>
                <a:spLocks noChangeArrowheads="1"/>
              </p:cNvSpPr>
              <p:nvPr/>
            </p:nvSpPr>
            <p:spPr bwMode="auto">
              <a:xfrm>
                <a:off x="1364" y="1703"/>
                <a:ext cx="953" cy="51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algn="ctr" defTabSz="762000"/>
                <a:r>
                  <a:rPr lang="en-US" altLang="zh-TW">
                    <a:solidFill>
                      <a:srgbClr val="000000"/>
                    </a:solidFill>
                  </a:rPr>
                  <a:t>Semantic</a:t>
                </a:r>
              </a:p>
              <a:p>
                <a:pPr algn="ctr" defTabSz="762000"/>
                <a:r>
                  <a:rPr lang="en-US" altLang="zh-TW">
                    <a:solidFill>
                      <a:srgbClr val="000000"/>
                    </a:solidFill>
                  </a:rPr>
                  <a:t>Analyzer</a:t>
                </a:r>
                <a:endParaRPr lang="en-US" altLang="zh-TW" sz="28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3" name="Text Box 23"/>
            <p:cNvSpPr txBox="1">
              <a:spLocks noChangeArrowheads="1"/>
            </p:cNvSpPr>
            <p:nvPr/>
          </p:nvSpPr>
          <p:spPr bwMode="auto">
            <a:xfrm>
              <a:off x="5562600" y="2743200"/>
              <a:ext cx="979488" cy="45720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pPr defTabSz="762000"/>
              <a:r>
                <a:rPr lang="en-US" altLang="zh-TW"/>
                <a:t>syntax</a:t>
              </a:r>
            </a:p>
          </p:txBody>
        </p:sp>
        <p:sp>
          <p:nvSpPr>
            <p:cNvPr id="34" name="Text Box 24"/>
            <p:cNvSpPr txBox="1">
              <a:spLocks noChangeArrowheads="1"/>
            </p:cNvSpPr>
            <p:nvPr/>
          </p:nvSpPr>
          <p:spPr bwMode="auto">
            <a:xfrm>
              <a:off x="5715000" y="3124200"/>
              <a:ext cx="639763" cy="45720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pPr defTabSz="762000"/>
              <a:r>
                <a:rPr lang="en-US" altLang="zh-TW"/>
                <a:t>tree</a:t>
              </a:r>
            </a:p>
          </p:txBody>
        </p:sp>
        <p:sp>
          <p:nvSpPr>
            <p:cNvPr id="35" name="Text Box 25"/>
            <p:cNvSpPr txBox="1">
              <a:spLocks noChangeArrowheads="1"/>
            </p:cNvSpPr>
            <p:nvPr/>
          </p:nvSpPr>
          <p:spPr bwMode="auto">
            <a:xfrm>
              <a:off x="762000" y="3124200"/>
              <a:ext cx="758825" cy="45720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pPr defTabSz="762000"/>
              <a:r>
                <a:rPr lang="en-US" altLang="zh-TW"/>
                <a:t>code</a:t>
              </a:r>
            </a:p>
          </p:txBody>
        </p:sp>
        <p:sp>
          <p:nvSpPr>
            <p:cNvPr id="36" name="Line 26"/>
            <p:cNvSpPr>
              <a:spLocks noChangeShapeType="1"/>
            </p:cNvSpPr>
            <p:nvPr/>
          </p:nvSpPr>
          <p:spPr bwMode="auto">
            <a:xfrm flipV="1">
              <a:off x="8001000" y="3200400"/>
              <a:ext cx="457200" cy="3175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Line 27"/>
            <p:cNvSpPr>
              <a:spLocks noChangeShapeType="1"/>
            </p:cNvSpPr>
            <p:nvPr/>
          </p:nvSpPr>
          <p:spPr bwMode="auto">
            <a:xfrm>
              <a:off x="5105400" y="3581400"/>
              <a:ext cx="0" cy="11430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Parsers (cont.)</a:t>
            </a:r>
          </a:p>
        </p:txBody>
      </p:sp>
      <p:sp>
        <p:nvSpPr>
          <p:cNvPr id="6150" name="Date Placeholder 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D4672A6-FD28-4D9B-A78B-19463DA8F994}" type="datetime1">
              <a:rPr lang="en-US"/>
              <a:t>10/30/2025</a:t>
            </a:fld>
            <a:endParaRPr lang="en-US"/>
          </a:p>
        </p:txBody>
      </p:sp>
      <p:sp>
        <p:nvSpPr>
          <p:cNvPr id="6146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Md Zahim Hassan, BAUST</a:t>
            </a:r>
          </a:p>
        </p:txBody>
      </p:sp>
      <p:sp>
        <p:nvSpPr>
          <p:cNvPr id="614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E80A6916-9B18-4558-8373-AB720DFD8A67}" type="slidenum">
              <a:rPr lang="en-US"/>
              <a:t>6</a:t>
            </a:fld>
            <a:endParaRPr lang="en-US"/>
          </a:p>
        </p:txBody>
      </p:sp>
      <p:sp>
        <p:nvSpPr>
          <p:cNvPr id="614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1295400"/>
            <a:ext cx="8686800" cy="4953000"/>
          </a:xfrm>
        </p:spPr>
        <p:txBody>
          <a:bodyPr>
            <a:normAutofit/>
          </a:bodyPr>
          <a:lstStyle/>
          <a:p>
            <a:pPr marL="457200" indent="-457200">
              <a:buNone/>
            </a:pPr>
            <a:r>
              <a:rPr lang="en-US" dirty="0"/>
              <a:t>Parsers can be categorized into two groups:</a:t>
            </a:r>
          </a:p>
          <a:p>
            <a:pPr marL="800100" lvl="1" indent="-342900"/>
            <a:endParaRPr lang="en-US" sz="1800" dirty="0">
              <a:solidFill>
                <a:schemeClr val="tx1"/>
              </a:solidFill>
            </a:endParaRPr>
          </a:p>
          <a:p>
            <a:pPr marL="274320" lvl="1" indent="0">
              <a:buNone/>
            </a:pPr>
            <a:r>
              <a:rPr lang="en-US" sz="1700" dirty="0"/>
              <a:t>Top-Down Parser</a:t>
            </a:r>
          </a:p>
          <a:p>
            <a:pPr marL="800100" lvl="1" indent="-342900"/>
            <a:r>
              <a:rPr lang="en-US" sz="1800" dirty="0">
                <a:solidFill>
                  <a:schemeClr val="tx1"/>
                </a:solidFill>
              </a:rPr>
              <a:t>the parse tree is created top to bottom, starting from the root.</a:t>
            </a:r>
          </a:p>
          <a:p>
            <a:pPr marL="274320" lvl="1" indent="0">
              <a:buNone/>
            </a:pPr>
            <a:r>
              <a:rPr lang="en-US" sz="1700" dirty="0"/>
              <a:t>Bottom-Up Parser</a:t>
            </a:r>
          </a:p>
          <a:p>
            <a:pPr marL="800100" lvl="1" indent="-342900"/>
            <a:r>
              <a:rPr lang="en-US" sz="1800" dirty="0">
                <a:solidFill>
                  <a:schemeClr val="tx1"/>
                </a:solidFill>
              </a:rPr>
              <a:t>the parse tree is created bottom to top; starting from the leaves</a:t>
            </a:r>
            <a:endParaRPr lang="en-US" dirty="0"/>
          </a:p>
          <a:p>
            <a:pPr marL="457200" indent="-457200"/>
            <a:r>
              <a:rPr lang="en-US" sz="2200" dirty="0"/>
              <a:t>Both top-down and bottom-up parsers scan the input from left to right (one symbol at a time). </a:t>
            </a:r>
          </a:p>
          <a:p>
            <a:pPr marL="457200" indent="-457200"/>
            <a:r>
              <a:rPr lang="en-US" sz="2200" dirty="0"/>
              <a:t>Efficient top-down and bottom-up parsers can be implemented only for sub-classes of context-free grammars.</a:t>
            </a:r>
          </a:p>
          <a:p>
            <a:pPr marL="800100" lvl="1" indent="-342900"/>
            <a:r>
              <a:rPr lang="en-US" sz="1800" dirty="0">
                <a:solidFill>
                  <a:schemeClr val="tx1"/>
                </a:solidFill>
              </a:rPr>
              <a:t>LL for top-down parsing ( </a:t>
            </a:r>
            <a:r>
              <a:rPr lang="en-US" sz="1800" b="1" dirty="0">
                <a:solidFill>
                  <a:srgbClr val="FF0000"/>
                </a:solidFill>
              </a:rPr>
              <a:t>L</a:t>
            </a:r>
            <a:r>
              <a:rPr lang="en-US" sz="1800" dirty="0">
                <a:solidFill>
                  <a:schemeClr val="tx1"/>
                </a:solidFill>
              </a:rPr>
              <a:t>eft to right scan, </a:t>
            </a:r>
            <a:r>
              <a:rPr lang="en-US" sz="1800" b="1" dirty="0">
                <a:solidFill>
                  <a:srgbClr val="FF0000"/>
                </a:solidFill>
              </a:rPr>
              <a:t>L</a:t>
            </a:r>
            <a:r>
              <a:rPr lang="en-US" sz="1800" dirty="0">
                <a:solidFill>
                  <a:schemeClr val="tx1"/>
                </a:solidFill>
              </a:rPr>
              <a:t>eft most derivation) </a:t>
            </a:r>
          </a:p>
          <a:p>
            <a:pPr marL="800100" lvl="1" indent="-342900"/>
            <a:r>
              <a:rPr lang="en-US" sz="1800" dirty="0">
                <a:solidFill>
                  <a:schemeClr val="tx1"/>
                </a:solidFill>
              </a:rPr>
              <a:t>LR for bottom-up parsing ( </a:t>
            </a:r>
            <a:r>
              <a:rPr lang="en-US" sz="1800" b="1" dirty="0">
                <a:solidFill>
                  <a:srgbClr val="FF0000"/>
                </a:solidFill>
              </a:rPr>
              <a:t>L</a:t>
            </a:r>
            <a:r>
              <a:rPr lang="en-US" sz="1800" dirty="0">
                <a:solidFill>
                  <a:schemeClr val="tx1"/>
                </a:solidFill>
              </a:rPr>
              <a:t>eft to right scan, </a:t>
            </a:r>
            <a:r>
              <a:rPr lang="en-US" sz="1800" b="1" dirty="0">
                <a:solidFill>
                  <a:srgbClr val="FF0000"/>
                </a:solidFill>
              </a:rPr>
              <a:t>R</a:t>
            </a:r>
            <a:r>
              <a:rPr lang="en-US" sz="1800" dirty="0">
                <a:solidFill>
                  <a:schemeClr val="tx1"/>
                </a:solidFill>
              </a:rPr>
              <a:t>ight most derivation)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Context-Free Grammars</a:t>
            </a:r>
          </a:p>
        </p:txBody>
      </p:sp>
      <p:sp>
        <p:nvSpPr>
          <p:cNvPr id="7174" name="Date Placeholder 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30B0798-42DC-440D-A79C-4574E3A4AFFF}" type="datetime1">
              <a:rPr lang="en-US"/>
              <a:t>10/30/2025</a:t>
            </a:fld>
            <a:endParaRPr lang="en-US"/>
          </a:p>
        </p:txBody>
      </p:sp>
      <p:sp>
        <p:nvSpPr>
          <p:cNvPr id="7170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717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81DF53BD-2E20-4298-BC60-932D10594270}" type="slidenum">
              <a:rPr lang="en-US"/>
              <a:t>7</a:t>
            </a:fld>
            <a:endParaRPr lang="en-US"/>
          </a:p>
        </p:txBody>
      </p:sp>
      <p:sp>
        <p:nvSpPr>
          <p:cNvPr id="717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1371600"/>
            <a:ext cx="8763000" cy="5029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In a context-free grammar, we have: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solidFill>
                  <a:schemeClr val="tx1"/>
                </a:solidFill>
              </a:rPr>
              <a:t>A finite set of terminals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solidFill>
                  <a:schemeClr val="tx1"/>
                </a:solidFill>
              </a:rPr>
              <a:t>A finite set of non-terminals 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solidFill>
                  <a:schemeClr val="tx1"/>
                </a:solidFill>
              </a:rPr>
              <a:t>A finite set of production rules of the form</a:t>
            </a:r>
          </a:p>
          <a:p>
            <a:pPr lvl="2">
              <a:lnSpc>
                <a:spcPct val="90000"/>
              </a:lnSpc>
              <a:buNone/>
            </a:pPr>
            <a:r>
              <a:rPr lang="en-US" sz="1800" dirty="0"/>
              <a:t>	A </a:t>
            </a:r>
            <a:r>
              <a:rPr lang="en-US" sz="1800" dirty="0">
                <a:sym typeface="Symbol" panose="05050102010706020507" pitchFamily="18" charset="2"/>
              </a:rPr>
              <a:t> </a:t>
            </a:r>
            <a:r>
              <a:rPr lang="en-US" dirty="0">
                <a:sym typeface="Symbol" panose="05050102010706020507" pitchFamily="18" charset="2"/>
              </a:rPr>
              <a:t>	     </a:t>
            </a:r>
          </a:p>
          <a:p>
            <a:pPr lvl="2">
              <a:lnSpc>
                <a:spcPct val="90000"/>
              </a:lnSpc>
              <a:buNone/>
            </a:pPr>
            <a:r>
              <a:rPr lang="en-US" dirty="0">
                <a:sym typeface="Symbol" panose="05050102010706020507" pitchFamily="18" charset="2"/>
              </a:rPr>
              <a:t>   where A is a non-terminal and   is a string of terminals and non-terminals (including the empty string)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solidFill>
                  <a:schemeClr val="tx1"/>
                </a:solidFill>
              </a:rPr>
              <a:t>A start symbol (one of the non-terminal symbol)</a:t>
            </a:r>
          </a:p>
          <a:p>
            <a:pPr>
              <a:lnSpc>
                <a:spcPct val="90000"/>
              </a:lnSpc>
            </a:pPr>
            <a:endParaRPr lang="en-US" sz="1000" dirty="0"/>
          </a:p>
          <a:p>
            <a:pPr>
              <a:lnSpc>
                <a:spcPct val="90000"/>
              </a:lnSpc>
            </a:pPr>
            <a:r>
              <a:rPr lang="en-US" dirty="0"/>
              <a:t>Example: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1800" dirty="0">
                <a:solidFill>
                  <a:schemeClr val="tx1"/>
                </a:solidFill>
              </a:rPr>
              <a:t>E </a:t>
            </a:r>
            <a:r>
              <a:rPr lang="en-US" sz="2000" dirty="0">
                <a:solidFill>
                  <a:schemeClr val="tx1"/>
                </a:solidFill>
                <a:sym typeface="Symbol" panose="05050102010706020507" pitchFamily="18" charset="2"/>
              </a:rPr>
              <a:t>  E + E   |   E – E   |   E * E   |  E / E   |   - E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000" dirty="0">
                <a:solidFill>
                  <a:schemeClr val="tx1"/>
                </a:solidFill>
                <a:sym typeface="Symbol" panose="05050102010706020507" pitchFamily="18" charset="2"/>
              </a:rPr>
              <a:t>E   ( E )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000" dirty="0">
                <a:solidFill>
                  <a:schemeClr val="tx1"/>
                </a:solidFill>
                <a:sym typeface="Symbol" panose="05050102010706020507" pitchFamily="18" charset="2"/>
              </a:rPr>
              <a:t>E  id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762000"/>
          </a:xfrm>
        </p:spPr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</a:rPr>
              <a:t>CFG: An Example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432A65C-30CF-4F7A-B62B-94AF22F86B24}" type="datetime1">
              <a:rPr lang="en-US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Md Zahim Hassan, BAUST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D3B9B-F0A7-419A-A500-51AB8304C176}" type="slidenum">
              <a:rPr lang="en-US" altLang="zh-TW"/>
              <a:t>8</a:t>
            </a:fld>
            <a:endParaRPr lang="en-US" altLang="zh-TW"/>
          </a:p>
        </p:txBody>
      </p:sp>
      <p:sp>
        <p:nvSpPr>
          <p:cNvPr id="10240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81000" y="1676400"/>
            <a:ext cx="8229600" cy="4572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TW" dirty="0"/>
              <a:t>Terminals: id, ‘+’, ‘-’, ‘*’, ‘/’, ‘(’, ‘)’</a:t>
            </a:r>
          </a:p>
          <a:p>
            <a:pPr>
              <a:buNone/>
            </a:pPr>
            <a:r>
              <a:rPr lang="en-US" altLang="zh-TW" dirty="0"/>
              <a:t>Nonterminals: </a:t>
            </a:r>
            <a:r>
              <a:rPr lang="en-US" altLang="zh-TW" i="1" dirty="0" err="1"/>
              <a:t>expr</a:t>
            </a:r>
            <a:r>
              <a:rPr lang="en-US" altLang="zh-TW" dirty="0"/>
              <a:t>, </a:t>
            </a:r>
            <a:r>
              <a:rPr lang="en-US" altLang="zh-TW" i="1" dirty="0"/>
              <a:t>op</a:t>
            </a:r>
            <a:endParaRPr lang="en-US" altLang="zh-TW" dirty="0"/>
          </a:p>
          <a:p>
            <a:pPr>
              <a:buNone/>
            </a:pPr>
            <a:r>
              <a:rPr lang="en-US" altLang="zh-TW" dirty="0"/>
              <a:t>Productions:</a:t>
            </a:r>
            <a:br>
              <a:rPr lang="en-US" altLang="zh-TW" dirty="0"/>
            </a:br>
            <a:r>
              <a:rPr lang="en-US" altLang="zh-TW" dirty="0"/>
              <a:t>	</a:t>
            </a:r>
            <a:r>
              <a:rPr lang="en-US" altLang="zh-TW" i="1" dirty="0" err="1"/>
              <a:t>expr</a:t>
            </a:r>
            <a:r>
              <a:rPr lang="en-US" altLang="zh-TW" dirty="0"/>
              <a:t> </a:t>
            </a:r>
            <a:r>
              <a:rPr lang="en-US" altLang="zh-TW" dirty="0">
                <a:sym typeface="Symbol" panose="05050102010706020507" pitchFamily="18" charset="2"/>
              </a:rPr>
              <a:t> </a:t>
            </a:r>
            <a:r>
              <a:rPr lang="en-US" altLang="zh-TW" i="1" dirty="0" err="1">
                <a:sym typeface="Symbol" panose="05050102010706020507" pitchFamily="18" charset="2"/>
              </a:rPr>
              <a:t>expr</a:t>
            </a:r>
            <a:r>
              <a:rPr lang="en-US" altLang="zh-TW" dirty="0">
                <a:sym typeface="Symbol" panose="05050102010706020507" pitchFamily="18" charset="2"/>
              </a:rPr>
              <a:t> </a:t>
            </a:r>
            <a:r>
              <a:rPr lang="en-US" altLang="zh-TW" i="1" dirty="0">
                <a:sym typeface="Symbol" panose="05050102010706020507" pitchFamily="18" charset="2"/>
              </a:rPr>
              <a:t>op</a:t>
            </a:r>
            <a:r>
              <a:rPr lang="en-US" altLang="zh-TW" dirty="0">
                <a:sym typeface="Symbol" panose="05050102010706020507" pitchFamily="18" charset="2"/>
              </a:rPr>
              <a:t> </a:t>
            </a:r>
            <a:r>
              <a:rPr lang="en-US" altLang="zh-TW" i="1" dirty="0" err="1">
                <a:sym typeface="Symbol" panose="05050102010706020507" pitchFamily="18" charset="2"/>
              </a:rPr>
              <a:t>expr</a:t>
            </a:r>
            <a:r>
              <a:rPr lang="en-US" altLang="zh-TW" dirty="0">
                <a:sym typeface="Symbol" panose="05050102010706020507" pitchFamily="18" charset="2"/>
              </a:rPr>
              <a:t>              </a:t>
            </a:r>
            <a:br>
              <a:rPr lang="en-US" altLang="zh-TW" dirty="0">
                <a:sym typeface="Symbol" panose="05050102010706020507" pitchFamily="18" charset="2"/>
              </a:rPr>
            </a:br>
            <a:r>
              <a:rPr lang="en-US" altLang="zh-TW" dirty="0">
                <a:sym typeface="Symbol" panose="05050102010706020507" pitchFamily="18" charset="2"/>
              </a:rPr>
              <a:t> 	</a:t>
            </a:r>
            <a:r>
              <a:rPr lang="en-US" altLang="zh-TW" i="1" dirty="0" err="1"/>
              <a:t>expr</a:t>
            </a:r>
            <a:r>
              <a:rPr lang="en-US" altLang="zh-TW" dirty="0"/>
              <a:t> </a:t>
            </a:r>
            <a:r>
              <a:rPr lang="en-US" altLang="zh-TW" dirty="0">
                <a:sym typeface="Symbol" panose="05050102010706020507" pitchFamily="18" charset="2"/>
              </a:rPr>
              <a:t> ‘(’ </a:t>
            </a:r>
            <a:r>
              <a:rPr lang="en-US" altLang="zh-TW" i="1" dirty="0" err="1">
                <a:sym typeface="Symbol" panose="05050102010706020507" pitchFamily="18" charset="2"/>
              </a:rPr>
              <a:t>expr</a:t>
            </a:r>
            <a:r>
              <a:rPr lang="en-US" altLang="zh-TW" dirty="0">
                <a:sym typeface="Symbol" panose="05050102010706020507" pitchFamily="18" charset="2"/>
              </a:rPr>
              <a:t> ‘)’ </a:t>
            </a:r>
            <a:br>
              <a:rPr lang="en-US" altLang="zh-TW" i="1" dirty="0">
                <a:sym typeface="Symbol" panose="05050102010706020507" pitchFamily="18" charset="2"/>
              </a:rPr>
            </a:br>
            <a:r>
              <a:rPr lang="en-US" altLang="zh-TW" i="1" dirty="0">
                <a:sym typeface="Symbol" panose="05050102010706020507" pitchFamily="18" charset="2"/>
              </a:rPr>
              <a:t>	</a:t>
            </a:r>
            <a:r>
              <a:rPr lang="en-US" altLang="zh-TW" i="1" dirty="0" err="1"/>
              <a:t>expr</a:t>
            </a:r>
            <a:r>
              <a:rPr lang="en-US" altLang="zh-TW" dirty="0"/>
              <a:t> </a:t>
            </a:r>
            <a:r>
              <a:rPr lang="en-US" altLang="zh-TW" dirty="0">
                <a:sym typeface="Symbol" panose="05050102010706020507" pitchFamily="18" charset="2"/>
              </a:rPr>
              <a:t> ‘-’ </a:t>
            </a:r>
            <a:r>
              <a:rPr lang="en-US" altLang="zh-TW" i="1" dirty="0" err="1">
                <a:sym typeface="Symbol" panose="05050102010706020507" pitchFamily="18" charset="2"/>
              </a:rPr>
              <a:t>expr</a:t>
            </a:r>
            <a:r>
              <a:rPr lang="en-US" altLang="zh-TW" i="1" dirty="0">
                <a:sym typeface="Symbol" panose="05050102010706020507" pitchFamily="18" charset="2"/>
              </a:rPr>
              <a:t>    </a:t>
            </a:r>
            <a:br>
              <a:rPr lang="en-US" altLang="zh-TW" i="1" dirty="0">
                <a:sym typeface="Symbol" panose="05050102010706020507" pitchFamily="18" charset="2"/>
              </a:rPr>
            </a:br>
            <a:r>
              <a:rPr lang="en-US" altLang="zh-TW" i="1" dirty="0">
                <a:sym typeface="Symbol" panose="05050102010706020507" pitchFamily="18" charset="2"/>
              </a:rPr>
              <a:t> 	</a:t>
            </a:r>
            <a:r>
              <a:rPr lang="en-US" altLang="zh-TW" i="1" dirty="0" err="1"/>
              <a:t>expr</a:t>
            </a:r>
            <a:r>
              <a:rPr lang="en-US" altLang="zh-TW" dirty="0"/>
              <a:t> </a:t>
            </a:r>
            <a:r>
              <a:rPr lang="en-US" altLang="zh-TW" dirty="0">
                <a:sym typeface="Symbol" panose="05050102010706020507" pitchFamily="18" charset="2"/>
              </a:rPr>
              <a:t> id</a:t>
            </a:r>
            <a:br>
              <a:rPr lang="en-US" altLang="zh-TW" dirty="0">
                <a:sym typeface="Symbol" panose="05050102010706020507" pitchFamily="18" charset="2"/>
              </a:rPr>
            </a:br>
            <a:r>
              <a:rPr lang="en-US" altLang="zh-TW" dirty="0">
                <a:sym typeface="Symbol" panose="05050102010706020507" pitchFamily="18" charset="2"/>
              </a:rPr>
              <a:t>	</a:t>
            </a:r>
            <a:r>
              <a:rPr lang="en-US" altLang="zh-TW" i="1" dirty="0">
                <a:sym typeface="Symbol" panose="05050102010706020507" pitchFamily="18" charset="2"/>
              </a:rPr>
              <a:t>op</a:t>
            </a:r>
            <a:r>
              <a:rPr lang="en-US" altLang="zh-TW" dirty="0">
                <a:sym typeface="Symbol" panose="05050102010706020507" pitchFamily="18" charset="2"/>
              </a:rPr>
              <a:t>  ‘+’ | ‘-’ | ‘*’ | ‘/’ </a:t>
            </a:r>
            <a:endParaRPr lang="en-US" altLang="zh-TW" dirty="0"/>
          </a:p>
          <a:p>
            <a:pPr>
              <a:buNone/>
            </a:pPr>
            <a:r>
              <a:rPr lang="en-US" altLang="zh-TW" dirty="0"/>
              <a:t>The start symbol: </a:t>
            </a:r>
            <a:r>
              <a:rPr lang="en-US" altLang="zh-TW" i="1" dirty="0" err="1"/>
              <a:t>expr</a:t>
            </a:r>
            <a:endParaRPr lang="en-US" altLang="zh-TW" i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</a:rPr>
              <a:t>Notational Conventions in CFG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9E7B0DF-29A3-4798-BE57-CF21F63B8A33}" type="datetime1">
              <a:rPr lang="en-US"/>
              <a:t>10/30/2025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Md Zahim Hassan, BAUST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45807-78BA-43F5-A45C-DB536B712064}" type="slidenum">
              <a:rPr lang="en-US" altLang="zh-TW"/>
              <a:t>9</a:t>
            </a:fld>
            <a:endParaRPr lang="en-US" altLang="zh-TW"/>
          </a:p>
        </p:txBody>
      </p:sp>
      <p:sp>
        <p:nvSpPr>
          <p:cNvPr id="2140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513588" y="1828800"/>
            <a:ext cx="8153400" cy="4114800"/>
          </a:xfrm>
        </p:spPr>
        <p:txBody>
          <a:bodyPr/>
          <a:lstStyle/>
          <a:p>
            <a:r>
              <a:rPr lang="en-US" altLang="zh-TW" b="1" dirty="0">
                <a:latin typeface="Courier New" panose="02070309020205020404" pitchFamily="49" charset="0"/>
              </a:rPr>
              <a:t>a</a:t>
            </a:r>
            <a:r>
              <a:rPr lang="en-US" altLang="zh-TW" dirty="0"/>
              <a:t>, </a:t>
            </a:r>
            <a:r>
              <a:rPr lang="en-US" altLang="zh-TW" b="1" dirty="0">
                <a:latin typeface="Courier New" panose="02070309020205020404" pitchFamily="49" charset="0"/>
              </a:rPr>
              <a:t>b</a:t>
            </a:r>
            <a:r>
              <a:rPr lang="en-US" altLang="zh-TW" dirty="0"/>
              <a:t>, </a:t>
            </a:r>
            <a:r>
              <a:rPr lang="en-US" altLang="zh-TW" b="1" dirty="0">
                <a:latin typeface="Courier New" panose="02070309020205020404" pitchFamily="49" charset="0"/>
              </a:rPr>
              <a:t>c</a:t>
            </a:r>
            <a:r>
              <a:rPr lang="en-US" altLang="zh-TW" dirty="0"/>
              <a:t>, … [+-0-9], id: </a:t>
            </a:r>
            <a:r>
              <a:rPr lang="en-US" altLang="zh-TW" dirty="0">
                <a:solidFill>
                  <a:srgbClr val="0000FF"/>
                </a:solidFill>
              </a:rPr>
              <a:t>symbols</a:t>
            </a:r>
            <a:r>
              <a:rPr lang="en-US" altLang="zh-TW" dirty="0"/>
              <a:t>  are terminals</a:t>
            </a:r>
          </a:p>
          <a:p>
            <a:r>
              <a:rPr lang="en-US" altLang="zh-TW" b="1" dirty="0">
                <a:latin typeface="Courier New" panose="02070309020205020404" pitchFamily="49" charset="0"/>
              </a:rPr>
              <a:t>A</a:t>
            </a:r>
            <a:r>
              <a:rPr lang="en-US" altLang="zh-TW" dirty="0"/>
              <a:t>, </a:t>
            </a:r>
            <a:r>
              <a:rPr lang="en-US" altLang="zh-TW" b="1" dirty="0">
                <a:latin typeface="Courier New" panose="02070309020205020404" pitchFamily="49" charset="0"/>
              </a:rPr>
              <a:t>B</a:t>
            </a:r>
            <a:r>
              <a:rPr lang="en-US" altLang="zh-TW" dirty="0"/>
              <a:t>, </a:t>
            </a:r>
            <a:r>
              <a:rPr lang="en-US" altLang="zh-TW" b="1" dirty="0">
                <a:latin typeface="Courier New" panose="02070309020205020404" pitchFamily="49" charset="0"/>
              </a:rPr>
              <a:t>C</a:t>
            </a:r>
            <a:r>
              <a:rPr lang="en-US" altLang="zh-TW" dirty="0"/>
              <a:t>,…,S, </a:t>
            </a:r>
            <a:r>
              <a:rPr lang="en-US" altLang="zh-TW" i="1" dirty="0" err="1"/>
              <a:t>expr,stmt</a:t>
            </a:r>
            <a:r>
              <a:rPr lang="en-US" altLang="zh-TW" i="1" dirty="0"/>
              <a:t>: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FF"/>
                </a:solidFill>
              </a:rPr>
              <a:t>symbols</a:t>
            </a:r>
            <a:r>
              <a:rPr lang="en-US" altLang="zh-TW" dirty="0"/>
              <a:t>  are non terminals</a:t>
            </a:r>
          </a:p>
          <a:p>
            <a:r>
              <a:rPr lang="en-US" altLang="zh-TW" b="1" dirty="0">
                <a:latin typeface="Courier New" panose="02070309020205020404" pitchFamily="49" charset="0"/>
              </a:rPr>
              <a:t>U</a:t>
            </a:r>
            <a:r>
              <a:rPr lang="en-US" altLang="zh-TW" dirty="0"/>
              <a:t>, </a:t>
            </a:r>
            <a:r>
              <a:rPr lang="en-US" altLang="zh-TW" b="1" dirty="0">
                <a:latin typeface="Courier New" panose="02070309020205020404" pitchFamily="49" charset="0"/>
              </a:rPr>
              <a:t>V</a:t>
            </a:r>
            <a:r>
              <a:rPr lang="en-US" altLang="zh-TW" dirty="0"/>
              <a:t>, </a:t>
            </a:r>
            <a:r>
              <a:rPr lang="en-US" altLang="zh-TW" b="1" dirty="0">
                <a:latin typeface="Courier New" panose="02070309020205020404" pitchFamily="49" charset="0"/>
              </a:rPr>
              <a:t>W</a:t>
            </a:r>
            <a:r>
              <a:rPr lang="en-US" altLang="zh-TW" dirty="0"/>
              <a:t>,…,X,Y,Z: grammar </a:t>
            </a:r>
            <a:r>
              <a:rPr lang="en-US" altLang="zh-TW" dirty="0">
                <a:solidFill>
                  <a:srgbClr val="0000FF"/>
                </a:solidFill>
              </a:rPr>
              <a:t>symbols</a:t>
            </a:r>
            <a:r>
              <a:rPr lang="en-US" altLang="zh-TW" dirty="0"/>
              <a:t> </a:t>
            </a:r>
          </a:p>
          <a:p>
            <a:r>
              <a:rPr lang="en-US" altLang="zh-TW" b="1" dirty="0"/>
              <a:t> </a:t>
            </a:r>
            <a:r>
              <a:rPr lang="en-US" altLang="zh-TW" b="1" dirty="0">
                <a:latin typeface="Symbol" panose="05050102010706020507" pitchFamily="18" charset="2"/>
              </a:rPr>
              <a:t>a</a:t>
            </a:r>
            <a:r>
              <a:rPr lang="en-US" altLang="zh-TW" dirty="0">
                <a:latin typeface="Symbol" panose="05050102010706020507" pitchFamily="18" charset="2"/>
              </a:rPr>
              <a:t>, </a:t>
            </a:r>
            <a:r>
              <a:rPr lang="en-US" altLang="zh-TW" b="1" dirty="0">
                <a:latin typeface="Symbol" panose="05050102010706020507" pitchFamily="18" charset="2"/>
              </a:rPr>
              <a:t>b</a:t>
            </a:r>
            <a:r>
              <a:rPr lang="en-US" altLang="zh-TW" dirty="0">
                <a:latin typeface="Symbol" panose="05050102010706020507" pitchFamily="18" charset="2"/>
              </a:rPr>
              <a:t>, </a:t>
            </a:r>
            <a:r>
              <a:rPr lang="en-US" altLang="zh-TW" b="1" dirty="0">
                <a:latin typeface="Symbol" panose="05050102010706020507" pitchFamily="18" charset="2"/>
              </a:rPr>
              <a:t>g</a:t>
            </a:r>
            <a:r>
              <a:rPr lang="en-US" altLang="zh-TW" dirty="0">
                <a:latin typeface="Symbol" panose="05050102010706020507" pitchFamily="18" charset="2"/>
              </a:rPr>
              <a:t>,</a:t>
            </a:r>
            <a:r>
              <a:rPr lang="en-US" altLang="zh-TW" dirty="0"/>
              <a:t>…denotes </a:t>
            </a:r>
            <a:r>
              <a:rPr lang="en-US" altLang="zh-TW" dirty="0">
                <a:solidFill>
                  <a:srgbClr val="FF3399"/>
                </a:solidFill>
              </a:rPr>
              <a:t>strings</a:t>
            </a:r>
            <a:r>
              <a:rPr lang="en-US" altLang="zh-TW" dirty="0"/>
              <a:t> of grammar </a:t>
            </a:r>
            <a:r>
              <a:rPr lang="en-US" altLang="zh-TW" dirty="0">
                <a:solidFill>
                  <a:srgbClr val="0000FF"/>
                </a:solidFill>
              </a:rPr>
              <a:t>symbols</a:t>
            </a:r>
            <a:r>
              <a:rPr lang="en-US" altLang="zh-TW" dirty="0"/>
              <a:t> </a:t>
            </a:r>
          </a:p>
          <a:p>
            <a:r>
              <a:rPr lang="en-US" altLang="zh-TW" b="1" dirty="0">
                <a:latin typeface="Courier New" panose="02070309020205020404" pitchFamily="49" charset="0"/>
              </a:rPr>
              <a:t>u</a:t>
            </a:r>
            <a:r>
              <a:rPr lang="en-US" altLang="zh-TW" dirty="0"/>
              <a:t>, </a:t>
            </a:r>
            <a:r>
              <a:rPr lang="en-US" altLang="zh-TW" b="1" dirty="0">
                <a:latin typeface="Courier New" panose="02070309020205020404" pitchFamily="49" charset="0"/>
              </a:rPr>
              <a:t>v</a:t>
            </a:r>
            <a:r>
              <a:rPr lang="en-US" altLang="zh-TW" dirty="0"/>
              <a:t>, </a:t>
            </a:r>
            <a:r>
              <a:rPr lang="en-US" altLang="zh-TW" b="1" dirty="0"/>
              <a:t>w</a:t>
            </a:r>
            <a:r>
              <a:rPr lang="en-US" altLang="zh-TW" dirty="0"/>
              <a:t>,…	denotes </a:t>
            </a:r>
            <a:r>
              <a:rPr lang="en-US" altLang="zh-TW" dirty="0">
                <a:solidFill>
                  <a:srgbClr val="FF3399"/>
                </a:solidFill>
              </a:rPr>
              <a:t>strings</a:t>
            </a:r>
            <a:r>
              <a:rPr lang="en-US" altLang="zh-TW" dirty="0"/>
              <a:t> of terminals</a:t>
            </a:r>
          </a:p>
          <a:p>
            <a:pPr>
              <a:buNone/>
            </a:pPr>
            <a:endParaRPr lang="en-US" altLang="zh-TW" dirty="0">
              <a:latin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304800"/>
            <a:ext cx="7772400" cy="685800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schemeClr val="tx1"/>
                </a:solidFill>
              </a:rPr>
              <a:t>Context-Free Grammars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804550A-3496-4174-B3BF-88D29833B255}" type="datetime1">
              <a:rPr lang="en-US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Md Zahim Hassan, BAUST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E792C-5211-411E-B9B7-741023C56D6C}" type="slidenum">
              <a:rPr lang="en-US" altLang="zh-TW"/>
              <a:t>10</a:t>
            </a:fld>
            <a:endParaRPr lang="en-US" altLang="zh-TW"/>
          </a:p>
        </p:txBody>
      </p:sp>
      <p:sp>
        <p:nvSpPr>
          <p:cNvPr id="4301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1676400"/>
            <a:ext cx="8534400" cy="4572000"/>
          </a:xfrm>
        </p:spPr>
        <p:txBody>
          <a:bodyPr/>
          <a:lstStyle/>
          <a:p>
            <a:pPr>
              <a:buNone/>
            </a:pPr>
            <a:r>
              <a:rPr lang="en-US" altLang="zh-TW" dirty="0"/>
              <a:t>A set of </a:t>
            </a:r>
            <a:r>
              <a:rPr lang="en-US" altLang="zh-TW" b="1" i="1" dirty="0"/>
              <a:t>terminals</a:t>
            </a:r>
            <a:r>
              <a:rPr lang="en-US" altLang="zh-TW" dirty="0"/>
              <a:t>: basic symbols from which sentences are formed</a:t>
            </a:r>
          </a:p>
          <a:p>
            <a:pPr>
              <a:buNone/>
            </a:pPr>
            <a:r>
              <a:rPr lang="en-US" altLang="zh-TW" dirty="0"/>
              <a:t>A set of </a:t>
            </a:r>
            <a:r>
              <a:rPr lang="en-US" altLang="zh-TW" b="1" i="1" dirty="0"/>
              <a:t>nonterminals</a:t>
            </a:r>
            <a:r>
              <a:rPr lang="en-US" altLang="zh-TW" dirty="0"/>
              <a:t>: syntactic variables denoting set of strings </a:t>
            </a:r>
          </a:p>
          <a:p>
            <a:pPr>
              <a:buNone/>
            </a:pPr>
            <a:r>
              <a:rPr lang="en-US" altLang="zh-TW" dirty="0"/>
              <a:t>A set of </a:t>
            </a:r>
            <a:r>
              <a:rPr lang="en-US" altLang="zh-TW" b="1" i="1" dirty="0"/>
              <a:t>productions</a:t>
            </a:r>
            <a:r>
              <a:rPr lang="en-US" altLang="zh-TW" dirty="0"/>
              <a:t>: rules specifying how the terminals and nonterminals can be combined to form sentences</a:t>
            </a:r>
          </a:p>
          <a:p>
            <a:pPr>
              <a:buNone/>
            </a:pPr>
            <a:r>
              <a:rPr lang="en-US" altLang="zh-TW" dirty="0"/>
              <a:t>The </a:t>
            </a:r>
            <a:r>
              <a:rPr lang="en-US" altLang="zh-TW" b="1" i="1" dirty="0"/>
              <a:t>start symbol</a:t>
            </a:r>
            <a:r>
              <a:rPr lang="en-US" altLang="zh-TW" dirty="0"/>
              <a:t>: a distinguished nonterminal denoting the language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CFG - Terminology</a:t>
            </a:r>
          </a:p>
        </p:txBody>
      </p:sp>
      <p:sp>
        <p:nvSpPr>
          <p:cNvPr id="9224" name="Date Placeholder 8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E9AB1C0C-1B02-4B3A-8088-0203EC6F63B7}" type="datetime1">
              <a:rPr lang="en-US"/>
              <a:t>10/30/2025</a:t>
            </a:fld>
            <a:endParaRPr lang="en-US"/>
          </a:p>
        </p:txBody>
      </p:sp>
      <p:sp>
        <p:nvSpPr>
          <p:cNvPr id="9218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Md Zahim Hassan, BAUST</a:t>
            </a:r>
          </a:p>
        </p:txBody>
      </p:sp>
      <p:sp>
        <p:nvSpPr>
          <p:cNvPr id="921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1C35F69-CBB1-475D-B894-FC07FE6548A1}" type="slidenum">
              <a:rPr lang="en-US"/>
              <a:t>11</a:t>
            </a:fld>
            <a:endParaRPr lang="en-US"/>
          </a:p>
        </p:txBody>
      </p:sp>
      <p:sp>
        <p:nvSpPr>
          <p:cNvPr id="9221" name="Rectangle 1027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2600" dirty="0"/>
              <a:t>L(G) is </a:t>
            </a:r>
            <a:r>
              <a:rPr lang="en-US" sz="2600" i="1" dirty="0"/>
              <a:t>the language of G</a:t>
            </a:r>
            <a:r>
              <a:rPr lang="en-US" sz="2600" dirty="0"/>
              <a:t> (the language generated by G) which is a set of sentences.</a:t>
            </a:r>
          </a:p>
          <a:p>
            <a:r>
              <a:rPr lang="en-US" sz="2600" i="1" dirty="0"/>
              <a:t>A sentence of L(G)</a:t>
            </a:r>
            <a:r>
              <a:rPr lang="en-US" sz="2600" dirty="0"/>
              <a:t>  is a string of terminal symbols of G.</a:t>
            </a:r>
          </a:p>
          <a:p>
            <a:r>
              <a:rPr lang="en-US" sz="2600" dirty="0"/>
              <a:t>If  S is the start symbol of G then</a:t>
            </a:r>
          </a:p>
          <a:p>
            <a:pPr lvl="1">
              <a:buFont typeface="Symbol" panose="05050102010706020507" pitchFamily="18" charset="2"/>
              <a:buNone/>
            </a:pPr>
            <a:r>
              <a:rPr 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 is  a sentence of L(G) </a:t>
            </a:r>
            <a:r>
              <a:rPr lang="en-US" sz="2400" dirty="0" err="1">
                <a:solidFill>
                  <a:schemeClr val="tx1"/>
                </a:solidFill>
                <a:sym typeface="Symbol" panose="05050102010706020507" pitchFamily="18" charset="2"/>
              </a:rPr>
              <a:t>iff</a:t>
            </a:r>
            <a:r>
              <a:rPr 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  S      where  is a string of terminals of G.</a:t>
            </a:r>
          </a:p>
          <a:p>
            <a:pPr lvl="1">
              <a:buFontTx/>
              <a:buChar char="•"/>
            </a:pPr>
            <a:endParaRPr lang="en-US" sz="18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r>
              <a:rPr lang="en-US" sz="2600" dirty="0"/>
              <a:t>If G is a context-free grammar, L(G) is a </a:t>
            </a:r>
            <a:r>
              <a:rPr lang="en-US" sz="2600" i="1" dirty="0"/>
              <a:t>context-free language</a:t>
            </a:r>
            <a:r>
              <a:rPr lang="en-US" sz="2600" dirty="0"/>
              <a:t>.</a:t>
            </a:r>
          </a:p>
          <a:p>
            <a:r>
              <a:rPr lang="en-US" sz="2600" dirty="0"/>
              <a:t>Two grammars are </a:t>
            </a:r>
            <a:r>
              <a:rPr lang="en-US" sz="2600" i="1" dirty="0"/>
              <a:t>equivalent</a:t>
            </a:r>
            <a:r>
              <a:rPr lang="en-US" sz="2600" dirty="0"/>
              <a:t> if they produce the same language.</a:t>
            </a:r>
          </a:p>
          <a:p>
            <a:endParaRPr lang="en-US" dirty="0"/>
          </a:p>
          <a:p>
            <a:r>
              <a:rPr lang="en-US" dirty="0"/>
              <a:t>S </a:t>
            </a:r>
            <a:r>
              <a:rPr lang="en-US" dirty="0">
                <a:sym typeface="Symbol" panose="05050102010706020507" pitchFamily="18" charset="2"/>
              </a:rPr>
              <a:t> </a:t>
            </a:r>
            <a:r>
              <a:rPr lang="en-US" sz="2800" dirty="0">
                <a:sym typeface="Symbol" panose="05050102010706020507" pitchFamily="18" charset="2"/>
              </a:rPr>
              <a:t>	</a:t>
            </a:r>
          </a:p>
          <a:p>
            <a:pPr lvl="1"/>
            <a:r>
              <a:rPr lang="en-US" sz="1400" dirty="0">
                <a:sym typeface="Symbol" panose="05050102010706020507" pitchFamily="18" charset="2"/>
              </a:rPr>
              <a:t> </a:t>
            </a:r>
            <a:r>
              <a:rPr lang="en-US" sz="1900" dirty="0">
                <a:sym typeface="Symbol" panose="05050102010706020507" pitchFamily="18" charset="2"/>
              </a:rPr>
              <a:t>If  contains non-terminals, it is called a </a:t>
            </a:r>
            <a:r>
              <a:rPr lang="en-US" sz="1900" i="1" dirty="0">
                <a:sym typeface="Symbol" panose="05050102010706020507" pitchFamily="18" charset="2"/>
              </a:rPr>
              <a:t>sentential</a:t>
            </a:r>
            <a:r>
              <a:rPr lang="en-US" sz="1900" dirty="0">
                <a:sym typeface="Symbol" panose="05050102010706020507" pitchFamily="18" charset="2"/>
              </a:rPr>
              <a:t> form of G.</a:t>
            </a:r>
            <a:endParaRPr lang="en-US" sz="1400" dirty="0">
              <a:sym typeface="Symbol" panose="05050102010706020507" pitchFamily="18" charset="2"/>
            </a:endParaRPr>
          </a:p>
          <a:p>
            <a:pPr lvl="1"/>
            <a:r>
              <a:rPr lang="en-US" sz="1900" dirty="0">
                <a:sym typeface="Symbol" panose="05050102010706020507" pitchFamily="18" charset="2"/>
              </a:rPr>
              <a:t> If  does not contain non-terminals, it is called a </a:t>
            </a:r>
            <a:r>
              <a:rPr lang="en-US" sz="1900" i="1" dirty="0">
                <a:sym typeface="Symbol" panose="05050102010706020507" pitchFamily="18" charset="2"/>
              </a:rPr>
              <a:t>sentence</a:t>
            </a:r>
            <a:r>
              <a:rPr lang="en-US" sz="1900" dirty="0">
                <a:sym typeface="Symbol" panose="05050102010706020507" pitchFamily="18" charset="2"/>
              </a:rPr>
              <a:t> of G. </a:t>
            </a:r>
          </a:p>
        </p:txBody>
      </p:sp>
      <p:sp>
        <p:nvSpPr>
          <p:cNvPr id="9222" name="Text Box 1028"/>
          <p:cNvSpPr txBox="1">
            <a:spLocks noChangeArrowheads="1"/>
          </p:cNvSpPr>
          <p:nvPr/>
        </p:nvSpPr>
        <p:spPr bwMode="auto">
          <a:xfrm>
            <a:off x="3829050" y="2892425"/>
            <a:ext cx="285750" cy="3079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1400" dirty="0">
                <a:latin typeface="Times New Roman" panose="02020603050405020304" charset="0"/>
              </a:rPr>
              <a:t>+</a:t>
            </a:r>
          </a:p>
        </p:txBody>
      </p:sp>
      <p:sp>
        <p:nvSpPr>
          <p:cNvPr id="9223" name="Text Box 1029"/>
          <p:cNvSpPr txBox="1">
            <a:spLocks noChangeArrowheads="1"/>
          </p:cNvSpPr>
          <p:nvPr/>
        </p:nvSpPr>
        <p:spPr bwMode="auto">
          <a:xfrm>
            <a:off x="855662" y="4614862"/>
            <a:ext cx="287338" cy="3381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1600" dirty="0">
                <a:latin typeface="Times New Roman" panose="02020603050405020304" charset="0"/>
              </a:rPr>
              <a:t>*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Derivation Example</a:t>
            </a:r>
          </a:p>
        </p:txBody>
      </p:sp>
      <p:sp>
        <p:nvSpPr>
          <p:cNvPr id="10246" name="Date Placeholder 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5BCB3988-599C-4796-AF12-B5F9BEE9BD19}" type="datetime1">
              <a:rPr lang="en-US"/>
              <a:t>10/30/2025</a:t>
            </a:fld>
            <a:endParaRPr lang="en-US"/>
          </a:p>
        </p:txBody>
      </p:sp>
      <p:sp>
        <p:nvSpPr>
          <p:cNvPr id="10242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1024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88BB934-7E9F-47A1-A89C-350299524182}" type="slidenum">
              <a:rPr lang="en-US"/>
              <a:t>12</a:t>
            </a:fld>
            <a:endParaRPr lang="en-US"/>
          </a:p>
        </p:txBody>
      </p:sp>
      <p:sp>
        <p:nvSpPr>
          <p:cNvPr id="1024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52400" y="1527048"/>
            <a:ext cx="8839200" cy="4572000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sz="2000" dirty="0"/>
              <a:t>       E</a:t>
            </a:r>
            <a:r>
              <a:rPr lang="en-US" dirty="0"/>
              <a:t> </a:t>
            </a:r>
            <a:r>
              <a:rPr lang="en-US" sz="2000" dirty="0">
                <a:sym typeface="Symbol" panose="05050102010706020507" pitchFamily="18" charset="2"/>
              </a:rPr>
              <a:t> -E  -(E)  -(E+E)  -(</a:t>
            </a:r>
            <a:r>
              <a:rPr lang="en-US" sz="2000" dirty="0" err="1">
                <a:sym typeface="Symbol" panose="05050102010706020507" pitchFamily="18" charset="2"/>
              </a:rPr>
              <a:t>id+E</a:t>
            </a:r>
            <a:r>
              <a:rPr lang="en-US" sz="2000" dirty="0">
                <a:sym typeface="Symbol" panose="05050102010706020507" pitchFamily="18" charset="2"/>
              </a:rPr>
              <a:t>)  -(</a:t>
            </a:r>
            <a:r>
              <a:rPr lang="en-US" sz="2000" dirty="0" err="1">
                <a:sym typeface="Symbol" panose="05050102010706020507" pitchFamily="18" charset="2"/>
              </a:rPr>
              <a:t>id+id</a:t>
            </a:r>
            <a:r>
              <a:rPr lang="en-US" sz="2000" dirty="0">
                <a:sym typeface="Symbol" panose="05050102010706020507" pitchFamily="18" charset="2"/>
              </a:rPr>
              <a:t>)</a:t>
            </a:r>
          </a:p>
          <a:p>
            <a:pPr>
              <a:buFontTx/>
              <a:buNone/>
            </a:pPr>
            <a:r>
              <a:rPr lang="en-US" sz="2000" dirty="0">
                <a:sym typeface="Symbol" panose="05050102010706020507" pitchFamily="18" charset="2"/>
              </a:rPr>
              <a:t>			                 OR</a:t>
            </a:r>
          </a:p>
          <a:p>
            <a:pPr>
              <a:buFontTx/>
              <a:buNone/>
            </a:pPr>
            <a:r>
              <a:rPr lang="en-US" sz="2000" dirty="0"/>
              <a:t>       E</a:t>
            </a:r>
            <a:r>
              <a:rPr lang="en-US" dirty="0"/>
              <a:t> </a:t>
            </a:r>
            <a:r>
              <a:rPr lang="en-US" sz="2000" dirty="0">
                <a:sym typeface="Symbol" panose="05050102010706020507" pitchFamily="18" charset="2"/>
              </a:rPr>
              <a:t> -E  -(E)  -(E+E)  -(</a:t>
            </a:r>
            <a:r>
              <a:rPr lang="en-US" sz="2000" dirty="0" err="1">
                <a:sym typeface="Symbol" panose="05050102010706020507" pitchFamily="18" charset="2"/>
              </a:rPr>
              <a:t>E+id</a:t>
            </a:r>
            <a:r>
              <a:rPr lang="en-US" sz="2000" dirty="0">
                <a:sym typeface="Symbol" panose="05050102010706020507" pitchFamily="18" charset="2"/>
              </a:rPr>
              <a:t>)  -(</a:t>
            </a:r>
            <a:r>
              <a:rPr lang="en-US" sz="2000" dirty="0" err="1">
                <a:sym typeface="Symbol" panose="05050102010706020507" pitchFamily="18" charset="2"/>
              </a:rPr>
              <a:t>id+id</a:t>
            </a:r>
            <a:r>
              <a:rPr lang="en-US" sz="2000" dirty="0">
                <a:sym typeface="Symbol" panose="05050102010706020507" pitchFamily="18" charset="2"/>
              </a:rPr>
              <a:t>)</a:t>
            </a:r>
          </a:p>
          <a:p>
            <a:pPr>
              <a:buFontTx/>
              <a:buNone/>
            </a:pPr>
            <a:endParaRPr lang="en-US" sz="2000" dirty="0">
              <a:sym typeface="Symbol" panose="05050102010706020507" pitchFamily="18" charset="2"/>
            </a:endParaRPr>
          </a:p>
          <a:p>
            <a:r>
              <a:rPr lang="en-US" sz="2000" dirty="0">
                <a:sym typeface="Symbol" panose="05050102010706020507" pitchFamily="18" charset="2"/>
              </a:rPr>
              <a:t>At each derivation step, we can choose any of the non-terminal in the sentential form of G for the replacement.</a:t>
            </a:r>
          </a:p>
          <a:p>
            <a:endParaRPr lang="en-US" sz="2000" dirty="0">
              <a:sym typeface="Symbol" panose="05050102010706020507" pitchFamily="18" charset="2"/>
            </a:endParaRPr>
          </a:p>
          <a:p>
            <a:r>
              <a:rPr lang="en-US" sz="2000" dirty="0">
                <a:sym typeface="Symbol" panose="05050102010706020507" pitchFamily="18" charset="2"/>
              </a:rPr>
              <a:t>If we always choose the </a:t>
            </a:r>
            <a:r>
              <a:rPr lang="en-US" sz="2000" dirty="0">
                <a:solidFill>
                  <a:srgbClr val="C00000"/>
                </a:solidFill>
                <a:sym typeface="Symbol" panose="05050102010706020507" pitchFamily="18" charset="2"/>
              </a:rPr>
              <a:t>left-most non-terminal </a:t>
            </a:r>
            <a:r>
              <a:rPr lang="en-US" sz="2000" dirty="0">
                <a:sym typeface="Symbol" panose="05050102010706020507" pitchFamily="18" charset="2"/>
              </a:rPr>
              <a:t>in each derivation step, this derivation is called as </a:t>
            </a:r>
            <a:r>
              <a:rPr lang="en-US" sz="2000" b="1" dirty="0">
                <a:sym typeface="Symbol" panose="05050102010706020507" pitchFamily="18" charset="2"/>
              </a:rPr>
              <a:t>left-most derivation</a:t>
            </a:r>
            <a:r>
              <a:rPr lang="en-US" sz="2000" dirty="0">
                <a:sym typeface="Symbol" panose="05050102010706020507" pitchFamily="18" charset="2"/>
              </a:rPr>
              <a:t>.</a:t>
            </a:r>
          </a:p>
          <a:p>
            <a:endParaRPr lang="en-US" sz="2000" dirty="0">
              <a:sym typeface="Symbol" panose="05050102010706020507" pitchFamily="18" charset="2"/>
            </a:endParaRPr>
          </a:p>
          <a:p>
            <a:r>
              <a:rPr lang="en-US" sz="2000" dirty="0">
                <a:sym typeface="Symbol" panose="05050102010706020507" pitchFamily="18" charset="2"/>
              </a:rPr>
              <a:t>If we always choose the </a:t>
            </a:r>
            <a:r>
              <a:rPr lang="en-US" sz="2000" dirty="0">
                <a:solidFill>
                  <a:srgbClr val="C00000"/>
                </a:solidFill>
                <a:sym typeface="Symbol" panose="05050102010706020507" pitchFamily="18" charset="2"/>
              </a:rPr>
              <a:t>right-most non-terminal </a:t>
            </a:r>
            <a:r>
              <a:rPr lang="en-US" sz="2000" dirty="0">
                <a:sym typeface="Symbol" panose="05050102010706020507" pitchFamily="18" charset="2"/>
              </a:rPr>
              <a:t>in each derivation step, this derivation is called as </a:t>
            </a:r>
            <a:r>
              <a:rPr lang="en-US" sz="2000" b="1" dirty="0">
                <a:sym typeface="Symbol" panose="05050102010706020507" pitchFamily="18" charset="2"/>
              </a:rPr>
              <a:t>right-most derivation</a:t>
            </a:r>
            <a:r>
              <a:rPr lang="en-US" sz="2000" dirty="0">
                <a:sym typeface="Symbol" panose="05050102010706020507" pitchFamily="18" charset="2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Left-Most and Right-Most Derivations</a:t>
            </a:r>
          </a:p>
        </p:txBody>
      </p:sp>
      <p:sp>
        <p:nvSpPr>
          <p:cNvPr id="11280" name="Date Placeholder 1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57C86D7E-4CBA-4281-8E06-E86DE12227A6}" type="datetime1">
              <a:rPr lang="en-US"/>
              <a:t>10/30/2025</a:t>
            </a:fld>
            <a:endParaRPr lang="en-US"/>
          </a:p>
        </p:txBody>
      </p:sp>
      <p:sp>
        <p:nvSpPr>
          <p:cNvPr id="11266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1126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67A87F0-26CC-40BA-A97C-D45C6A467803}" type="slidenum">
              <a:rPr lang="en-US"/>
              <a:t>13</a:t>
            </a:fld>
            <a:endParaRPr lang="en-US"/>
          </a:p>
        </p:txBody>
      </p:sp>
      <p:sp>
        <p:nvSpPr>
          <p:cNvPr id="11269" name="Rectangle 1027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Tx/>
              <a:buNone/>
            </a:pPr>
            <a:r>
              <a:rPr lang="en-US" dirty="0"/>
              <a:t>Left-Most Derivation</a:t>
            </a:r>
          </a:p>
          <a:p>
            <a:pPr>
              <a:buFontTx/>
              <a:buNone/>
            </a:pPr>
            <a:endParaRPr lang="en-US" sz="800" dirty="0"/>
          </a:p>
          <a:p>
            <a:pPr>
              <a:buFontTx/>
              <a:buNone/>
            </a:pPr>
            <a:r>
              <a:rPr lang="en-US" dirty="0"/>
              <a:t>	E </a:t>
            </a:r>
            <a:r>
              <a:rPr lang="en-US" dirty="0">
                <a:sym typeface="Symbol" panose="05050102010706020507" pitchFamily="18" charset="2"/>
              </a:rPr>
              <a:t> -E  -(E)  -(E+E)  -(</a:t>
            </a:r>
            <a:r>
              <a:rPr lang="en-US" dirty="0" err="1">
                <a:sym typeface="Symbol" panose="05050102010706020507" pitchFamily="18" charset="2"/>
              </a:rPr>
              <a:t>id+E</a:t>
            </a:r>
            <a:r>
              <a:rPr lang="en-US" dirty="0">
                <a:sym typeface="Symbol" panose="05050102010706020507" pitchFamily="18" charset="2"/>
              </a:rPr>
              <a:t>)  -(</a:t>
            </a:r>
            <a:r>
              <a:rPr lang="en-US" dirty="0" err="1">
                <a:sym typeface="Symbol" panose="05050102010706020507" pitchFamily="18" charset="2"/>
              </a:rPr>
              <a:t>id+id</a:t>
            </a:r>
            <a:r>
              <a:rPr lang="en-US" dirty="0">
                <a:sym typeface="Symbol" panose="05050102010706020507" pitchFamily="18" charset="2"/>
              </a:rPr>
              <a:t>)</a:t>
            </a: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	</a:t>
            </a: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Right-Most Derivation	</a:t>
            </a:r>
          </a:p>
          <a:p>
            <a:pPr>
              <a:buFontTx/>
              <a:buNone/>
            </a:pPr>
            <a:r>
              <a:rPr lang="en-US" sz="800" dirty="0"/>
              <a:t>	</a:t>
            </a:r>
          </a:p>
          <a:p>
            <a:pPr>
              <a:buFontTx/>
              <a:buNone/>
            </a:pPr>
            <a:r>
              <a:rPr lang="en-US" dirty="0"/>
              <a:t>	E </a:t>
            </a:r>
            <a:r>
              <a:rPr lang="en-US" dirty="0">
                <a:sym typeface="Symbol" panose="05050102010706020507" pitchFamily="18" charset="2"/>
              </a:rPr>
              <a:t> -E  -(E)  -(E+E)  -(</a:t>
            </a:r>
            <a:r>
              <a:rPr lang="en-US" dirty="0" err="1">
                <a:sym typeface="Symbol" panose="05050102010706020507" pitchFamily="18" charset="2"/>
              </a:rPr>
              <a:t>E+id</a:t>
            </a:r>
            <a:r>
              <a:rPr lang="en-US" dirty="0">
                <a:sym typeface="Symbol" panose="05050102010706020507" pitchFamily="18" charset="2"/>
              </a:rPr>
              <a:t>)  -(</a:t>
            </a:r>
            <a:r>
              <a:rPr lang="en-US" dirty="0" err="1">
                <a:sym typeface="Symbol" panose="05050102010706020507" pitchFamily="18" charset="2"/>
              </a:rPr>
              <a:t>id+id</a:t>
            </a:r>
            <a:r>
              <a:rPr lang="en-US" dirty="0">
                <a:sym typeface="Symbol" panose="05050102010706020507" pitchFamily="18" charset="2"/>
              </a:rPr>
              <a:t>)</a:t>
            </a:r>
          </a:p>
          <a:p>
            <a:pPr>
              <a:buFontTx/>
              <a:buNone/>
            </a:pPr>
            <a:endParaRPr lang="en-US" dirty="0">
              <a:sym typeface="Symbol" panose="05050102010706020507" pitchFamily="18" charset="2"/>
            </a:endParaRPr>
          </a:p>
          <a:p>
            <a:r>
              <a:rPr lang="en-US" dirty="0">
                <a:sym typeface="Symbol" panose="05050102010706020507" pitchFamily="18" charset="2"/>
              </a:rPr>
              <a:t>We will see 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the </a:t>
            </a:r>
            <a:r>
              <a:rPr lang="en-US" dirty="0">
                <a:solidFill>
                  <a:srgbClr val="C00000"/>
                </a:solidFill>
                <a:sym typeface="Symbol" panose="05050102010706020507" pitchFamily="18" charset="2"/>
              </a:rPr>
              <a:t>top-down</a:t>
            </a:r>
            <a:r>
              <a:rPr lang="en-US" dirty="0">
                <a:sym typeface="Symbol" panose="05050102010706020507" pitchFamily="18" charset="2"/>
              </a:rPr>
              <a:t> parsers try to find the </a:t>
            </a:r>
            <a:r>
              <a:rPr lang="en-US" dirty="0">
                <a:solidFill>
                  <a:srgbClr val="C00000"/>
                </a:solidFill>
                <a:sym typeface="Symbol" panose="05050102010706020507" pitchFamily="18" charset="2"/>
              </a:rPr>
              <a:t>left-most derivation </a:t>
            </a:r>
            <a:r>
              <a:rPr lang="en-US" dirty="0">
                <a:sym typeface="Symbol" panose="05050102010706020507" pitchFamily="18" charset="2"/>
              </a:rPr>
              <a:t>of the given source program.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the </a:t>
            </a:r>
            <a:r>
              <a:rPr lang="en-US" dirty="0">
                <a:solidFill>
                  <a:srgbClr val="C00000"/>
                </a:solidFill>
                <a:sym typeface="Symbol" panose="05050102010706020507" pitchFamily="18" charset="2"/>
              </a:rPr>
              <a:t>bottom-up</a:t>
            </a:r>
            <a:r>
              <a:rPr lang="en-US" dirty="0">
                <a:sym typeface="Symbol" panose="05050102010706020507" pitchFamily="18" charset="2"/>
              </a:rPr>
              <a:t> parsers try to find the </a:t>
            </a:r>
            <a:r>
              <a:rPr lang="en-US" dirty="0">
                <a:solidFill>
                  <a:srgbClr val="C00000"/>
                </a:solidFill>
                <a:sym typeface="Symbol" panose="05050102010706020507" pitchFamily="18" charset="2"/>
              </a:rPr>
              <a:t>right-most derivation </a:t>
            </a:r>
            <a:r>
              <a:rPr lang="en-US" dirty="0">
                <a:sym typeface="Symbol" panose="05050102010706020507" pitchFamily="18" charset="2"/>
              </a:rPr>
              <a:t>of the given source program in the reverse order.</a:t>
            </a:r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11270" name="Text Box 1028"/>
          <p:cNvSpPr txBox="1">
            <a:spLocks noChangeArrowheads="1"/>
          </p:cNvSpPr>
          <p:nvPr/>
        </p:nvSpPr>
        <p:spPr bwMode="auto">
          <a:xfrm>
            <a:off x="5646737" y="1901825"/>
            <a:ext cx="373063" cy="3079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1400" dirty="0">
                <a:latin typeface="Times New Roman" panose="02020603050405020304" charset="0"/>
              </a:rPr>
              <a:t>lm</a:t>
            </a:r>
          </a:p>
        </p:txBody>
      </p:sp>
      <p:sp>
        <p:nvSpPr>
          <p:cNvPr id="11271" name="Text Box 1029"/>
          <p:cNvSpPr txBox="1">
            <a:spLocks noChangeArrowheads="1"/>
          </p:cNvSpPr>
          <p:nvPr/>
        </p:nvSpPr>
        <p:spPr bwMode="auto">
          <a:xfrm>
            <a:off x="4122737" y="1828800"/>
            <a:ext cx="373063" cy="3079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1400" dirty="0">
                <a:latin typeface="Times New Roman" panose="02020603050405020304" charset="0"/>
              </a:rPr>
              <a:t>lm</a:t>
            </a:r>
          </a:p>
        </p:txBody>
      </p:sp>
      <p:sp>
        <p:nvSpPr>
          <p:cNvPr id="11272" name="Text Box 1030"/>
          <p:cNvSpPr txBox="1">
            <a:spLocks noChangeArrowheads="1"/>
          </p:cNvSpPr>
          <p:nvPr/>
        </p:nvSpPr>
        <p:spPr bwMode="auto">
          <a:xfrm>
            <a:off x="2674938" y="1905000"/>
            <a:ext cx="373062" cy="3079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1400" dirty="0">
                <a:latin typeface="Times New Roman" panose="02020603050405020304" charset="0"/>
              </a:rPr>
              <a:t>lm</a:t>
            </a:r>
          </a:p>
        </p:txBody>
      </p:sp>
      <p:sp>
        <p:nvSpPr>
          <p:cNvPr id="11273" name="Text Box 1031"/>
          <p:cNvSpPr txBox="1">
            <a:spLocks noChangeArrowheads="1"/>
          </p:cNvSpPr>
          <p:nvPr/>
        </p:nvSpPr>
        <p:spPr bwMode="auto">
          <a:xfrm>
            <a:off x="1617663" y="1905000"/>
            <a:ext cx="374650" cy="3079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1400" dirty="0">
                <a:latin typeface="Times New Roman" panose="02020603050405020304" charset="0"/>
              </a:rPr>
              <a:t>lm</a:t>
            </a:r>
          </a:p>
        </p:txBody>
      </p:sp>
      <p:sp>
        <p:nvSpPr>
          <p:cNvPr id="11274" name="Text Box 1032"/>
          <p:cNvSpPr txBox="1">
            <a:spLocks noChangeArrowheads="1"/>
          </p:cNvSpPr>
          <p:nvPr/>
        </p:nvSpPr>
        <p:spPr bwMode="auto">
          <a:xfrm>
            <a:off x="846137" y="1905000"/>
            <a:ext cx="373063" cy="3079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1400" dirty="0">
                <a:latin typeface="Times New Roman" panose="02020603050405020304" charset="0"/>
              </a:rPr>
              <a:t>lm</a:t>
            </a:r>
          </a:p>
        </p:txBody>
      </p:sp>
      <p:sp>
        <p:nvSpPr>
          <p:cNvPr id="11275" name="Text Box 1033"/>
          <p:cNvSpPr txBox="1">
            <a:spLocks noChangeArrowheads="1"/>
          </p:cNvSpPr>
          <p:nvPr/>
        </p:nvSpPr>
        <p:spPr bwMode="auto">
          <a:xfrm>
            <a:off x="5641974" y="3276600"/>
            <a:ext cx="382588" cy="3079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1400" dirty="0" err="1">
                <a:latin typeface="Times New Roman" panose="02020603050405020304" charset="0"/>
              </a:rPr>
              <a:t>rm</a:t>
            </a:r>
            <a:endParaRPr lang="en-US" sz="1400" dirty="0">
              <a:latin typeface="Times New Roman" panose="02020603050405020304" charset="0"/>
            </a:endParaRPr>
          </a:p>
        </p:txBody>
      </p:sp>
      <p:sp>
        <p:nvSpPr>
          <p:cNvPr id="11276" name="Text Box 1034"/>
          <p:cNvSpPr txBox="1">
            <a:spLocks noChangeArrowheads="1"/>
          </p:cNvSpPr>
          <p:nvPr/>
        </p:nvSpPr>
        <p:spPr bwMode="auto">
          <a:xfrm>
            <a:off x="4117180" y="3258875"/>
            <a:ext cx="384175" cy="3079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1400" dirty="0" err="1">
                <a:latin typeface="Times New Roman" panose="02020603050405020304" charset="0"/>
              </a:rPr>
              <a:t>rm</a:t>
            </a:r>
            <a:endParaRPr lang="en-US" sz="1400" dirty="0">
              <a:latin typeface="Times New Roman" panose="02020603050405020304" charset="0"/>
            </a:endParaRPr>
          </a:p>
        </p:txBody>
      </p:sp>
      <p:sp>
        <p:nvSpPr>
          <p:cNvPr id="11277" name="Text Box 1035"/>
          <p:cNvSpPr txBox="1">
            <a:spLocks noChangeArrowheads="1"/>
          </p:cNvSpPr>
          <p:nvPr/>
        </p:nvSpPr>
        <p:spPr bwMode="auto">
          <a:xfrm>
            <a:off x="2665413" y="3324603"/>
            <a:ext cx="382587" cy="3079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1400" dirty="0" err="1">
                <a:latin typeface="Times New Roman" panose="02020603050405020304" charset="0"/>
              </a:rPr>
              <a:t>rm</a:t>
            </a:r>
            <a:endParaRPr lang="en-US" sz="1400" dirty="0">
              <a:latin typeface="Times New Roman" panose="02020603050405020304" charset="0"/>
            </a:endParaRPr>
          </a:p>
        </p:txBody>
      </p:sp>
      <p:sp>
        <p:nvSpPr>
          <p:cNvPr id="11278" name="Text Box 1036"/>
          <p:cNvSpPr txBox="1">
            <a:spLocks noChangeArrowheads="1"/>
          </p:cNvSpPr>
          <p:nvPr/>
        </p:nvSpPr>
        <p:spPr bwMode="auto">
          <a:xfrm>
            <a:off x="1617663" y="3324604"/>
            <a:ext cx="384175" cy="3079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1400" dirty="0" err="1">
                <a:latin typeface="Times New Roman" panose="02020603050405020304" charset="0"/>
              </a:rPr>
              <a:t>rm</a:t>
            </a:r>
            <a:endParaRPr lang="en-US" sz="1400" dirty="0">
              <a:latin typeface="Times New Roman" panose="02020603050405020304" charset="0"/>
            </a:endParaRPr>
          </a:p>
        </p:txBody>
      </p:sp>
      <p:sp>
        <p:nvSpPr>
          <p:cNvPr id="11279" name="Text Box 1037"/>
          <p:cNvSpPr txBox="1">
            <a:spLocks noChangeArrowheads="1"/>
          </p:cNvSpPr>
          <p:nvPr/>
        </p:nvSpPr>
        <p:spPr bwMode="auto">
          <a:xfrm>
            <a:off x="840580" y="3276600"/>
            <a:ext cx="384175" cy="3079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1400" dirty="0" err="1">
                <a:latin typeface="Times New Roman" panose="02020603050405020304" charset="0"/>
              </a:rPr>
              <a:t>rm</a:t>
            </a:r>
            <a:endParaRPr lang="en-US" sz="1400" dirty="0">
              <a:latin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Parse Tree</a:t>
            </a:r>
          </a:p>
        </p:txBody>
      </p:sp>
      <p:sp>
        <p:nvSpPr>
          <p:cNvPr id="12304" name="Date Placeholder 107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6E147D9-B170-4D5C-A0C1-DD2DE116F454}" type="datetime1">
              <a:rPr lang="en-US"/>
              <a:t>10/30/2025</a:t>
            </a:fld>
            <a:endParaRPr lang="en-US"/>
          </a:p>
        </p:txBody>
      </p:sp>
      <p:sp>
        <p:nvSpPr>
          <p:cNvPr id="12290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Md Zahim Hassan, BAUST</a:t>
            </a:r>
          </a:p>
        </p:txBody>
      </p:sp>
      <p:sp>
        <p:nvSpPr>
          <p:cNvPr id="1229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A6B0A3C-92D7-495D-9956-12E7494AA214}" type="slidenum">
              <a:rPr lang="en-US"/>
              <a:t>14</a:t>
            </a:fld>
            <a:endParaRPr lang="en-US"/>
          </a:p>
        </p:txBody>
      </p:sp>
      <p:sp>
        <p:nvSpPr>
          <p:cNvPr id="12293" name="Text Box 3"/>
          <p:cNvSpPr txBox="1">
            <a:spLocks noChangeArrowheads="1"/>
          </p:cNvSpPr>
          <p:nvPr/>
        </p:nvSpPr>
        <p:spPr bwMode="auto">
          <a:xfrm>
            <a:off x="439761" y="1497091"/>
            <a:ext cx="8202182" cy="110799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 sz="2000" dirty="0">
                <a:latin typeface="Times New Roman" panose="02020603050405020304" charset="0"/>
              </a:rPr>
              <a:t>  </a:t>
            </a:r>
            <a:r>
              <a:rPr lang="en-US" sz="2200" dirty="0">
                <a:latin typeface="Times New Roman" panose="02020603050405020304" charset="0"/>
              </a:rPr>
              <a:t>Inner nodes of a parse tree are non-terminal symbols.</a:t>
            </a:r>
          </a:p>
          <a:p>
            <a:pPr>
              <a:buFontTx/>
              <a:buChar char="•"/>
            </a:pPr>
            <a:r>
              <a:rPr lang="en-US" sz="2200" dirty="0">
                <a:latin typeface="Times New Roman" panose="02020603050405020304" charset="0"/>
              </a:rPr>
              <a:t>  The leaves of a parse tree are terminal symbols.</a:t>
            </a:r>
          </a:p>
          <a:p>
            <a:pPr>
              <a:buFontTx/>
              <a:buChar char="•"/>
            </a:pPr>
            <a:r>
              <a:rPr lang="en-US" sz="2200" dirty="0">
                <a:latin typeface="Times New Roman" panose="02020603050405020304" charset="0"/>
              </a:rPr>
              <a:t>  A parse tree can be seen as a graphical representation of a derivation.</a:t>
            </a:r>
          </a:p>
        </p:txBody>
      </p:sp>
      <p:sp>
        <p:nvSpPr>
          <p:cNvPr id="12294" name="Text Box 4"/>
          <p:cNvSpPr txBox="1">
            <a:spLocks noChangeArrowheads="1"/>
          </p:cNvSpPr>
          <p:nvPr/>
        </p:nvSpPr>
        <p:spPr bwMode="auto">
          <a:xfrm>
            <a:off x="601662" y="2981325"/>
            <a:ext cx="1030288" cy="400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000" dirty="0">
                <a:latin typeface="Times New Roman" panose="02020603050405020304" charset="0"/>
              </a:rPr>
              <a:t>E </a:t>
            </a:r>
            <a:r>
              <a:rPr lang="en-US" sz="2000" dirty="0">
                <a:latin typeface="Times New Roman" panose="02020603050405020304" charset="0"/>
                <a:sym typeface="Symbol" panose="05050102010706020507" pitchFamily="18" charset="2"/>
              </a:rPr>
              <a:t> -E </a:t>
            </a:r>
            <a:endParaRPr lang="en-US" dirty="0">
              <a:latin typeface="Times New Roman" panose="02020603050405020304" charset="0"/>
            </a:endParaRPr>
          </a:p>
        </p:txBody>
      </p:sp>
      <p:grpSp>
        <p:nvGrpSpPr>
          <p:cNvPr id="2" name="Group 103"/>
          <p:cNvGrpSpPr/>
          <p:nvPr/>
        </p:nvGrpSpPr>
        <p:grpSpPr bwMode="auto">
          <a:xfrm>
            <a:off x="1727200" y="2938462"/>
            <a:ext cx="942975" cy="719138"/>
            <a:chOff x="1392" y="1632"/>
            <a:chExt cx="643" cy="453"/>
          </a:xfrm>
        </p:grpSpPr>
        <p:grpSp>
          <p:nvGrpSpPr>
            <p:cNvPr id="3" name="Group 13"/>
            <p:cNvGrpSpPr/>
            <p:nvPr/>
          </p:nvGrpSpPr>
          <p:grpSpPr bwMode="auto">
            <a:xfrm>
              <a:off x="1488" y="1776"/>
              <a:ext cx="432" cy="144"/>
              <a:chOff x="1776" y="1680"/>
              <a:chExt cx="432" cy="144"/>
            </a:xfrm>
          </p:grpSpPr>
          <p:sp>
            <p:nvSpPr>
              <p:cNvPr id="12394" name="Line 5"/>
              <p:cNvSpPr>
                <a:spLocks noChangeShapeType="1"/>
              </p:cNvSpPr>
              <p:nvPr/>
            </p:nvSpPr>
            <p:spPr bwMode="auto">
              <a:xfrm flipH="1">
                <a:off x="1776" y="1680"/>
                <a:ext cx="192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95" name="Line 6"/>
              <p:cNvSpPr>
                <a:spLocks noChangeShapeType="1"/>
              </p:cNvSpPr>
              <p:nvPr/>
            </p:nvSpPr>
            <p:spPr bwMode="auto">
              <a:xfrm>
                <a:off x="2016" y="1680"/>
                <a:ext cx="192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2391" name="Text Box 61"/>
            <p:cNvSpPr txBox="1">
              <a:spLocks noChangeArrowheads="1"/>
            </p:cNvSpPr>
            <p:nvPr/>
          </p:nvSpPr>
          <p:spPr bwMode="auto">
            <a:xfrm>
              <a:off x="1632" y="1632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2392" name="Text Box 63"/>
            <p:cNvSpPr txBox="1">
              <a:spLocks noChangeArrowheads="1"/>
            </p:cNvSpPr>
            <p:nvPr/>
          </p:nvSpPr>
          <p:spPr bwMode="auto">
            <a:xfrm>
              <a:off x="1824" y="1872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2393" name="Text Box 83"/>
            <p:cNvSpPr txBox="1">
              <a:spLocks noChangeArrowheads="1"/>
            </p:cNvSpPr>
            <p:nvPr/>
          </p:nvSpPr>
          <p:spPr bwMode="auto">
            <a:xfrm>
              <a:off x="1392" y="1872"/>
              <a:ext cx="173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Times New Roman" panose="02020603050405020304" charset="0"/>
                </a:rPr>
                <a:t>-</a:t>
              </a:r>
            </a:p>
          </p:txBody>
        </p:sp>
      </p:grpSp>
      <p:grpSp>
        <p:nvGrpSpPr>
          <p:cNvPr id="4" name="Group 110"/>
          <p:cNvGrpSpPr/>
          <p:nvPr/>
        </p:nvGrpSpPr>
        <p:grpSpPr bwMode="auto">
          <a:xfrm>
            <a:off x="7002462" y="3014662"/>
            <a:ext cx="1379538" cy="1633538"/>
            <a:chOff x="4752" y="1440"/>
            <a:chExt cx="941" cy="1029"/>
          </a:xfrm>
        </p:grpSpPr>
        <p:grpSp>
          <p:nvGrpSpPr>
            <p:cNvPr id="5" name="Group 30"/>
            <p:cNvGrpSpPr/>
            <p:nvPr/>
          </p:nvGrpSpPr>
          <p:grpSpPr bwMode="auto">
            <a:xfrm>
              <a:off x="4848" y="1584"/>
              <a:ext cx="720" cy="720"/>
              <a:chOff x="1776" y="2256"/>
              <a:chExt cx="720" cy="720"/>
            </a:xfrm>
          </p:grpSpPr>
          <p:grpSp>
            <p:nvGrpSpPr>
              <p:cNvPr id="6" name="Group 25"/>
              <p:cNvGrpSpPr/>
              <p:nvPr/>
            </p:nvGrpSpPr>
            <p:grpSpPr bwMode="auto">
              <a:xfrm>
                <a:off x="1776" y="2256"/>
                <a:ext cx="720" cy="432"/>
                <a:chOff x="1776" y="2256"/>
                <a:chExt cx="720" cy="432"/>
              </a:xfrm>
            </p:grpSpPr>
            <p:sp>
              <p:nvSpPr>
                <p:cNvPr id="12384" name="Line 8"/>
                <p:cNvSpPr>
                  <a:spLocks noChangeShapeType="1"/>
                </p:cNvSpPr>
                <p:nvPr/>
              </p:nvSpPr>
              <p:spPr bwMode="auto">
                <a:xfrm flipH="1">
                  <a:off x="1776" y="2256"/>
                  <a:ext cx="192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385" name="Line 9"/>
                <p:cNvSpPr>
                  <a:spLocks noChangeShapeType="1"/>
                </p:cNvSpPr>
                <p:nvPr/>
              </p:nvSpPr>
              <p:spPr bwMode="auto">
                <a:xfrm>
                  <a:off x="2016" y="2256"/>
                  <a:ext cx="192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7" name="Group 20"/>
                <p:cNvGrpSpPr/>
                <p:nvPr/>
              </p:nvGrpSpPr>
              <p:grpSpPr bwMode="auto">
                <a:xfrm>
                  <a:off x="1920" y="2544"/>
                  <a:ext cx="576" cy="144"/>
                  <a:chOff x="1920" y="2544"/>
                  <a:chExt cx="576" cy="144"/>
                </a:xfrm>
              </p:grpSpPr>
              <p:sp>
                <p:nvSpPr>
                  <p:cNvPr id="12387" name="Line 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920" y="2544"/>
                    <a:ext cx="192" cy="14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2388" name="Line 10"/>
                  <p:cNvSpPr>
                    <a:spLocks noChangeShapeType="1"/>
                  </p:cNvSpPr>
                  <p:nvPr/>
                </p:nvSpPr>
                <p:spPr bwMode="auto">
                  <a:xfrm>
                    <a:off x="2304" y="2544"/>
                    <a:ext cx="192" cy="14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2389" name="Line 11"/>
                  <p:cNvSpPr>
                    <a:spLocks noChangeShapeType="1"/>
                  </p:cNvSpPr>
                  <p:nvPr/>
                </p:nvSpPr>
                <p:spPr bwMode="auto">
                  <a:xfrm>
                    <a:off x="2208" y="2544"/>
                    <a:ext cx="0" cy="14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8" name="Group 21"/>
              <p:cNvGrpSpPr/>
              <p:nvPr/>
            </p:nvGrpSpPr>
            <p:grpSpPr bwMode="auto">
              <a:xfrm>
                <a:off x="1920" y="2832"/>
                <a:ext cx="576" cy="144"/>
                <a:chOff x="1920" y="2544"/>
                <a:chExt cx="576" cy="144"/>
              </a:xfrm>
            </p:grpSpPr>
            <p:sp>
              <p:nvSpPr>
                <p:cNvPr id="12381" name="Line 22"/>
                <p:cNvSpPr>
                  <a:spLocks noChangeShapeType="1"/>
                </p:cNvSpPr>
                <p:nvPr/>
              </p:nvSpPr>
              <p:spPr bwMode="auto">
                <a:xfrm flipH="1">
                  <a:off x="1920" y="2544"/>
                  <a:ext cx="192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382" name="Line 23"/>
                <p:cNvSpPr>
                  <a:spLocks noChangeShapeType="1"/>
                </p:cNvSpPr>
                <p:nvPr/>
              </p:nvSpPr>
              <p:spPr bwMode="auto">
                <a:xfrm>
                  <a:off x="2304" y="2544"/>
                  <a:ext cx="192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383" name="Line 24"/>
                <p:cNvSpPr>
                  <a:spLocks noChangeShapeType="1"/>
                </p:cNvSpPr>
                <p:nvPr/>
              </p:nvSpPr>
              <p:spPr bwMode="auto">
                <a:xfrm>
                  <a:off x="2208" y="2544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12370" name="Text Box 66"/>
            <p:cNvSpPr txBox="1">
              <a:spLocks noChangeArrowheads="1"/>
            </p:cNvSpPr>
            <p:nvPr/>
          </p:nvSpPr>
          <p:spPr bwMode="auto">
            <a:xfrm>
              <a:off x="5184" y="1968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2371" name="Text Box 67"/>
            <p:cNvSpPr txBox="1">
              <a:spLocks noChangeArrowheads="1"/>
            </p:cNvSpPr>
            <p:nvPr/>
          </p:nvSpPr>
          <p:spPr bwMode="auto">
            <a:xfrm>
              <a:off x="4992" y="1440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2372" name="Text Box 68"/>
            <p:cNvSpPr txBox="1">
              <a:spLocks noChangeArrowheads="1"/>
            </p:cNvSpPr>
            <p:nvPr/>
          </p:nvSpPr>
          <p:spPr bwMode="auto">
            <a:xfrm>
              <a:off x="5472" y="2256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2373" name="Text Box 69"/>
            <p:cNvSpPr txBox="1">
              <a:spLocks noChangeArrowheads="1"/>
            </p:cNvSpPr>
            <p:nvPr/>
          </p:nvSpPr>
          <p:spPr bwMode="auto">
            <a:xfrm>
              <a:off x="4896" y="2256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2374" name="Text Box 72"/>
            <p:cNvSpPr txBox="1">
              <a:spLocks noChangeArrowheads="1"/>
            </p:cNvSpPr>
            <p:nvPr/>
          </p:nvSpPr>
          <p:spPr bwMode="auto">
            <a:xfrm>
              <a:off x="5184" y="1680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2375" name="Text Box 84"/>
            <p:cNvSpPr txBox="1">
              <a:spLocks noChangeArrowheads="1"/>
            </p:cNvSpPr>
            <p:nvPr/>
          </p:nvSpPr>
          <p:spPr bwMode="auto">
            <a:xfrm>
              <a:off x="5184" y="2256"/>
              <a:ext cx="205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+</a:t>
              </a:r>
            </a:p>
          </p:txBody>
        </p:sp>
        <p:sp>
          <p:nvSpPr>
            <p:cNvPr id="12376" name="Text Box 88"/>
            <p:cNvSpPr txBox="1">
              <a:spLocks noChangeArrowheads="1"/>
            </p:cNvSpPr>
            <p:nvPr/>
          </p:nvSpPr>
          <p:spPr bwMode="auto">
            <a:xfrm>
              <a:off x="4752" y="1680"/>
              <a:ext cx="173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-</a:t>
              </a:r>
            </a:p>
          </p:txBody>
        </p:sp>
        <p:sp>
          <p:nvSpPr>
            <p:cNvPr id="12377" name="Text Box 93"/>
            <p:cNvSpPr txBox="1">
              <a:spLocks noChangeArrowheads="1"/>
            </p:cNvSpPr>
            <p:nvPr/>
          </p:nvSpPr>
          <p:spPr bwMode="auto">
            <a:xfrm>
              <a:off x="4896" y="1968"/>
              <a:ext cx="173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Times New Roman" panose="02020603050405020304" charset="0"/>
                </a:rPr>
                <a:t>(</a:t>
              </a:r>
            </a:p>
          </p:txBody>
        </p:sp>
        <p:sp>
          <p:nvSpPr>
            <p:cNvPr id="12378" name="Text Box 98"/>
            <p:cNvSpPr txBox="1">
              <a:spLocks noChangeArrowheads="1"/>
            </p:cNvSpPr>
            <p:nvPr/>
          </p:nvSpPr>
          <p:spPr bwMode="auto">
            <a:xfrm>
              <a:off x="5520" y="1968"/>
              <a:ext cx="173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)</a:t>
              </a:r>
            </a:p>
          </p:txBody>
        </p:sp>
      </p:grpSp>
      <p:grpSp>
        <p:nvGrpSpPr>
          <p:cNvPr id="9" name="Group 109"/>
          <p:cNvGrpSpPr/>
          <p:nvPr/>
        </p:nvGrpSpPr>
        <p:grpSpPr bwMode="auto">
          <a:xfrm>
            <a:off x="4259262" y="3014662"/>
            <a:ext cx="1309688" cy="1176338"/>
            <a:chOff x="2880" y="1584"/>
            <a:chExt cx="893" cy="741"/>
          </a:xfrm>
        </p:grpSpPr>
        <p:grpSp>
          <p:nvGrpSpPr>
            <p:cNvPr id="10" name="Group 14"/>
            <p:cNvGrpSpPr/>
            <p:nvPr/>
          </p:nvGrpSpPr>
          <p:grpSpPr bwMode="auto">
            <a:xfrm>
              <a:off x="2976" y="1728"/>
              <a:ext cx="720" cy="432"/>
              <a:chOff x="2880" y="1680"/>
              <a:chExt cx="720" cy="432"/>
            </a:xfrm>
          </p:grpSpPr>
          <p:sp>
            <p:nvSpPr>
              <p:cNvPr id="12364" name="Line 15"/>
              <p:cNvSpPr>
                <a:spLocks noChangeShapeType="1"/>
              </p:cNvSpPr>
              <p:nvPr/>
            </p:nvSpPr>
            <p:spPr bwMode="auto">
              <a:xfrm flipH="1">
                <a:off x="3024" y="1968"/>
                <a:ext cx="192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65" name="Line 16"/>
              <p:cNvSpPr>
                <a:spLocks noChangeShapeType="1"/>
              </p:cNvSpPr>
              <p:nvPr/>
            </p:nvSpPr>
            <p:spPr bwMode="auto">
              <a:xfrm flipH="1">
                <a:off x="2880" y="1680"/>
                <a:ext cx="192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66" name="Line 17"/>
              <p:cNvSpPr>
                <a:spLocks noChangeShapeType="1"/>
              </p:cNvSpPr>
              <p:nvPr/>
            </p:nvSpPr>
            <p:spPr bwMode="auto">
              <a:xfrm>
                <a:off x="3120" y="1680"/>
                <a:ext cx="192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67" name="Line 18"/>
              <p:cNvSpPr>
                <a:spLocks noChangeShapeType="1"/>
              </p:cNvSpPr>
              <p:nvPr/>
            </p:nvSpPr>
            <p:spPr bwMode="auto">
              <a:xfrm>
                <a:off x="3408" y="1968"/>
                <a:ext cx="192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68" name="Line 19"/>
              <p:cNvSpPr>
                <a:spLocks noChangeShapeType="1"/>
              </p:cNvSpPr>
              <p:nvPr/>
            </p:nvSpPr>
            <p:spPr bwMode="auto">
              <a:xfrm>
                <a:off x="3312" y="196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2358" name="Text Box 62"/>
            <p:cNvSpPr txBox="1">
              <a:spLocks noChangeArrowheads="1"/>
            </p:cNvSpPr>
            <p:nvPr/>
          </p:nvSpPr>
          <p:spPr bwMode="auto">
            <a:xfrm>
              <a:off x="3120" y="1584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2359" name="Text Box 64"/>
            <p:cNvSpPr txBox="1">
              <a:spLocks noChangeArrowheads="1"/>
            </p:cNvSpPr>
            <p:nvPr/>
          </p:nvSpPr>
          <p:spPr bwMode="auto">
            <a:xfrm>
              <a:off x="3312" y="2112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2360" name="Text Box 65"/>
            <p:cNvSpPr txBox="1">
              <a:spLocks noChangeArrowheads="1"/>
            </p:cNvSpPr>
            <p:nvPr/>
          </p:nvSpPr>
          <p:spPr bwMode="auto">
            <a:xfrm>
              <a:off x="3312" y="1824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2361" name="Text Box 89"/>
            <p:cNvSpPr txBox="1">
              <a:spLocks noChangeArrowheads="1"/>
            </p:cNvSpPr>
            <p:nvPr/>
          </p:nvSpPr>
          <p:spPr bwMode="auto">
            <a:xfrm>
              <a:off x="2880" y="1824"/>
              <a:ext cx="173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-</a:t>
              </a:r>
            </a:p>
          </p:txBody>
        </p:sp>
        <p:sp>
          <p:nvSpPr>
            <p:cNvPr id="12362" name="Text Box 94"/>
            <p:cNvSpPr txBox="1">
              <a:spLocks noChangeArrowheads="1"/>
            </p:cNvSpPr>
            <p:nvPr/>
          </p:nvSpPr>
          <p:spPr bwMode="auto">
            <a:xfrm>
              <a:off x="3024" y="2112"/>
              <a:ext cx="173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(</a:t>
              </a:r>
            </a:p>
          </p:txBody>
        </p:sp>
        <p:sp>
          <p:nvSpPr>
            <p:cNvPr id="12363" name="Text Box 99"/>
            <p:cNvSpPr txBox="1">
              <a:spLocks noChangeArrowheads="1"/>
            </p:cNvSpPr>
            <p:nvPr/>
          </p:nvSpPr>
          <p:spPr bwMode="auto">
            <a:xfrm>
              <a:off x="3600" y="2112"/>
              <a:ext cx="173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)</a:t>
              </a:r>
            </a:p>
          </p:txBody>
        </p:sp>
      </p:grpSp>
      <p:grpSp>
        <p:nvGrpSpPr>
          <p:cNvPr id="11" name="Group 113"/>
          <p:cNvGrpSpPr/>
          <p:nvPr/>
        </p:nvGrpSpPr>
        <p:grpSpPr bwMode="auto">
          <a:xfrm>
            <a:off x="5384800" y="4386262"/>
            <a:ext cx="1400175" cy="2090738"/>
            <a:chOff x="3648" y="2400"/>
            <a:chExt cx="955" cy="1317"/>
          </a:xfrm>
        </p:grpSpPr>
        <p:sp>
          <p:nvSpPr>
            <p:cNvPr id="12329" name="Text Box 77"/>
            <p:cNvSpPr txBox="1">
              <a:spLocks noChangeArrowheads="1"/>
            </p:cNvSpPr>
            <p:nvPr/>
          </p:nvSpPr>
          <p:spPr bwMode="auto">
            <a:xfrm>
              <a:off x="3888" y="2400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2330" name="Text Box 81"/>
            <p:cNvSpPr txBox="1">
              <a:spLocks noChangeArrowheads="1"/>
            </p:cNvSpPr>
            <p:nvPr/>
          </p:nvSpPr>
          <p:spPr bwMode="auto">
            <a:xfrm>
              <a:off x="4368" y="3216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2331" name="Text Box 100"/>
            <p:cNvSpPr txBox="1">
              <a:spLocks noChangeArrowheads="1"/>
            </p:cNvSpPr>
            <p:nvPr/>
          </p:nvSpPr>
          <p:spPr bwMode="auto">
            <a:xfrm>
              <a:off x="4368" y="3504"/>
              <a:ext cx="235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id</a:t>
              </a:r>
            </a:p>
          </p:txBody>
        </p:sp>
        <p:grpSp>
          <p:nvGrpSpPr>
            <p:cNvPr id="12" name="Group 112"/>
            <p:cNvGrpSpPr/>
            <p:nvPr/>
          </p:nvGrpSpPr>
          <p:grpSpPr bwMode="auto">
            <a:xfrm>
              <a:off x="3648" y="2544"/>
              <a:ext cx="893" cy="1173"/>
              <a:chOff x="3984" y="2544"/>
              <a:chExt cx="893" cy="1173"/>
            </a:xfrm>
          </p:grpSpPr>
          <p:grpSp>
            <p:nvGrpSpPr>
              <p:cNvPr id="13" name="Group 60"/>
              <p:cNvGrpSpPr/>
              <p:nvPr/>
            </p:nvGrpSpPr>
            <p:grpSpPr bwMode="auto">
              <a:xfrm>
                <a:off x="4080" y="2544"/>
                <a:ext cx="720" cy="1008"/>
                <a:chOff x="4752" y="2448"/>
                <a:chExt cx="720" cy="1008"/>
              </a:xfrm>
            </p:grpSpPr>
            <p:sp>
              <p:nvSpPr>
                <p:cNvPr id="12342" name="Line 44"/>
                <p:cNvSpPr>
                  <a:spLocks noChangeShapeType="1"/>
                </p:cNvSpPr>
                <p:nvPr/>
              </p:nvSpPr>
              <p:spPr bwMode="auto">
                <a:xfrm>
                  <a:off x="5472" y="3312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14" name="Group 46"/>
                <p:cNvGrpSpPr/>
                <p:nvPr/>
              </p:nvGrpSpPr>
              <p:grpSpPr bwMode="auto">
                <a:xfrm>
                  <a:off x="4752" y="2448"/>
                  <a:ext cx="720" cy="1008"/>
                  <a:chOff x="3072" y="2304"/>
                  <a:chExt cx="720" cy="1008"/>
                </a:xfrm>
              </p:grpSpPr>
              <p:grpSp>
                <p:nvGrpSpPr>
                  <p:cNvPr id="15" name="Group 47"/>
                  <p:cNvGrpSpPr/>
                  <p:nvPr/>
                </p:nvGrpSpPr>
                <p:grpSpPr bwMode="auto">
                  <a:xfrm>
                    <a:off x="3072" y="2304"/>
                    <a:ext cx="720" cy="720"/>
                    <a:chOff x="1776" y="2256"/>
                    <a:chExt cx="720" cy="720"/>
                  </a:xfrm>
                </p:grpSpPr>
                <p:grpSp>
                  <p:nvGrpSpPr>
                    <p:cNvPr id="16" name="Group 48"/>
                    <p:cNvGrpSpPr/>
                    <p:nvPr/>
                  </p:nvGrpSpPr>
                  <p:grpSpPr bwMode="auto">
                    <a:xfrm>
                      <a:off x="1776" y="2256"/>
                      <a:ext cx="720" cy="432"/>
                      <a:chOff x="1776" y="2256"/>
                      <a:chExt cx="720" cy="432"/>
                    </a:xfrm>
                  </p:grpSpPr>
                  <p:sp>
                    <p:nvSpPr>
                      <p:cNvPr id="12351" name="Line 49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1776" y="2256"/>
                        <a:ext cx="192" cy="144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352" name="Line 50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016" y="2256"/>
                        <a:ext cx="192" cy="144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grpSp>
                    <p:nvGrpSpPr>
                      <p:cNvPr id="17" name="Group 51"/>
                      <p:cNvGrpSpPr/>
                      <p:nvPr/>
                    </p:nvGrpSpPr>
                    <p:grpSpPr bwMode="auto">
                      <a:xfrm>
                        <a:off x="1920" y="2544"/>
                        <a:ext cx="576" cy="144"/>
                        <a:chOff x="1920" y="2544"/>
                        <a:chExt cx="576" cy="144"/>
                      </a:xfrm>
                    </p:grpSpPr>
                    <p:sp>
                      <p:nvSpPr>
                        <p:cNvPr id="12354" name="Line 52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1920" y="2544"/>
                          <a:ext cx="192" cy="144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rou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2355" name="Line 53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304" y="2544"/>
                          <a:ext cx="192" cy="144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rou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2356" name="Line 54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208" y="2544"/>
                          <a:ext cx="0" cy="144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rou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8" name="Group 55"/>
                    <p:cNvGrpSpPr/>
                    <p:nvPr/>
                  </p:nvGrpSpPr>
                  <p:grpSpPr bwMode="auto">
                    <a:xfrm>
                      <a:off x="1920" y="2832"/>
                      <a:ext cx="576" cy="144"/>
                      <a:chOff x="1920" y="2544"/>
                      <a:chExt cx="576" cy="144"/>
                    </a:xfrm>
                  </p:grpSpPr>
                  <p:sp>
                    <p:nvSpPr>
                      <p:cNvPr id="12348" name="Line 56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1920" y="2544"/>
                        <a:ext cx="192" cy="144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349" name="Line 57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304" y="2544"/>
                        <a:ext cx="192" cy="144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350" name="Line 5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208" y="2544"/>
                        <a:ext cx="0" cy="144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</p:grpSp>
              <p:sp>
                <p:nvSpPr>
                  <p:cNvPr id="12345" name="Line 59"/>
                  <p:cNvSpPr>
                    <a:spLocks noChangeShapeType="1"/>
                  </p:cNvSpPr>
                  <p:nvPr/>
                </p:nvSpPr>
                <p:spPr bwMode="auto">
                  <a:xfrm>
                    <a:off x="3216" y="3168"/>
                    <a:ext cx="0" cy="14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12334" name="Text Box 78"/>
              <p:cNvSpPr txBox="1">
                <a:spLocks noChangeArrowheads="1"/>
              </p:cNvSpPr>
              <p:nvPr/>
            </p:nvSpPr>
            <p:spPr bwMode="auto">
              <a:xfrm>
                <a:off x="4416" y="2640"/>
                <a:ext cx="194" cy="21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r>
                  <a:rPr lang="en-US" sz="1600">
                    <a:latin typeface="Times New Roman" panose="02020603050405020304" charset="0"/>
                  </a:rPr>
                  <a:t>E</a:t>
                </a:r>
              </a:p>
            </p:txBody>
          </p:sp>
          <p:sp>
            <p:nvSpPr>
              <p:cNvPr id="12335" name="Text Box 79"/>
              <p:cNvSpPr txBox="1">
                <a:spLocks noChangeArrowheads="1"/>
              </p:cNvSpPr>
              <p:nvPr/>
            </p:nvSpPr>
            <p:spPr bwMode="auto">
              <a:xfrm>
                <a:off x="4416" y="2928"/>
                <a:ext cx="211" cy="21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>
                    <a:latin typeface="Times New Roman" panose="02020603050405020304" charset="0"/>
                  </a:rPr>
                  <a:t>E</a:t>
                </a:r>
              </a:p>
            </p:txBody>
          </p:sp>
          <p:sp>
            <p:nvSpPr>
              <p:cNvPr id="12336" name="Text Box 80"/>
              <p:cNvSpPr txBox="1">
                <a:spLocks noChangeArrowheads="1"/>
              </p:cNvSpPr>
              <p:nvPr/>
            </p:nvSpPr>
            <p:spPr bwMode="auto">
              <a:xfrm>
                <a:off x="4128" y="3216"/>
                <a:ext cx="211" cy="21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>
                    <a:latin typeface="Times New Roman" panose="02020603050405020304" charset="0"/>
                  </a:rPr>
                  <a:t>E</a:t>
                </a:r>
              </a:p>
            </p:txBody>
          </p:sp>
          <p:sp>
            <p:nvSpPr>
              <p:cNvPr id="12337" name="Text Box 85"/>
              <p:cNvSpPr txBox="1">
                <a:spLocks noChangeArrowheads="1"/>
              </p:cNvSpPr>
              <p:nvPr/>
            </p:nvSpPr>
            <p:spPr bwMode="auto">
              <a:xfrm>
                <a:off x="4416" y="3216"/>
                <a:ext cx="205" cy="21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>
                    <a:latin typeface="Times New Roman" panose="02020603050405020304" charset="0"/>
                  </a:rPr>
                  <a:t>+</a:t>
                </a:r>
              </a:p>
            </p:txBody>
          </p:sp>
          <p:sp>
            <p:nvSpPr>
              <p:cNvPr id="12338" name="Text Box 90"/>
              <p:cNvSpPr txBox="1">
                <a:spLocks noChangeArrowheads="1"/>
              </p:cNvSpPr>
              <p:nvPr/>
            </p:nvSpPr>
            <p:spPr bwMode="auto">
              <a:xfrm>
                <a:off x="3984" y="2592"/>
                <a:ext cx="173" cy="21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>
                    <a:latin typeface="Times New Roman" panose="02020603050405020304" charset="0"/>
                  </a:rPr>
                  <a:t>-</a:t>
                </a:r>
              </a:p>
            </p:txBody>
          </p:sp>
          <p:sp>
            <p:nvSpPr>
              <p:cNvPr id="12339" name="Text Box 91"/>
              <p:cNvSpPr txBox="1">
                <a:spLocks noChangeArrowheads="1"/>
              </p:cNvSpPr>
              <p:nvPr/>
            </p:nvSpPr>
            <p:spPr bwMode="auto">
              <a:xfrm>
                <a:off x="4128" y="2928"/>
                <a:ext cx="173" cy="21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>
                    <a:latin typeface="Times New Roman" panose="02020603050405020304" charset="0"/>
                  </a:rPr>
                  <a:t>(</a:t>
                </a:r>
              </a:p>
            </p:txBody>
          </p:sp>
          <p:sp>
            <p:nvSpPr>
              <p:cNvPr id="12340" name="Text Box 96"/>
              <p:cNvSpPr txBox="1">
                <a:spLocks noChangeArrowheads="1"/>
              </p:cNvSpPr>
              <p:nvPr/>
            </p:nvSpPr>
            <p:spPr bwMode="auto">
              <a:xfrm>
                <a:off x="4704" y="2928"/>
                <a:ext cx="173" cy="21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>
                    <a:latin typeface="Times New Roman" panose="02020603050405020304" charset="0"/>
                  </a:rPr>
                  <a:t>)</a:t>
                </a:r>
              </a:p>
            </p:txBody>
          </p:sp>
          <p:sp>
            <p:nvSpPr>
              <p:cNvPr id="12341" name="Text Box 101"/>
              <p:cNvSpPr txBox="1">
                <a:spLocks noChangeArrowheads="1"/>
              </p:cNvSpPr>
              <p:nvPr/>
            </p:nvSpPr>
            <p:spPr bwMode="auto">
              <a:xfrm>
                <a:off x="4128" y="3504"/>
                <a:ext cx="235" cy="21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>
                    <a:latin typeface="Times New Roman" panose="02020603050405020304" charset="0"/>
                  </a:rPr>
                  <a:t>id</a:t>
                </a:r>
              </a:p>
            </p:txBody>
          </p:sp>
        </p:grpSp>
      </p:grpSp>
      <p:grpSp>
        <p:nvGrpSpPr>
          <p:cNvPr id="19" name="Group 111"/>
          <p:cNvGrpSpPr/>
          <p:nvPr/>
        </p:nvGrpSpPr>
        <p:grpSpPr bwMode="auto">
          <a:xfrm>
            <a:off x="1868487" y="4386262"/>
            <a:ext cx="1308100" cy="2090738"/>
            <a:chOff x="2064" y="2544"/>
            <a:chExt cx="893" cy="1317"/>
          </a:xfrm>
        </p:grpSpPr>
        <p:grpSp>
          <p:nvGrpSpPr>
            <p:cNvPr id="20" name="Group 45"/>
            <p:cNvGrpSpPr/>
            <p:nvPr/>
          </p:nvGrpSpPr>
          <p:grpSpPr bwMode="auto">
            <a:xfrm>
              <a:off x="2160" y="2688"/>
              <a:ext cx="720" cy="1008"/>
              <a:chOff x="3072" y="2304"/>
              <a:chExt cx="720" cy="1008"/>
            </a:xfrm>
          </p:grpSpPr>
          <p:grpSp>
            <p:nvGrpSpPr>
              <p:cNvPr id="21" name="Group 31"/>
              <p:cNvGrpSpPr/>
              <p:nvPr/>
            </p:nvGrpSpPr>
            <p:grpSpPr bwMode="auto">
              <a:xfrm>
                <a:off x="3072" y="2304"/>
                <a:ext cx="720" cy="720"/>
                <a:chOff x="1776" y="2256"/>
                <a:chExt cx="720" cy="720"/>
              </a:xfrm>
            </p:grpSpPr>
            <p:grpSp>
              <p:nvGrpSpPr>
                <p:cNvPr id="22" name="Group 32"/>
                <p:cNvGrpSpPr/>
                <p:nvPr/>
              </p:nvGrpSpPr>
              <p:grpSpPr bwMode="auto">
                <a:xfrm>
                  <a:off x="1776" y="2256"/>
                  <a:ext cx="720" cy="432"/>
                  <a:chOff x="1776" y="2256"/>
                  <a:chExt cx="720" cy="432"/>
                </a:xfrm>
              </p:grpSpPr>
              <p:sp>
                <p:nvSpPr>
                  <p:cNvPr id="12323" name="Line 3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776" y="2256"/>
                    <a:ext cx="192" cy="14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2324" name="Line 34"/>
                  <p:cNvSpPr>
                    <a:spLocks noChangeShapeType="1"/>
                  </p:cNvSpPr>
                  <p:nvPr/>
                </p:nvSpPr>
                <p:spPr bwMode="auto">
                  <a:xfrm>
                    <a:off x="2016" y="2256"/>
                    <a:ext cx="192" cy="14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23" name="Group 35"/>
                  <p:cNvGrpSpPr/>
                  <p:nvPr/>
                </p:nvGrpSpPr>
                <p:grpSpPr bwMode="auto">
                  <a:xfrm>
                    <a:off x="1920" y="2544"/>
                    <a:ext cx="576" cy="144"/>
                    <a:chOff x="1920" y="2544"/>
                    <a:chExt cx="576" cy="144"/>
                  </a:xfrm>
                </p:grpSpPr>
                <p:sp>
                  <p:nvSpPr>
                    <p:cNvPr id="12326" name="Line 36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920" y="2544"/>
                      <a:ext cx="192" cy="14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327" name="Line 3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304" y="2544"/>
                      <a:ext cx="192" cy="14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328" name="Line 3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08" y="2544"/>
                      <a:ext cx="0" cy="14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</p:grpSp>
            <p:grpSp>
              <p:nvGrpSpPr>
                <p:cNvPr id="24" name="Group 39"/>
                <p:cNvGrpSpPr/>
                <p:nvPr/>
              </p:nvGrpSpPr>
              <p:grpSpPr bwMode="auto">
                <a:xfrm>
                  <a:off x="1920" y="2832"/>
                  <a:ext cx="576" cy="144"/>
                  <a:chOff x="1920" y="2544"/>
                  <a:chExt cx="576" cy="144"/>
                </a:xfrm>
              </p:grpSpPr>
              <p:sp>
                <p:nvSpPr>
                  <p:cNvPr id="12320" name="Line 4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920" y="2544"/>
                    <a:ext cx="192" cy="14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2321" name="Line 41"/>
                  <p:cNvSpPr>
                    <a:spLocks noChangeShapeType="1"/>
                  </p:cNvSpPr>
                  <p:nvPr/>
                </p:nvSpPr>
                <p:spPr bwMode="auto">
                  <a:xfrm>
                    <a:off x="2304" y="2544"/>
                    <a:ext cx="192" cy="14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2322" name="Line 42"/>
                  <p:cNvSpPr>
                    <a:spLocks noChangeShapeType="1"/>
                  </p:cNvSpPr>
                  <p:nvPr/>
                </p:nvSpPr>
                <p:spPr bwMode="auto">
                  <a:xfrm>
                    <a:off x="2208" y="2544"/>
                    <a:ext cx="0" cy="14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12317" name="Line 43"/>
              <p:cNvSpPr>
                <a:spLocks noChangeShapeType="1"/>
              </p:cNvSpPr>
              <p:nvPr/>
            </p:nvSpPr>
            <p:spPr bwMode="auto">
              <a:xfrm>
                <a:off x="3216" y="316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2306" name="Text Box 71"/>
            <p:cNvSpPr txBox="1">
              <a:spLocks noChangeArrowheads="1"/>
            </p:cNvSpPr>
            <p:nvPr/>
          </p:nvSpPr>
          <p:spPr bwMode="auto">
            <a:xfrm>
              <a:off x="2304" y="2544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2307" name="Text Box 73"/>
            <p:cNvSpPr txBox="1">
              <a:spLocks noChangeArrowheads="1"/>
            </p:cNvSpPr>
            <p:nvPr/>
          </p:nvSpPr>
          <p:spPr bwMode="auto">
            <a:xfrm>
              <a:off x="2496" y="2784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2308" name="Text Box 74"/>
            <p:cNvSpPr txBox="1">
              <a:spLocks noChangeArrowheads="1"/>
            </p:cNvSpPr>
            <p:nvPr/>
          </p:nvSpPr>
          <p:spPr bwMode="auto">
            <a:xfrm>
              <a:off x="2496" y="3072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2309" name="Text Box 75"/>
            <p:cNvSpPr txBox="1">
              <a:spLocks noChangeArrowheads="1"/>
            </p:cNvSpPr>
            <p:nvPr/>
          </p:nvSpPr>
          <p:spPr bwMode="auto">
            <a:xfrm>
              <a:off x="2736" y="3360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2310" name="Text Box 76"/>
            <p:cNvSpPr txBox="1">
              <a:spLocks noChangeArrowheads="1"/>
            </p:cNvSpPr>
            <p:nvPr/>
          </p:nvSpPr>
          <p:spPr bwMode="auto">
            <a:xfrm>
              <a:off x="2208" y="3360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2311" name="Text Box 82"/>
            <p:cNvSpPr txBox="1">
              <a:spLocks noChangeArrowheads="1"/>
            </p:cNvSpPr>
            <p:nvPr/>
          </p:nvSpPr>
          <p:spPr bwMode="auto">
            <a:xfrm>
              <a:off x="2496" y="3360"/>
              <a:ext cx="205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+</a:t>
              </a:r>
            </a:p>
          </p:txBody>
        </p:sp>
        <p:sp>
          <p:nvSpPr>
            <p:cNvPr id="12312" name="Text Box 87"/>
            <p:cNvSpPr txBox="1">
              <a:spLocks noChangeArrowheads="1"/>
            </p:cNvSpPr>
            <p:nvPr/>
          </p:nvSpPr>
          <p:spPr bwMode="auto">
            <a:xfrm>
              <a:off x="2064" y="2736"/>
              <a:ext cx="173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-</a:t>
              </a:r>
            </a:p>
          </p:txBody>
        </p:sp>
        <p:sp>
          <p:nvSpPr>
            <p:cNvPr id="12313" name="Text Box 92"/>
            <p:cNvSpPr txBox="1">
              <a:spLocks noChangeArrowheads="1"/>
            </p:cNvSpPr>
            <p:nvPr/>
          </p:nvSpPr>
          <p:spPr bwMode="auto">
            <a:xfrm>
              <a:off x="2208" y="3072"/>
              <a:ext cx="173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(</a:t>
              </a:r>
            </a:p>
          </p:txBody>
        </p:sp>
        <p:sp>
          <p:nvSpPr>
            <p:cNvPr id="12314" name="Text Box 97"/>
            <p:cNvSpPr txBox="1">
              <a:spLocks noChangeArrowheads="1"/>
            </p:cNvSpPr>
            <p:nvPr/>
          </p:nvSpPr>
          <p:spPr bwMode="auto">
            <a:xfrm>
              <a:off x="2784" y="3072"/>
              <a:ext cx="173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)</a:t>
              </a:r>
            </a:p>
          </p:txBody>
        </p:sp>
        <p:sp>
          <p:nvSpPr>
            <p:cNvPr id="12315" name="Text Box 102"/>
            <p:cNvSpPr txBox="1">
              <a:spLocks noChangeArrowheads="1"/>
            </p:cNvSpPr>
            <p:nvPr/>
          </p:nvSpPr>
          <p:spPr bwMode="auto">
            <a:xfrm>
              <a:off x="2208" y="3648"/>
              <a:ext cx="235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id</a:t>
              </a:r>
            </a:p>
          </p:txBody>
        </p:sp>
      </p:grpSp>
      <p:sp>
        <p:nvSpPr>
          <p:cNvPr id="12300" name="Text Box 105"/>
          <p:cNvSpPr txBox="1">
            <a:spLocks noChangeArrowheads="1"/>
          </p:cNvSpPr>
          <p:nvPr/>
        </p:nvSpPr>
        <p:spPr bwMode="auto">
          <a:xfrm>
            <a:off x="3275012" y="3014662"/>
            <a:ext cx="914400" cy="400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charset="0"/>
                <a:sym typeface="Symbol" panose="05050102010706020507" pitchFamily="18" charset="2"/>
              </a:rPr>
              <a:t> -(E)</a:t>
            </a:r>
          </a:p>
        </p:txBody>
      </p:sp>
      <p:sp>
        <p:nvSpPr>
          <p:cNvPr id="12301" name="Text Box 106"/>
          <p:cNvSpPr txBox="1">
            <a:spLocks noChangeArrowheads="1"/>
          </p:cNvSpPr>
          <p:nvPr/>
        </p:nvSpPr>
        <p:spPr bwMode="auto">
          <a:xfrm>
            <a:off x="5807075" y="3090862"/>
            <a:ext cx="1216025" cy="400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charset="0"/>
                <a:sym typeface="Symbol" panose="05050102010706020507" pitchFamily="18" charset="2"/>
              </a:rPr>
              <a:t> -(E+E)</a:t>
            </a:r>
          </a:p>
        </p:txBody>
      </p:sp>
      <p:sp>
        <p:nvSpPr>
          <p:cNvPr id="12302" name="Text Box 107"/>
          <p:cNvSpPr txBox="1">
            <a:spLocks noChangeArrowheads="1"/>
          </p:cNvSpPr>
          <p:nvPr/>
        </p:nvSpPr>
        <p:spPr bwMode="auto">
          <a:xfrm>
            <a:off x="673100" y="4995862"/>
            <a:ext cx="1257300" cy="400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charset="0"/>
                <a:sym typeface="Symbol" panose="05050102010706020507" pitchFamily="18" charset="2"/>
              </a:rPr>
              <a:t> -(</a:t>
            </a:r>
            <a:r>
              <a:rPr lang="en-US" sz="2000" dirty="0" err="1">
                <a:latin typeface="Times New Roman" panose="02020603050405020304" charset="0"/>
                <a:sym typeface="Symbol" panose="05050102010706020507" pitchFamily="18" charset="2"/>
              </a:rPr>
              <a:t>id+E</a:t>
            </a:r>
            <a:r>
              <a:rPr lang="en-US" sz="2000" dirty="0">
                <a:latin typeface="Times New Roman" panose="02020603050405020304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12303" name="Text Box 108"/>
          <p:cNvSpPr txBox="1">
            <a:spLocks noChangeArrowheads="1"/>
          </p:cNvSpPr>
          <p:nvPr/>
        </p:nvSpPr>
        <p:spPr bwMode="auto">
          <a:xfrm>
            <a:off x="3978275" y="4995862"/>
            <a:ext cx="1298575" cy="400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charset="0"/>
                <a:sym typeface="Symbol" panose="05050102010706020507" pitchFamily="18" charset="2"/>
              </a:rPr>
              <a:t> -(</a:t>
            </a:r>
            <a:r>
              <a:rPr lang="en-US" sz="2000" dirty="0" err="1">
                <a:latin typeface="Times New Roman" panose="02020603050405020304" charset="0"/>
                <a:sym typeface="Symbol" panose="05050102010706020507" pitchFamily="18" charset="2"/>
              </a:rPr>
              <a:t>id+id</a:t>
            </a:r>
            <a:r>
              <a:rPr lang="en-US" sz="2000" dirty="0">
                <a:latin typeface="Times New Roman" panose="02020603050405020304" charset="0"/>
                <a:sym typeface="Symbol" panose="05050102010706020507" pitchFamily="18" charset="2"/>
              </a:rPr>
              <a:t>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Ambiguity</a:t>
            </a:r>
          </a:p>
        </p:txBody>
      </p:sp>
      <p:sp>
        <p:nvSpPr>
          <p:cNvPr id="13322" name="Date Placeholder 50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B0793B1-0EB6-48AE-B232-2D7EB5124A73}" type="datetime1">
              <a:rPr lang="en-US"/>
              <a:t>10/30/2025</a:t>
            </a:fld>
            <a:endParaRPr lang="en-US"/>
          </a:p>
        </p:txBody>
      </p:sp>
      <p:sp>
        <p:nvSpPr>
          <p:cNvPr id="13314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1331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32A35D4-802F-4EFA-9DED-364B42401E03}" type="slidenum">
              <a:rPr lang="en-US"/>
              <a:t>15</a:t>
            </a:fld>
            <a:endParaRPr lang="en-US"/>
          </a:p>
        </p:txBody>
      </p:sp>
      <p:sp>
        <p:nvSpPr>
          <p:cNvPr id="13317" name="Text Box 3"/>
          <p:cNvSpPr txBox="1">
            <a:spLocks noChangeArrowheads="1"/>
          </p:cNvSpPr>
          <p:nvPr/>
        </p:nvSpPr>
        <p:spPr bwMode="auto">
          <a:xfrm>
            <a:off x="331322" y="1424697"/>
            <a:ext cx="8143875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sz="2200" dirty="0">
                <a:latin typeface="Times New Roman" panose="02020603050405020304" charset="0"/>
              </a:rPr>
              <a:t>A grammar produces more than one parse tree for a sentence is </a:t>
            </a:r>
          </a:p>
          <a:p>
            <a:r>
              <a:rPr lang="en-US" sz="2200" dirty="0">
                <a:latin typeface="Times New Roman" panose="02020603050405020304" charset="0"/>
              </a:rPr>
              <a:t>   called as an </a:t>
            </a:r>
            <a:r>
              <a:rPr lang="en-US" sz="2200" b="1" i="1" dirty="0">
                <a:latin typeface="Times New Roman" panose="02020603050405020304" charset="0"/>
              </a:rPr>
              <a:t>ambiguous</a:t>
            </a:r>
            <a:r>
              <a:rPr lang="en-US" sz="2200" dirty="0">
                <a:latin typeface="Times New Roman" panose="02020603050405020304" charset="0"/>
              </a:rPr>
              <a:t> grammar.</a:t>
            </a:r>
          </a:p>
        </p:txBody>
      </p:sp>
      <p:sp>
        <p:nvSpPr>
          <p:cNvPr id="13318" name="Text Box 4"/>
          <p:cNvSpPr txBox="1">
            <a:spLocks noChangeArrowheads="1"/>
          </p:cNvSpPr>
          <p:nvPr/>
        </p:nvSpPr>
        <p:spPr bwMode="auto">
          <a:xfrm>
            <a:off x="1295400" y="2743200"/>
            <a:ext cx="3610284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2200" dirty="0">
                <a:latin typeface="Times New Roman" panose="02020603050405020304" charset="0"/>
              </a:rPr>
              <a:t>E 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 E+E 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id+E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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id+E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*E </a:t>
            </a:r>
          </a:p>
          <a:p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   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id+id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*E 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id+id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*id</a:t>
            </a:r>
          </a:p>
        </p:txBody>
      </p:sp>
      <p:sp>
        <p:nvSpPr>
          <p:cNvPr id="13319" name="Text Box 5"/>
          <p:cNvSpPr txBox="1">
            <a:spLocks noChangeArrowheads="1"/>
          </p:cNvSpPr>
          <p:nvPr/>
        </p:nvSpPr>
        <p:spPr bwMode="auto">
          <a:xfrm>
            <a:off x="1219200" y="4876800"/>
            <a:ext cx="3860352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E  E*E  E+E*E 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id+E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*E </a:t>
            </a:r>
          </a:p>
          <a:p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   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id+id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*E 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id+id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*id</a:t>
            </a:r>
          </a:p>
        </p:txBody>
      </p:sp>
      <p:grpSp>
        <p:nvGrpSpPr>
          <p:cNvPr id="2" name="Group 69"/>
          <p:cNvGrpSpPr/>
          <p:nvPr/>
        </p:nvGrpSpPr>
        <p:grpSpPr bwMode="auto">
          <a:xfrm>
            <a:off x="6172200" y="4267200"/>
            <a:ext cx="1539875" cy="1785938"/>
            <a:chOff x="4128" y="2640"/>
            <a:chExt cx="1051" cy="1125"/>
          </a:xfrm>
        </p:grpSpPr>
        <p:sp>
          <p:nvSpPr>
            <p:cNvPr id="13343" name="Text Box 37"/>
            <p:cNvSpPr txBox="1">
              <a:spLocks noChangeArrowheads="1"/>
            </p:cNvSpPr>
            <p:nvPr/>
          </p:nvSpPr>
          <p:spPr bwMode="auto">
            <a:xfrm>
              <a:off x="4704" y="3264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3344" name="Text Box 38"/>
            <p:cNvSpPr txBox="1">
              <a:spLocks noChangeArrowheads="1"/>
            </p:cNvSpPr>
            <p:nvPr/>
          </p:nvSpPr>
          <p:spPr bwMode="auto">
            <a:xfrm>
              <a:off x="4704" y="3504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id</a:t>
              </a:r>
            </a:p>
          </p:txBody>
        </p:sp>
        <p:sp>
          <p:nvSpPr>
            <p:cNvPr id="13345" name="Line 39"/>
            <p:cNvSpPr>
              <a:spLocks noChangeShapeType="1"/>
            </p:cNvSpPr>
            <p:nvPr/>
          </p:nvSpPr>
          <p:spPr bwMode="auto">
            <a:xfrm>
              <a:off x="4800" y="340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6" name="Line 43"/>
            <p:cNvSpPr>
              <a:spLocks noChangeShapeType="1"/>
            </p:cNvSpPr>
            <p:nvPr/>
          </p:nvSpPr>
          <p:spPr bwMode="auto">
            <a:xfrm>
              <a:off x="4224" y="345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7" name="Text Box 45"/>
            <p:cNvSpPr txBox="1">
              <a:spLocks noChangeArrowheads="1"/>
            </p:cNvSpPr>
            <p:nvPr/>
          </p:nvSpPr>
          <p:spPr bwMode="auto">
            <a:xfrm>
              <a:off x="4128" y="3264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3348" name="Text Box 46"/>
            <p:cNvSpPr txBox="1">
              <a:spLocks noChangeArrowheads="1"/>
            </p:cNvSpPr>
            <p:nvPr/>
          </p:nvSpPr>
          <p:spPr bwMode="auto">
            <a:xfrm>
              <a:off x="4416" y="3264"/>
              <a:ext cx="205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+</a:t>
              </a:r>
            </a:p>
          </p:txBody>
        </p:sp>
        <p:sp>
          <p:nvSpPr>
            <p:cNvPr id="13349" name="Text Box 47"/>
            <p:cNvSpPr txBox="1">
              <a:spLocks noChangeArrowheads="1"/>
            </p:cNvSpPr>
            <p:nvPr/>
          </p:nvSpPr>
          <p:spPr bwMode="auto">
            <a:xfrm>
              <a:off x="4128" y="3552"/>
              <a:ext cx="235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id</a:t>
              </a:r>
            </a:p>
          </p:txBody>
        </p:sp>
        <p:sp>
          <p:nvSpPr>
            <p:cNvPr id="13350" name="Text Box 55"/>
            <p:cNvSpPr txBox="1">
              <a:spLocks noChangeArrowheads="1"/>
            </p:cNvSpPr>
            <p:nvPr/>
          </p:nvSpPr>
          <p:spPr bwMode="auto">
            <a:xfrm>
              <a:off x="4944" y="3264"/>
              <a:ext cx="235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id</a:t>
              </a:r>
            </a:p>
          </p:txBody>
        </p:sp>
        <p:grpSp>
          <p:nvGrpSpPr>
            <p:cNvPr id="3" name="Group 57"/>
            <p:cNvGrpSpPr/>
            <p:nvPr/>
          </p:nvGrpSpPr>
          <p:grpSpPr bwMode="auto">
            <a:xfrm>
              <a:off x="4224" y="2640"/>
              <a:ext cx="931" cy="672"/>
              <a:chOff x="4128" y="2544"/>
              <a:chExt cx="931" cy="672"/>
            </a:xfrm>
          </p:grpSpPr>
          <p:sp>
            <p:nvSpPr>
              <p:cNvPr id="13352" name="Line 58"/>
              <p:cNvSpPr>
                <a:spLocks noChangeShapeType="1"/>
              </p:cNvSpPr>
              <p:nvPr/>
            </p:nvSpPr>
            <p:spPr bwMode="auto">
              <a:xfrm flipH="1">
                <a:off x="4128" y="3072"/>
                <a:ext cx="192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53" name="Line 59"/>
              <p:cNvSpPr>
                <a:spLocks noChangeShapeType="1"/>
              </p:cNvSpPr>
              <p:nvPr/>
            </p:nvSpPr>
            <p:spPr bwMode="auto">
              <a:xfrm>
                <a:off x="4512" y="3072"/>
                <a:ext cx="192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54" name="Line 60"/>
              <p:cNvSpPr>
                <a:spLocks noChangeShapeType="1"/>
              </p:cNvSpPr>
              <p:nvPr/>
            </p:nvSpPr>
            <p:spPr bwMode="auto">
              <a:xfrm>
                <a:off x="4416" y="3072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55" name="Text Box 61"/>
              <p:cNvSpPr txBox="1">
                <a:spLocks noChangeArrowheads="1"/>
              </p:cNvSpPr>
              <p:nvPr/>
            </p:nvSpPr>
            <p:spPr bwMode="auto">
              <a:xfrm>
                <a:off x="4320" y="2880"/>
                <a:ext cx="211" cy="21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 dirty="0">
                    <a:latin typeface="Times New Roman" panose="02020603050405020304" charset="0"/>
                  </a:rPr>
                  <a:t>E</a:t>
                </a:r>
              </a:p>
            </p:txBody>
          </p:sp>
          <p:sp>
            <p:nvSpPr>
              <p:cNvPr id="13356" name="Line 62"/>
              <p:cNvSpPr>
                <a:spLocks noChangeShapeType="1"/>
              </p:cNvSpPr>
              <p:nvPr/>
            </p:nvSpPr>
            <p:spPr bwMode="auto">
              <a:xfrm>
                <a:off x="4704" y="2736"/>
                <a:ext cx="192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57" name="Text Box 63"/>
              <p:cNvSpPr txBox="1">
                <a:spLocks noChangeArrowheads="1"/>
              </p:cNvSpPr>
              <p:nvPr/>
            </p:nvSpPr>
            <p:spPr bwMode="auto">
              <a:xfrm>
                <a:off x="4560" y="2544"/>
                <a:ext cx="211" cy="21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>
                    <a:latin typeface="Times New Roman" panose="02020603050405020304" charset="0"/>
                  </a:rPr>
                  <a:t>E</a:t>
                </a:r>
              </a:p>
            </p:txBody>
          </p:sp>
          <p:sp>
            <p:nvSpPr>
              <p:cNvPr id="13358" name="Line 64"/>
              <p:cNvSpPr>
                <a:spLocks noChangeShapeType="1"/>
              </p:cNvSpPr>
              <p:nvPr/>
            </p:nvSpPr>
            <p:spPr bwMode="auto">
              <a:xfrm flipH="1">
                <a:off x="4416" y="2736"/>
                <a:ext cx="192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59" name="Line 65"/>
              <p:cNvSpPr>
                <a:spLocks noChangeShapeType="1"/>
              </p:cNvSpPr>
              <p:nvPr/>
            </p:nvSpPr>
            <p:spPr bwMode="auto">
              <a:xfrm>
                <a:off x="4656" y="2736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60" name="Text Box 66"/>
              <p:cNvSpPr txBox="1">
                <a:spLocks noChangeArrowheads="1"/>
              </p:cNvSpPr>
              <p:nvPr/>
            </p:nvSpPr>
            <p:spPr bwMode="auto">
              <a:xfrm>
                <a:off x="4560" y="2832"/>
                <a:ext cx="196" cy="21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>
                    <a:latin typeface="Times New Roman" panose="02020603050405020304" charset="0"/>
                  </a:rPr>
                  <a:t>*</a:t>
                </a:r>
              </a:p>
            </p:txBody>
          </p:sp>
          <p:sp>
            <p:nvSpPr>
              <p:cNvPr id="13361" name="Text Box 67"/>
              <p:cNvSpPr txBox="1">
                <a:spLocks noChangeArrowheads="1"/>
              </p:cNvSpPr>
              <p:nvPr/>
            </p:nvSpPr>
            <p:spPr bwMode="auto">
              <a:xfrm>
                <a:off x="4848" y="2880"/>
                <a:ext cx="211" cy="21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>
                    <a:latin typeface="Times New Roman" panose="02020603050405020304" charset="0"/>
                  </a:rPr>
                  <a:t>E</a:t>
                </a:r>
              </a:p>
            </p:txBody>
          </p:sp>
          <p:sp>
            <p:nvSpPr>
              <p:cNvPr id="13362" name="Line 68"/>
              <p:cNvSpPr>
                <a:spLocks noChangeShapeType="1"/>
              </p:cNvSpPr>
              <p:nvPr/>
            </p:nvSpPr>
            <p:spPr bwMode="auto">
              <a:xfrm>
                <a:off x="4944" y="3072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4" name="Group 72"/>
          <p:cNvGrpSpPr/>
          <p:nvPr/>
        </p:nvGrpSpPr>
        <p:grpSpPr bwMode="auto">
          <a:xfrm>
            <a:off x="6237288" y="2057400"/>
            <a:ext cx="1611312" cy="1785938"/>
            <a:chOff x="3552" y="1104"/>
            <a:chExt cx="1099" cy="1125"/>
          </a:xfrm>
        </p:grpSpPr>
        <p:sp>
          <p:nvSpPr>
            <p:cNvPr id="13323" name="Text Box 9"/>
            <p:cNvSpPr txBox="1">
              <a:spLocks noChangeArrowheads="1"/>
            </p:cNvSpPr>
            <p:nvPr/>
          </p:nvSpPr>
          <p:spPr bwMode="auto">
            <a:xfrm>
              <a:off x="4128" y="1680"/>
              <a:ext cx="126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endParaRPr lang="en-US" sz="1600">
                <a:latin typeface="Times New Roman" panose="02020603050405020304" charset="0"/>
              </a:endParaRPr>
            </a:p>
          </p:txBody>
        </p:sp>
        <p:sp>
          <p:nvSpPr>
            <p:cNvPr id="13324" name="Line 23"/>
            <p:cNvSpPr>
              <a:spLocks noChangeShapeType="1"/>
            </p:cNvSpPr>
            <p:nvPr/>
          </p:nvSpPr>
          <p:spPr bwMode="auto">
            <a:xfrm flipH="1">
              <a:off x="3648" y="1296"/>
              <a:ext cx="19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25" name="Line 24"/>
            <p:cNvSpPr>
              <a:spLocks noChangeShapeType="1"/>
            </p:cNvSpPr>
            <p:nvPr/>
          </p:nvSpPr>
          <p:spPr bwMode="auto">
            <a:xfrm>
              <a:off x="4032" y="1296"/>
              <a:ext cx="19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26" name="Line 25"/>
            <p:cNvSpPr>
              <a:spLocks noChangeShapeType="1"/>
            </p:cNvSpPr>
            <p:nvPr/>
          </p:nvSpPr>
          <p:spPr bwMode="auto">
            <a:xfrm>
              <a:off x="3936" y="129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27" name="Line 26"/>
            <p:cNvSpPr>
              <a:spLocks noChangeShapeType="1"/>
            </p:cNvSpPr>
            <p:nvPr/>
          </p:nvSpPr>
          <p:spPr bwMode="auto">
            <a:xfrm>
              <a:off x="3648" y="158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28" name="Text Box 28"/>
            <p:cNvSpPr txBox="1">
              <a:spLocks noChangeArrowheads="1"/>
            </p:cNvSpPr>
            <p:nvPr/>
          </p:nvSpPr>
          <p:spPr bwMode="auto">
            <a:xfrm>
              <a:off x="3840" y="1104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3329" name="Text Box 29"/>
            <p:cNvSpPr txBox="1">
              <a:spLocks noChangeArrowheads="1"/>
            </p:cNvSpPr>
            <p:nvPr/>
          </p:nvSpPr>
          <p:spPr bwMode="auto">
            <a:xfrm>
              <a:off x="3552" y="1392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3330" name="Text Box 30"/>
            <p:cNvSpPr txBox="1">
              <a:spLocks noChangeArrowheads="1"/>
            </p:cNvSpPr>
            <p:nvPr/>
          </p:nvSpPr>
          <p:spPr bwMode="auto">
            <a:xfrm>
              <a:off x="3840" y="1392"/>
              <a:ext cx="205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Times New Roman" panose="02020603050405020304" charset="0"/>
                </a:rPr>
                <a:t>+</a:t>
              </a:r>
            </a:p>
          </p:txBody>
        </p:sp>
        <p:sp>
          <p:nvSpPr>
            <p:cNvPr id="13331" name="Text Box 34"/>
            <p:cNvSpPr txBox="1">
              <a:spLocks noChangeArrowheads="1"/>
            </p:cNvSpPr>
            <p:nvPr/>
          </p:nvSpPr>
          <p:spPr bwMode="auto">
            <a:xfrm>
              <a:off x="3552" y="1680"/>
              <a:ext cx="235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id</a:t>
              </a:r>
            </a:p>
          </p:txBody>
        </p:sp>
        <p:sp>
          <p:nvSpPr>
            <p:cNvPr id="13332" name="Line 42"/>
            <p:cNvSpPr>
              <a:spLocks noChangeShapeType="1"/>
            </p:cNvSpPr>
            <p:nvPr/>
          </p:nvSpPr>
          <p:spPr bwMode="auto">
            <a:xfrm>
              <a:off x="3984" y="192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33" name="Text Box 44"/>
            <p:cNvSpPr txBox="1">
              <a:spLocks noChangeArrowheads="1"/>
            </p:cNvSpPr>
            <p:nvPr/>
          </p:nvSpPr>
          <p:spPr bwMode="auto">
            <a:xfrm>
              <a:off x="3888" y="1728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3334" name="Line 48"/>
            <p:cNvSpPr>
              <a:spLocks noChangeShapeType="1"/>
            </p:cNvSpPr>
            <p:nvPr/>
          </p:nvSpPr>
          <p:spPr bwMode="auto">
            <a:xfrm>
              <a:off x="4272" y="1584"/>
              <a:ext cx="19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35" name="Text Box 49"/>
            <p:cNvSpPr txBox="1">
              <a:spLocks noChangeArrowheads="1"/>
            </p:cNvSpPr>
            <p:nvPr/>
          </p:nvSpPr>
          <p:spPr bwMode="auto">
            <a:xfrm>
              <a:off x="4128" y="1392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3336" name="Line 50"/>
            <p:cNvSpPr>
              <a:spLocks noChangeShapeType="1"/>
            </p:cNvSpPr>
            <p:nvPr/>
          </p:nvSpPr>
          <p:spPr bwMode="auto">
            <a:xfrm flipH="1">
              <a:off x="3984" y="1584"/>
              <a:ext cx="19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37" name="Line 51"/>
            <p:cNvSpPr>
              <a:spLocks noChangeShapeType="1"/>
            </p:cNvSpPr>
            <p:nvPr/>
          </p:nvSpPr>
          <p:spPr bwMode="auto">
            <a:xfrm>
              <a:off x="4224" y="158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38" name="Text Box 52"/>
            <p:cNvSpPr txBox="1">
              <a:spLocks noChangeArrowheads="1"/>
            </p:cNvSpPr>
            <p:nvPr/>
          </p:nvSpPr>
          <p:spPr bwMode="auto">
            <a:xfrm>
              <a:off x="4128" y="1680"/>
              <a:ext cx="196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*</a:t>
              </a:r>
            </a:p>
          </p:txBody>
        </p:sp>
        <p:sp>
          <p:nvSpPr>
            <p:cNvPr id="13339" name="Text Box 53"/>
            <p:cNvSpPr txBox="1">
              <a:spLocks noChangeArrowheads="1"/>
            </p:cNvSpPr>
            <p:nvPr/>
          </p:nvSpPr>
          <p:spPr bwMode="auto">
            <a:xfrm>
              <a:off x="4416" y="1728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3340" name="Line 54"/>
            <p:cNvSpPr>
              <a:spLocks noChangeShapeType="1"/>
            </p:cNvSpPr>
            <p:nvPr/>
          </p:nvSpPr>
          <p:spPr bwMode="auto">
            <a:xfrm>
              <a:off x="4512" y="192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1" name="Text Box 70"/>
            <p:cNvSpPr txBox="1">
              <a:spLocks noChangeArrowheads="1"/>
            </p:cNvSpPr>
            <p:nvPr/>
          </p:nvSpPr>
          <p:spPr bwMode="auto">
            <a:xfrm>
              <a:off x="3888" y="2016"/>
              <a:ext cx="235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id</a:t>
              </a:r>
            </a:p>
          </p:txBody>
        </p:sp>
        <p:sp>
          <p:nvSpPr>
            <p:cNvPr id="13342" name="Text Box 71"/>
            <p:cNvSpPr txBox="1">
              <a:spLocks noChangeArrowheads="1"/>
            </p:cNvSpPr>
            <p:nvPr/>
          </p:nvSpPr>
          <p:spPr bwMode="auto">
            <a:xfrm>
              <a:off x="4416" y="2016"/>
              <a:ext cx="235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id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Ambiguity (cont.)</a:t>
            </a:r>
          </a:p>
        </p:txBody>
      </p:sp>
      <p:sp>
        <p:nvSpPr>
          <p:cNvPr id="14342" name="Date Placeholder 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EA2C65FB-FAAC-470F-96AC-6FE56343A40C}" type="datetime1">
              <a:rPr lang="en-US"/>
              <a:t>10/30/2025</a:t>
            </a:fld>
            <a:endParaRPr lang="en-US"/>
          </a:p>
        </p:txBody>
      </p:sp>
      <p:sp>
        <p:nvSpPr>
          <p:cNvPr id="14338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1433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A4F65DF-D22C-46C8-94A2-78D5FE069784}" type="slidenum">
              <a:rPr lang="en-US"/>
              <a:t>16</a:t>
            </a:fld>
            <a:endParaRPr lang="en-US"/>
          </a:p>
        </p:txBody>
      </p:sp>
      <p:sp>
        <p:nvSpPr>
          <p:cNvPr id="1434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For the most parsers, the grammar must be unambiguous.</a:t>
            </a:r>
          </a:p>
          <a:p>
            <a:endParaRPr lang="en-US" sz="2400" dirty="0"/>
          </a:p>
          <a:p>
            <a:r>
              <a:rPr lang="en-US" sz="2400" dirty="0"/>
              <a:t>unambiguous grammar  posses the </a:t>
            </a:r>
            <a:r>
              <a:rPr lang="en-US" sz="2400" dirty="0">
                <a:sym typeface="Wingdings" panose="05000000000000000000" pitchFamily="2" charset="2"/>
              </a:rPr>
              <a:t> unique selection of the parse tree for a sentence</a:t>
            </a:r>
          </a:p>
          <a:p>
            <a:r>
              <a:rPr lang="en-US" sz="2400" dirty="0"/>
              <a:t>We should eliminate the ambiguity in the grammar during the design phase of the compiler.</a:t>
            </a:r>
          </a:p>
          <a:p>
            <a:r>
              <a:rPr lang="en-US" sz="2400" dirty="0"/>
              <a:t>We have to prefer one of the parse trees of a sentence (generated by an ambiguous grammar) to disambiguate that grammar to restrict to this choice.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D3748E-25A3-6868-AC1D-57917DB8D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832E6-B55A-4E24-AC1A-FA114B576BC7}" type="datetime1">
              <a:rPr lang="en-US"/>
              <a:t>10/30/2025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AE64DE-DC38-1456-4DB7-5ED707296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2F2D23-A137-B5A3-588F-62254B890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C19BE-7371-47B2-943B-F4A7FF6ACF5A}" type="slidenum">
              <a:rPr lang="en-US"/>
              <a:t>17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D965CD-E225-D36C-CD1D-5D7AC4C32D17}"/>
              </a:ext>
            </a:extLst>
          </p:cNvPr>
          <p:cNvSpPr txBox="1"/>
          <p:nvPr/>
        </p:nvSpPr>
        <p:spPr>
          <a:xfrm>
            <a:off x="723900" y="1422332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if (x &gt; 0)</a:t>
            </a:r>
          </a:p>
          <a:p>
            <a:r>
              <a:rPr lang="en-US" dirty="0"/>
              <a:t>    if (y &gt; 0)</a:t>
            </a:r>
          </a:p>
          <a:p>
            <a:r>
              <a:rPr lang="en-US" dirty="0"/>
              <a:t>        print("A");</a:t>
            </a:r>
          </a:p>
          <a:p>
            <a:r>
              <a:rPr lang="en-US" dirty="0"/>
              <a:t>    else</a:t>
            </a:r>
          </a:p>
          <a:p>
            <a:r>
              <a:rPr lang="en-US" dirty="0"/>
              <a:t>        print("B");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642A2D-F3BF-7AE4-1BA0-2311B8C391FC}"/>
              </a:ext>
            </a:extLst>
          </p:cNvPr>
          <p:cNvSpPr txBox="1"/>
          <p:nvPr/>
        </p:nvSpPr>
        <p:spPr>
          <a:xfrm>
            <a:off x="457200" y="3124200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which </a:t>
            </a:r>
            <a:r>
              <a:rPr lang="en-US" b="1" dirty="0">
                <a:latin typeface="Courier New" panose="02070309020205020404" pitchFamily="49" charset="0"/>
              </a:rPr>
              <a:t>if</a:t>
            </a:r>
            <a:r>
              <a:rPr lang="en-US" b="1" dirty="0"/>
              <a:t> does that </a:t>
            </a:r>
            <a:r>
              <a:rPr lang="en-US" b="1" dirty="0">
                <a:latin typeface="Courier New" panose="02070309020205020404" pitchFamily="49" charset="0"/>
              </a:rPr>
              <a:t>else</a:t>
            </a:r>
            <a:r>
              <a:rPr lang="en-US" b="1" dirty="0"/>
              <a:t> belong to?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Does it belong to the </a:t>
            </a:r>
            <a:r>
              <a:rPr lang="en-US" b="1" dirty="0"/>
              <a:t>first if</a:t>
            </a:r>
            <a:r>
              <a:rPr lang="en-US" dirty="0"/>
              <a:t>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Or the </a:t>
            </a:r>
            <a:r>
              <a:rPr lang="en-US" b="1" dirty="0"/>
              <a:t>second if</a:t>
            </a:r>
            <a:r>
              <a:rPr lang="en-US" dirty="0"/>
              <a:t>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1ABB96-CEB2-0698-CA9B-EBB0CA1A1383}"/>
              </a:ext>
            </a:extLst>
          </p:cNvPr>
          <p:cNvSpPr txBox="1"/>
          <p:nvPr/>
        </p:nvSpPr>
        <p:spPr>
          <a:xfrm>
            <a:off x="3009900" y="4496610"/>
            <a:ext cx="403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is called the </a:t>
            </a:r>
            <a:r>
              <a:rPr lang="en-US" b="1" dirty="0"/>
              <a:t>dangling else problem.</a:t>
            </a:r>
            <a:endParaRPr lang="en-US" dirty="0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8D79D57-47FE-8518-5D49-A5AF92B30551}"/>
              </a:ext>
            </a:extLst>
          </p:cNvPr>
          <p:cNvSpPr txBox="1">
            <a:spLocks noChangeArrowheads="1"/>
          </p:cNvSpPr>
          <p:nvPr/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/>
          <a:lstStyle>
            <a:lvl1pPr algn="ctr" rtl="0" eaLnBrk="1" latinLnBrk="0" hangingPunct="1">
              <a:spcBef>
                <a:spcPct val="0"/>
              </a:spcBef>
              <a:buNone/>
              <a:defRPr kumimoji="0" sz="3300" kern="1200">
                <a:solidFill>
                  <a:schemeClr val="accent3">
                    <a:shade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tx1"/>
                </a:solidFill>
              </a:rPr>
              <a:t>Ambiguity (cont.)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32117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Ambiguity (cont.)</a:t>
            </a:r>
          </a:p>
        </p:txBody>
      </p:sp>
      <p:sp>
        <p:nvSpPr>
          <p:cNvPr id="15400" name="Date Placeholder 40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A2B025F-05EA-4C72-94E2-71D07EF9BE56}" type="datetime1">
              <a:rPr lang="en-US"/>
              <a:t>10/30/2025</a:t>
            </a:fld>
            <a:endParaRPr lang="en-US"/>
          </a:p>
        </p:txBody>
      </p:sp>
      <p:sp>
        <p:nvSpPr>
          <p:cNvPr id="15362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1536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F2C5969-EBDB-4ED1-83CE-80537B9FE8C7}" type="slidenum">
              <a:rPr lang="en-US"/>
              <a:t>18</a:t>
            </a:fld>
            <a:endParaRPr lang="en-US"/>
          </a:p>
        </p:txBody>
      </p:sp>
      <p:sp>
        <p:nvSpPr>
          <p:cNvPr id="15365" name="Text Box 3"/>
          <p:cNvSpPr txBox="1">
            <a:spLocks noChangeArrowheads="1"/>
          </p:cNvSpPr>
          <p:nvPr/>
        </p:nvSpPr>
        <p:spPr bwMode="auto">
          <a:xfrm>
            <a:off x="619125" y="1371600"/>
            <a:ext cx="6159500" cy="7080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charset="0"/>
              </a:rPr>
              <a:t>stmt </a:t>
            </a:r>
            <a:r>
              <a:rPr lang="en-US" sz="2000" dirty="0">
                <a:latin typeface="Times New Roman" panose="02020603050405020304" charset="0"/>
                <a:sym typeface="Symbol" panose="05050102010706020507" pitchFamily="18" charset="2"/>
              </a:rPr>
              <a:t>  </a:t>
            </a:r>
            <a:r>
              <a:rPr lang="en-US" sz="2000" dirty="0">
                <a:latin typeface="Courier New" panose="02070309020205020404" pitchFamily="49" charset="0"/>
                <a:sym typeface="Symbol" panose="05050102010706020507" pitchFamily="18" charset="2"/>
              </a:rPr>
              <a:t>if</a:t>
            </a:r>
            <a:r>
              <a:rPr lang="en-US" sz="2000" dirty="0">
                <a:latin typeface="Times New Roman" panose="02020603050405020304" charset="0"/>
                <a:sym typeface="Symbol" panose="05050102010706020507" pitchFamily="18" charset="2"/>
              </a:rPr>
              <a:t>  </a:t>
            </a:r>
            <a:r>
              <a:rPr lang="en-US" sz="2000" dirty="0" err="1">
                <a:latin typeface="Times New Roman" panose="02020603050405020304" charset="0"/>
                <a:sym typeface="Symbol" panose="05050102010706020507" pitchFamily="18" charset="2"/>
              </a:rPr>
              <a:t>expr</a:t>
            </a:r>
            <a:r>
              <a:rPr lang="en-US" sz="2000" dirty="0">
                <a:latin typeface="Times New Roman" panose="02020603050405020304" charset="0"/>
                <a:sym typeface="Symbol" panose="05050102010706020507" pitchFamily="18" charset="2"/>
              </a:rPr>
              <a:t>  </a:t>
            </a:r>
            <a:r>
              <a:rPr lang="en-US" sz="2000" dirty="0">
                <a:latin typeface="Courier New" panose="02070309020205020404" pitchFamily="49" charset="0"/>
                <a:sym typeface="Symbol" panose="05050102010706020507" pitchFamily="18" charset="2"/>
              </a:rPr>
              <a:t>then</a:t>
            </a:r>
            <a:r>
              <a:rPr lang="en-US" sz="2000" dirty="0">
                <a:latin typeface="Times New Roman" panose="02020603050405020304" charset="0"/>
                <a:sym typeface="Symbol" panose="05050102010706020507" pitchFamily="18" charset="2"/>
              </a:rPr>
              <a:t>  stmt   |</a:t>
            </a:r>
          </a:p>
          <a:p>
            <a:r>
              <a:rPr lang="en-US" sz="2000" dirty="0">
                <a:latin typeface="Times New Roman" panose="02020603050405020304" charset="0"/>
                <a:sym typeface="Symbol" panose="05050102010706020507" pitchFamily="18" charset="2"/>
              </a:rPr>
              <a:t>              </a:t>
            </a:r>
            <a:r>
              <a:rPr lang="en-US" sz="2000" dirty="0">
                <a:latin typeface="Courier New" panose="02070309020205020404" pitchFamily="49" charset="0"/>
                <a:sym typeface="Symbol" panose="05050102010706020507" pitchFamily="18" charset="2"/>
              </a:rPr>
              <a:t>if</a:t>
            </a:r>
            <a:r>
              <a:rPr lang="en-US" sz="2000" dirty="0">
                <a:latin typeface="Times New Roman" panose="02020603050405020304" charset="0"/>
                <a:sym typeface="Symbol" panose="05050102010706020507" pitchFamily="18" charset="2"/>
              </a:rPr>
              <a:t>  </a:t>
            </a:r>
            <a:r>
              <a:rPr lang="en-US" sz="2000" dirty="0" err="1">
                <a:latin typeface="Times New Roman" panose="02020603050405020304" charset="0"/>
                <a:sym typeface="Symbol" panose="05050102010706020507" pitchFamily="18" charset="2"/>
              </a:rPr>
              <a:t>expr</a:t>
            </a:r>
            <a:r>
              <a:rPr lang="en-US" sz="2000" dirty="0">
                <a:latin typeface="Times New Roman" panose="02020603050405020304" charset="0"/>
                <a:sym typeface="Symbol" panose="05050102010706020507" pitchFamily="18" charset="2"/>
              </a:rPr>
              <a:t>  </a:t>
            </a:r>
            <a:r>
              <a:rPr lang="en-US" sz="2000" dirty="0">
                <a:latin typeface="Courier New" panose="02070309020205020404" pitchFamily="49" charset="0"/>
                <a:sym typeface="Symbol" panose="05050102010706020507" pitchFamily="18" charset="2"/>
              </a:rPr>
              <a:t>then</a:t>
            </a:r>
            <a:r>
              <a:rPr lang="en-US" sz="2000" dirty="0">
                <a:latin typeface="Times New Roman" panose="02020603050405020304" charset="0"/>
                <a:sym typeface="Symbol" panose="05050102010706020507" pitchFamily="18" charset="2"/>
              </a:rPr>
              <a:t>  stmt  </a:t>
            </a:r>
            <a:r>
              <a:rPr lang="en-US" sz="2000" dirty="0">
                <a:latin typeface="Courier New" panose="02070309020205020404" pitchFamily="49" charset="0"/>
                <a:sym typeface="Symbol" panose="05050102010706020507" pitchFamily="18" charset="2"/>
              </a:rPr>
              <a:t>else</a:t>
            </a:r>
            <a:r>
              <a:rPr lang="en-US" sz="2000" dirty="0">
                <a:latin typeface="Times New Roman" panose="02020603050405020304" charset="0"/>
                <a:sym typeface="Symbol" panose="05050102010706020507" pitchFamily="18" charset="2"/>
              </a:rPr>
              <a:t>  stmt    |   </a:t>
            </a:r>
            <a:r>
              <a:rPr lang="en-US" sz="2000" dirty="0" err="1">
                <a:latin typeface="Times New Roman" panose="02020603050405020304" charset="0"/>
                <a:sym typeface="Symbol" panose="05050102010706020507" pitchFamily="18" charset="2"/>
              </a:rPr>
              <a:t>otherstmts</a:t>
            </a:r>
            <a:endParaRPr lang="en-US" sz="2000" dirty="0">
              <a:latin typeface="Times New Roman" panose="02020603050405020304" charset="0"/>
              <a:sym typeface="Symbol" panose="05050102010706020507" pitchFamily="18" charset="2"/>
            </a:endParaRPr>
          </a:p>
        </p:txBody>
      </p:sp>
      <p:sp>
        <p:nvSpPr>
          <p:cNvPr id="15366" name="Text Box 4"/>
          <p:cNvSpPr txBox="1">
            <a:spLocks noChangeArrowheads="1"/>
          </p:cNvSpPr>
          <p:nvPr/>
        </p:nvSpPr>
        <p:spPr bwMode="auto">
          <a:xfrm>
            <a:off x="4038600" y="2209800"/>
            <a:ext cx="4791075" cy="400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Courier New" panose="02070309020205020404" pitchFamily="49" charset="0"/>
              </a:rPr>
              <a:t>if</a:t>
            </a:r>
            <a:r>
              <a:rPr lang="en-US" sz="2000" dirty="0">
                <a:latin typeface="Times New Roman" panose="02020603050405020304" charset="0"/>
              </a:rPr>
              <a:t>  E</a:t>
            </a:r>
            <a:r>
              <a:rPr lang="en-US" sz="2000" baseline="-25000" dirty="0">
                <a:latin typeface="Times New Roman" panose="02020603050405020304" charset="0"/>
              </a:rPr>
              <a:t>1</a:t>
            </a:r>
            <a:r>
              <a:rPr lang="en-US" sz="2000" dirty="0">
                <a:latin typeface="Times New Roman" panose="02020603050405020304" charset="0"/>
              </a:rPr>
              <a:t>  </a:t>
            </a:r>
            <a:r>
              <a:rPr lang="en-US" sz="2000" dirty="0">
                <a:latin typeface="Courier New" panose="02070309020205020404" pitchFamily="49" charset="0"/>
              </a:rPr>
              <a:t>then </a:t>
            </a:r>
            <a:r>
              <a:rPr lang="en-US" sz="2000" dirty="0">
                <a:latin typeface="Times New Roman" panose="02020603050405020304" charset="0"/>
              </a:rPr>
              <a:t> </a:t>
            </a:r>
            <a:r>
              <a:rPr lang="en-US" sz="2000" dirty="0">
                <a:latin typeface="Courier New" panose="02070309020205020404" pitchFamily="49" charset="0"/>
              </a:rPr>
              <a:t>if</a:t>
            </a:r>
            <a:r>
              <a:rPr lang="en-US" sz="2000" dirty="0">
                <a:latin typeface="Times New Roman" panose="02020603050405020304" charset="0"/>
              </a:rPr>
              <a:t>  E</a:t>
            </a:r>
            <a:r>
              <a:rPr lang="en-US" sz="2000" baseline="-25000" dirty="0">
                <a:latin typeface="Times New Roman" panose="02020603050405020304" charset="0"/>
              </a:rPr>
              <a:t>2</a:t>
            </a:r>
            <a:r>
              <a:rPr lang="en-US" sz="2000" dirty="0">
                <a:latin typeface="Times New Roman" panose="02020603050405020304" charset="0"/>
              </a:rPr>
              <a:t>  </a:t>
            </a:r>
            <a:r>
              <a:rPr lang="en-US" sz="2000" dirty="0">
                <a:latin typeface="Courier New" panose="02070309020205020404" pitchFamily="49" charset="0"/>
              </a:rPr>
              <a:t>then</a:t>
            </a:r>
            <a:r>
              <a:rPr lang="en-US" sz="2000" dirty="0">
                <a:latin typeface="Times New Roman" panose="02020603050405020304" charset="0"/>
              </a:rPr>
              <a:t>  S</a:t>
            </a:r>
            <a:r>
              <a:rPr lang="en-US" sz="2000" baseline="-25000" dirty="0">
                <a:latin typeface="Times New Roman" panose="02020603050405020304" charset="0"/>
              </a:rPr>
              <a:t>1</a:t>
            </a:r>
            <a:r>
              <a:rPr lang="en-US" sz="2000" dirty="0">
                <a:latin typeface="Times New Roman" panose="02020603050405020304" charset="0"/>
              </a:rPr>
              <a:t>  </a:t>
            </a:r>
            <a:r>
              <a:rPr lang="en-US" sz="2000" dirty="0">
                <a:latin typeface="Courier New" panose="02070309020205020404" pitchFamily="49" charset="0"/>
              </a:rPr>
              <a:t>else </a:t>
            </a:r>
            <a:r>
              <a:rPr lang="en-US" sz="2000" dirty="0">
                <a:latin typeface="Times New Roman" panose="02020603050405020304" charset="0"/>
              </a:rPr>
              <a:t> S</a:t>
            </a:r>
            <a:r>
              <a:rPr lang="en-US" sz="2000" baseline="-25000" dirty="0">
                <a:latin typeface="Times New Roman" panose="02020603050405020304" charset="0"/>
              </a:rPr>
              <a:t>2</a:t>
            </a:r>
            <a:endParaRPr lang="en-US" sz="2000" dirty="0">
              <a:latin typeface="Times New Roman" panose="02020603050405020304" charset="0"/>
            </a:endParaRPr>
          </a:p>
        </p:txBody>
      </p:sp>
      <p:sp>
        <p:nvSpPr>
          <p:cNvPr id="15367" name="Text Box 5"/>
          <p:cNvSpPr txBox="1">
            <a:spLocks noChangeArrowheads="1"/>
          </p:cNvSpPr>
          <p:nvPr/>
        </p:nvSpPr>
        <p:spPr bwMode="auto">
          <a:xfrm>
            <a:off x="574675" y="2057400"/>
            <a:ext cx="4530725" cy="2144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charset="0"/>
              </a:rPr>
              <a:t>	</a:t>
            </a:r>
            <a:r>
              <a:rPr lang="en-US" sz="2000" dirty="0">
                <a:latin typeface="Times New Roman" panose="02020603050405020304" charset="0"/>
              </a:rPr>
              <a:t>stmt</a:t>
            </a:r>
          </a:p>
          <a:p>
            <a:endParaRPr lang="en-US" sz="2000" dirty="0">
              <a:latin typeface="Times New Roman" panose="02020603050405020304" charset="0"/>
            </a:endParaRPr>
          </a:p>
          <a:p>
            <a:r>
              <a:rPr lang="en-US" sz="2000" dirty="0">
                <a:latin typeface="Courier New" panose="02070309020205020404" pitchFamily="49" charset="0"/>
              </a:rPr>
              <a:t>if</a:t>
            </a:r>
            <a:r>
              <a:rPr lang="en-US" sz="2000" dirty="0">
                <a:latin typeface="Times New Roman" panose="02020603050405020304" charset="0"/>
              </a:rPr>
              <a:t>   </a:t>
            </a:r>
            <a:r>
              <a:rPr lang="en-US" sz="2000" dirty="0" err="1">
                <a:latin typeface="Times New Roman" panose="02020603050405020304" charset="0"/>
              </a:rPr>
              <a:t>expr</a:t>
            </a:r>
            <a:r>
              <a:rPr lang="en-US" sz="2000" dirty="0">
                <a:latin typeface="Times New Roman" panose="02020603050405020304" charset="0"/>
              </a:rPr>
              <a:t>  </a:t>
            </a:r>
            <a:r>
              <a:rPr lang="en-US" sz="2000" dirty="0">
                <a:latin typeface="Courier New" panose="02070309020205020404" pitchFamily="49" charset="0"/>
              </a:rPr>
              <a:t>then</a:t>
            </a:r>
            <a:r>
              <a:rPr lang="en-US" sz="2000" dirty="0">
                <a:latin typeface="Times New Roman" panose="02020603050405020304" charset="0"/>
              </a:rPr>
              <a:t>     stmt      </a:t>
            </a:r>
            <a:r>
              <a:rPr lang="en-US" sz="2000" dirty="0">
                <a:latin typeface="Courier New" panose="02070309020205020404" pitchFamily="49" charset="0"/>
              </a:rPr>
              <a:t>else</a:t>
            </a:r>
            <a:r>
              <a:rPr lang="en-US" sz="2000" dirty="0">
                <a:latin typeface="Times New Roman" panose="02020603050405020304" charset="0"/>
              </a:rPr>
              <a:t>       stmt</a:t>
            </a:r>
          </a:p>
          <a:p>
            <a:endParaRPr lang="en-US" sz="2000" dirty="0">
              <a:latin typeface="Times New Roman" panose="02020603050405020304" charset="0"/>
            </a:endParaRPr>
          </a:p>
          <a:p>
            <a:r>
              <a:rPr lang="en-US" sz="2000" dirty="0">
                <a:latin typeface="Times New Roman" panose="02020603050405020304" charset="0"/>
              </a:rPr>
              <a:t>         E</a:t>
            </a:r>
            <a:r>
              <a:rPr lang="en-US" sz="2000" baseline="-25000" dirty="0">
                <a:latin typeface="Times New Roman" panose="02020603050405020304" charset="0"/>
              </a:rPr>
              <a:t>1</a:t>
            </a:r>
            <a:r>
              <a:rPr lang="en-US" sz="2000" dirty="0">
                <a:latin typeface="Times New Roman" panose="02020603050405020304" charset="0"/>
              </a:rPr>
              <a:t>	   </a:t>
            </a:r>
            <a:r>
              <a:rPr lang="en-US" sz="2000" dirty="0">
                <a:latin typeface="Courier New" panose="02070309020205020404" pitchFamily="49" charset="0"/>
              </a:rPr>
              <a:t>if</a:t>
            </a:r>
            <a:r>
              <a:rPr lang="en-US" sz="2000" dirty="0">
                <a:latin typeface="Times New Roman" panose="02020603050405020304" charset="0"/>
              </a:rPr>
              <a:t>  </a:t>
            </a:r>
            <a:r>
              <a:rPr lang="en-US" sz="2000" dirty="0" err="1">
                <a:latin typeface="Times New Roman" panose="02020603050405020304" charset="0"/>
              </a:rPr>
              <a:t>expr</a:t>
            </a:r>
            <a:r>
              <a:rPr lang="en-US" sz="2000" dirty="0">
                <a:latin typeface="Times New Roman" panose="02020603050405020304" charset="0"/>
              </a:rPr>
              <a:t>   </a:t>
            </a:r>
            <a:r>
              <a:rPr lang="en-US" sz="2000" dirty="0">
                <a:latin typeface="Courier New" panose="02070309020205020404" pitchFamily="49" charset="0"/>
              </a:rPr>
              <a:t>then</a:t>
            </a:r>
            <a:r>
              <a:rPr lang="en-US" sz="2000" dirty="0">
                <a:latin typeface="Times New Roman" panose="02020603050405020304" charset="0"/>
              </a:rPr>
              <a:t>    stmt        S</a:t>
            </a:r>
            <a:r>
              <a:rPr lang="en-US" sz="2000" baseline="-25000" dirty="0">
                <a:latin typeface="Times New Roman" panose="02020603050405020304" charset="0"/>
              </a:rPr>
              <a:t>2</a:t>
            </a:r>
          </a:p>
          <a:p>
            <a:endParaRPr lang="en-US" sz="2000" baseline="-25000" dirty="0">
              <a:latin typeface="Times New Roman" panose="02020603050405020304" charset="0"/>
            </a:endParaRPr>
          </a:p>
          <a:p>
            <a:r>
              <a:rPr lang="en-US" sz="2000" dirty="0">
                <a:latin typeface="Times New Roman" panose="02020603050405020304" charset="0"/>
              </a:rPr>
              <a:t> 	            E</a:t>
            </a:r>
            <a:r>
              <a:rPr lang="en-US" sz="2000" baseline="-25000" dirty="0">
                <a:latin typeface="Times New Roman" panose="02020603050405020304" charset="0"/>
              </a:rPr>
              <a:t>2 	           </a:t>
            </a:r>
            <a:r>
              <a:rPr lang="en-US" sz="2000" dirty="0">
                <a:latin typeface="Times New Roman" panose="02020603050405020304" charset="0"/>
              </a:rPr>
              <a:t>S</a:t>
            </a:r>
            <a:r>
              <a:rPr lang="en-US" sz="2000" baseline="-25000" dirty="0">
                <a:latin typeface="Times New Roman" panose="02020603050405020304" charset="0"/>
              </a:rPr>
              <a:t>1</a:t>
            </a:r>
          </a:p>
        </p:txBody>
      </p:sp>
      <p:sp>
        <p:nvSpPr>
          <p:cNvPr id="15369" name="Line 7"/>
          <p:cNvSpPr>
            <a:spLocks noChangeShapeType="1"/>
          </p:cNvSpPr>
          <p:nvPr/>
        </p:nvSpPr>
        <p:spPr bwMode="auto">
          <a:xfrm flipH="1">
            <a:off x="996950" y="2438400"/>
            <a:ext cx="773113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370" name="Line 8"/>
          <p:cNvSpPr>
            <a:spLocks noChangeShapeType="1"/>
          </p:cNvSpPr>
          <p:nvPr/>
        </p:nvSpPr>
        <p:spPr bwMode="auto">
          <a:xfrm flipH="1">
            <a:off x="1489075" y="2438400"/>
            <a:ext cx="280988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371" name="Line 9"/>
          <p:cNvSpPr>
            <a:spLocks noChangeShapeType="1"/>
          </p:cNvSpPr>
          <p:nvPr/>
        </p:nvSpPr>
        <p:spPr bwMode="auto">
          <a:xfrm>
            <a:off x="1770063" y="2438400"/>
            <a:ext cx="352425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372" name="Line 10"/>
          <p:cNvSpPr>
            <a:spLocks noChangeShapeType="1"/>
          </p:cNvSpPr>
          <p:nvPr/>
        </p:nvSpPr>
        <p:spPr bwMode="auto">
          <a:xfrm>
            <a:off x="1770063" y="2438400"/>
            <a:ext cx="1125537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373" name="Line 11"/>
          <p:cNvSpPr>
            <a:spLocks noChangeShapeType="1"/>
          </p:cNvSpPr>
          <p:nvPr/>
        </p:nvSpPr>
        <p:spPr bwMode="auto">
          <a:xfrm>
            <a:off x="1770063" y="2438400"/>
            <a:ext cx="1900237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374" name="Line 12"/>
          <p:cNvSpPr>
            <a:spLocks noChangeShapeType="1"/>
          </p:cNvSpPr>
          <p:nvPr/>
        </p:nvSpPr>
        <p:spPr bwMode="auto">
          <a:xfrm>
            <a:off x="1770063" y="2438400"/>
            <a:ext cx="2743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375" name="Line 13"/>
          <p:cNvSpPr>
            <a:spLocks noChangeShapeType="1"/>
          </p:cNvSpPr>
          <p:nvPr/>
        </p:nvSpPr>
        <p:spPr bwMode="auto">
          <a:xfrm flipH="1">
            <a:off x="1981200" y="3048000"/>
            <a:ext cx="84455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376" name="Line 14"/>
          <p:cNvSpPr>
            <a:spLocks noChangeShapeType="1"/>
          </p:cNvSpPr>
          <p:nvPr/>
        </p:nvSpPr>
        <p:spPr bwMode="auto">
          <a:xfrm flipH="1">
            <a:off x="2473325" y="3048000"/>
            <a:ext cx="352425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377" name="Line 15"/>
          <p:cNvSpPr>
            <a:spLocks noChangeShapeType="1"/>
          </p:cNvSpPr>
          <p:nvPr/>
        </p:nvSpPr>
        <p:spPr bwMode="auto">
          <a:xfrm>
            <a:off x="2825750" y="3048000"/>
            <a:ext cx="280988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378" name="Line 16"/>
          <p:cNvSpPr>
            <a:spLocks noChangeShapeType="1"/>
          </p:cNvSpPr>
          <p:nvPr/>
        </p:nvSpPr>
        <p:spPr bwMode="auto">
          <a:xfrm>
            <a:off x="2825750" y="3048000"/>
            <a:ext cx="98425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389" name="AutoShape 27"/>
          <p:cNvSpPr>
            <a:spLocks noChangeArrowheads="1"/>
          </p:cNvSpPr>
          <p:nvPr/>
        </p:nvSpPr>
        <p:spPr bwMode="auto">
          <a:xfrm>
            <a:off x="1277938" y="3048000"/>
            <a:ext cx="280987" cy="304800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>
              <a:latin typeface="Times New Roman" panose="02020603050405020304" charset="0"/>
            </a:endParaRPr>
          </a:p>
        </p:txBody>
      </p:sp>
      <p:sp>
        <p:nvSpPr>
          <p:cNvPr id="15390" name="AutoShape 28"/>
          <p:cNvSpPr>
            <a:spLocks noChangeArrowheads="1"/>
          </p:cNvSpPr>
          <p:nvPr/>
        </p:nvSpPr>
        <p:spPr bwMode="auto">
          <a:xfrm>
            <a:off x="2232025" y="3505200"/>
            <a:ext cx="282575" cy="304800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>
              <a:latin typeface="Times New Roman" panose="02020603050405020304" charset="0"/>
            </a:endParaRPr>
          </a:p>
        </p:txBody>
      </p:sp>
      <p:sp>
        <p:nvSpPr>
          <p:cNvPr id="15391" name="AutoShape 29"/>
          <p:cNvSpPr>
            <a:spLocks noChangeArrowheads="1"/>
          </p:cNvSpPr>
          <p:nvPr/>
        </p:nvSpPr>
        <p:spPr bwMode="auto">
          <a:xfrm>
            <a:off x="3757612" y="3581400"/>
            <a:ext cx="280988" cy="304800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>
              <a:latin typeface="Times New Roman" panose="02020603050405020304" charset="0"/>
            </a:endParaRPr>
          </a:p>
        </p:txBody>
      </p:sp>
      <p:sp>
        <p:nvSpPr>
          <p:cNvPr id="15392" name="AutoShape 30"/>
          <p:cNvSpPr>
            <a:spLocks noChangeArrowheads="1"/>
          </p:cNvSpPr>
          <p:nvPr/>
        </p:nvSpPr>
        <p:spPr bwMode="auto">
          <a:xfrm>
            <a:off x="4595813" y="2971800"/>
            <a:ext cx="280987" cy="304800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>
              <a:latin typeface="Times New Roman" panose="02020603050405020304" charset="0"/>
            </a:endParaRPr>
          </a:p>
        </p:txBody>
      </p:sp>
      <p:sp>
        <p:nvSpPr>
          <p:cNvPr id="15398" name="Text Box 36"/>
          <p:cNvSpPr txBox="1">
            <a:spLocks noChangeArrowheads="1"/>
          </p:cNvSpPr>
          <p:nvPr/>
        </p:nvSpPr>
        <p:spPr bwMode="auto">
          <a:xfrm>
            <a:off x="1752600" y="4419600"/>
            <a:ext cx="300038" cy="369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anose="02020603050405020304" charset="0"/>
              </a:rPr>
              <a:t>1</a:t>
            </a:r>
          </a:p>
        </p:txBody>
      </p:sp>
      <p:grpSp>
        <p:nvGrpSpPr>
          <p:cNvPr id="2" name="Group 40"/>
          <p:cNvGrpSpPr/>
          <p:nvPr/>
        </p:nvGrpSpPr>
        <p:grpSpPr>
          <a:xfrm>
            <a:off x="4178300" y="3870325"/>
            <a:ext cx="4965700" cy="2759075"/>
            <a:chOff x="4419600" y="3581400"/>
            <a:chExt cx="4965700" cy="2759075"/>
          </a:xfrm>
        </p:grpSpPr>
        <p:sp>
          <p:nvSpPr>
            <p:cNvPr id="15368" name="Text Box 6"/>
            <p:cNvSpPr txBox="1">
              <a:spLocks noChangeArrowheads="1"/>
            </p:cNvSpPr>
            <p:nvPr/>
          </p:nvSpPr>
          <p:spPr bwMode="auto">
            <a:xfrm>
              <a:off x="4419600" y="3581400"/>
              <a:ext cx="4965700" cy="275907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latin typeface="Times New Roman" panose="02020603050405020304" charset="0"/>
                </a:rPr>
                <a:t>	</a:t>
              </a:r>
              <a:r>
                <a:rPr lang="en-US" sz="2000" dirty="0">
                  <a:latin typeface="Times New Roman" panose="02020603050405020304" charset="0"/>
                </a:rPr>
                <a:t>stmt</a:t>
              </a:r>
            </a:p>
            <a:p>
              <a:endParaRPr lang="en-US" sz="2000" dirty="0">
                <a:latin typeface="Times New Roman" panose="02020603050405020304" charset="0"/>
              </a:endParaRPr>
            </a:p>
            <a:p>
              <a:r>
                <a:rPr lang="en-US" sz="2000" dirty="0">
                  <a:latin typeface="Courier New" panose="02070309020205020404" pitchFamily="49" charset="0"/>
                </a:rPr>
                <a:t>if</a:t>
              </a:r>
              <a:r>
                <a:rPr lang="en-US" sz="2000" dirty="0">
                  <a:latin typeface="Times New Roman" panose="02020603050405020304" charset="0"/>
                </a:rPr>
                <a:t>   </a:t>
              </a:r>
              <a:r>
                <a:rPr lang="en-US" sz="2000" dirty="0" err="1">
                  <a:latin typeface="Times New Roman" panose="02020603050405020304" charset="0"/>
                </a:rPr>
                <a:t>expr</a:t>
              </a:r>
              <a:r>
                <a:rPr lang="en-US" sz="2000" dirty="0">
                  <a:latin typeface="Times New Roman" panose="02020603050405020304" charset="0"/>
                </a:rPr>
                <a:t>  </a:t>
              </a:r>
              <a:r>
                <a:rPr lang="en-US" sz="2000" dirty="0">
                  <a:latin typeface="Courier New" panose="02070309020205020404" pitchFamily="49" charset="0"/>
                </a:rPr>
                <a:t>then</a:t>
              </a:r>
              <a:r>
                <a:rPr lang="en-US" sz="2000" dirty="0">
                  <a:latin typeface="Times New Roman" panose="02020603050405020304" charset="0"/>
                </a:rPr>
                <a:t>   stmt</a:t>
              </a:r>
            </a:p>
            <a:p>
              <a:endParaRPr lang="en-US" sz="2000" dirty="0">
                <a:latin typeface="Times New Roman" panose="02020603050405020304" charset="0"/>
              </a:endParaRPr>
            </a:p>
            <a:p>
              <a:r>
                <a:rPr lang="en-US" sz="2000" dirty="0">
                  <a:latin typeface="Times New Roman" panose="02020603050405020304" charset="0"/>
                </a:rPr>
                <a:t>         E</a:t>
              </a:r>
              <a:r>
                <a:rPr lang="en-US" sz="2000" baseline="-25000" dirty="0">
                  <a:latin typeface="Times New Roman" panose="02020603050405020304" charset="0"/>
                </a:rPr>
                <a:t>1</a:t>
              </a:r>
              <a:r>
                <a:rPr lang="en-US" sz="2000" dirty="0">
                  <a:latin typeface="Times New Roman" panose="02020603050405020304" charset="0"/>
                </a:rPr>
                <a:t>     </a:t>
              </a:r>
              <a:r>
                <a:rPr lang="en-US" sz="2000" dirty="0">
                  <a:latin typeface="Courier New" panose="02070309020205020404" pitchFamily="49" charset="0"/>
                </a:rPr>
                <a:t>if</a:t>
              </a:r>
              <a:r>
                <a:rPr lang="en-US" sz="2000" dirty="0">
                  <a:latin typeface="Times New Roman" panose="02020603050405020304" charset="0"/>
                </a:rPr>
                <a:t>  </a:t>
              </a:r>
              <a:r>
                <a:rPr lang="en-US" sz="2000" dirty="0" err="1">
                  <a:latin typeface="Times New Roman" panose="02020603050405020304" charset="0"/>
                </a:rPr>
                <a:t>expr</a:t>
              </a:r>
              <a:r>
                <a:rPr lang="en-US" sz="2000" dirty="0">
                  <a:latin typeface="Times New Roman" panose="02020603050405020304" charset="0"/>
                </a:rPr>
                <a:t>   </a:t>
              </a:r>
              <a:r>
                <a:rPr lang="en-US" sz="2000" dirty="0">
                  <a:latin typeface="Courier New" panose="02070309020205020404" pitchFamily="49" charset="0"/>
                </a:rPr>
                <a:t>then</a:t>
              </a:r>
              <a:r>
                <a:rPr lang="en-US" sz="2000" dirty="0">
                  <a:latin typeface="Times New Roman" panose="02020603050405020304" charset="0"/>
                </a:rPr>
                <a:t>   stmt  </a:t>
              </a:r>
              <a:r>
                <a:rPr lang="en-US" sz="2000" dirty="0">
                  <a:latin typeface="Courier New" panose="02070309020205020404" pitchFamily="49" charset="0"/>
                </a:rPr>
                <a:t>else</a:t>
              </a:r>
              <a:r>
                <a:rPr lang="en-US" sz="2000" dirty="0">
                  <a:latin typeface="Times New Roman" panose="02020603050405020304" charset="0"/>
                </a:rPr>
                <a:t>  stmt</a:t>
              </a:r>
            </a:p>
            <a:p>
              <a:endParaRPr lang="en-US" sz="2000" dirty="0">
                <a:latin typeface="Times New Roman" panose="02020603050405020304" charset="0"/>
              </a:endParaRPr>
            </a:p>
            <a:p>
              <a:r>
                <a:rPr lang="en-US" sz="2000" dirty="0">
                  <a:latin typeface="Times New Roman" panose="02020603050405020304" charset="0"/>
                </a:rPr>
                <a:t>	           E</a:t>
              </a:r>
              <a:r>
                <a:rPr lang="en-US" sz="2000" baseline="-25000" dirty="0">
                  <a:latin typeface="Times New Roman" panose="02020603050405020304" charset="0"/>
                </a:rPr>
                <a:t>2 	          </a:t>
              </a:r>
              <a:r>
                <a:rPr lang="en-US" sz="2000" dirty="0">
                  <a:latin typeface="Times New Roman" panose="02020603050405020304" charset="0"/>
                </a:rPr>
                <a:t>S</a:t>
              </a:r>
              <a:r>
                <a:rPr lang="en-US" sz="2000" baseline="-25000" dirty="0">
                  <a:latin typeface="Times New Roman" panose="02020603050405020304" charset="0"/>
                </a:rPr>
                <a:t>1 	                  </a:t>
              </a:r>
              <a:r>
                <a:rPr lang="en-US" sz="2000" dirty="0">
                  <a:latin typeface="Times New Roman" panose="02020603050405020304" charset="0"/>
                </a:rPr>
                <a:t>S</a:t>
              </a:r>
              <a:r>
                <a:rPr lang="en-US" sz="2000" baseline="-25000" dirty="0">
                  <a:latin typeface="Times New Roman" panose="02020603050405020304" charset="0"/>
                </a:rPr>
                <a:t>2</a:t>
              </a:r>
            </a:p>
            <a:p>
              <a:endParaRPr lang="en-US" sz="2000" baseline="-25000" dirty="0">
                <a:latin typeface="Times New Roman" panose="02020603050405020304" charset="0"/>
              </a:endParaRPr>
            </a:p>
            <a:p>
              <a:endParaRPr lang="en-US" sz="2000" dirty="0">
                <a:latin typeface="Times New Roman" panose="02020603050405020304" charset="0"/>
              </a:endParaRPr>
            </a:p>
          </p:txBody>
        </p:sp>
        <p:sp>
          <p:nvSpPr>
            <p:cNvPr id="15379" name="Line 17"/>
            <p:cNvSpPr>
              <a:spLocks noChangeShapeType="1"/>
            </p:cNvSpPr>
            <p:nvPr/>
          </p:nvSpPr>
          <p:spPr bwMode="auto">
            <a:xfrm flipH="1">
              <a:off x="4852988" y="3962400"/>
              <a:ext cx="7747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80" name="Line 18"/>
            <p:cNvSpPr>
              <a:spLocks noChangeShapeType="1"/>
            </p:cNvSpPr>
            <p:nvPr/>
          </p:nvSpPr>
          <p:spPr bwMode="auto">
            <a:xfrm flipH="1">
              <a:off x="5345113" y="3962400"/>
              <a:ext cx="282575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81" name="Line 19"/>
            <p:cNvSpPr>
              <a:spLocks noChangeShapeType="1"/>
            </p:cNvSpPr>
            <p:nvPr/>
          </p:nvSpPr>
          <p:spPr bwMode="auto">
            <a:xfrm>
              <a:off x="5627688" y="3962400"/>
              <a:ext cx="350837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82" name="Line 20"/>
            <p:cNvSpPr>
              <a:spLocks noChangeShapeType="1"/>
            </p:cNvSpPr>
            <p:nvPr/>
          </p:nvSpPr>
          <p:spPr bwMode="auto">
            <a:xfrm>
              <a:off x="5627688" y="3962400"/>
              <a:ext cx="9144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83" name="Line 21"/>
            <p:cNvSpPr>
              <a:spLocks noChangeShapeType="1"/>
            </p:cNvSpPr>
            <p:nvPr/>
          </p:nvSpPr>
          <p:spPr bwMode="auto">
            <a:xfrm flipH="1">
              <a:off x="5838825" y="4572000"/>
              <a:ext cx="703263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84" name="Line 22"/>
            <p:cNvSpPr>
              <a:spLocks noChangeShapeType="1"/>
            </p:cNvSpPr>
            <p:nvPr/>
          </p:nvSpPr>
          <p:spPr bwMode="auto">
            <a:xfrm flipH="1">
              <a:off x="6330950" y="4572000"/>
              <a:ext cx="211138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85" name="Line 23"/>
            <p:cNvSpPr>
              <a:spLocks noChangeShapeType="1"/>
            </p:cNvSpPr>
            <p:nvPr/>
          </p:nvSpPr>
          <p:spPr bwMode="auto">
            <a:xfrm>
              <a:off x="6542088" y="4572000"/>
              <a:ext cx="420687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86" name="Line 24"/>
            <p:cNvSpPr>
              <a:spLocks noChangeShapeType="1"/>
            </p:cNvSpPr>
            <p:nvPr/>
          </p:nvSpPr>
          <p:spPr bwMode="auto">
            <a:xfrm>
              <a:off x="6542088" y="4572000"/>
              <a:ext cx="10541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87" name="Line 25"/>
            <p:cNvSpPr>
              <a:spLocks noChangeShapeType="1"/>
            </p:cNvSpPr>
            <p:nvPr/>
          </p:nvSpPr>
          <p:spPr bwMode="auto">
            <a:xfrm>
              <a:off x="6542088" y="4572000"/>
              <a:ext cx="1617662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88" name="Line 26"/>
            <p:cNvSpPr>
              <a:spLocks noChangeShapeType="1"/>
            </p:cNvSpPr>
            <p:nvPr/>
          </p:nvSpPr>
          <p:spPr bwMode="auto">
            <a:xfrm>
              <a:off x="6542088" y="4572000"/>
              <a:ext cx="2249487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3" name="AutoShape 31"/>
            <p:cNvSpPr>
              <a:spLocks noChangeArrowheads="1"/>
            </p:cNvSpPr>
            <p:nvPr/>
          </p:nvSpPr>
          <p:spPr bwMode="auto">
            <a:xfrm>
              <a:off x="8875712" y="5105400"/>
              <a:ext cx="280988" cy="304800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en-US">
                <a:latin typeface="Times New Roman" panose="02020603050405020304" charset="0"/>
              </a:endParaRPr>
            </a:p>
          </p:txBody>
        </p:sp>
        <p:sp>
          <p:nvSpPr>
            <p:cNvPr id="15394" name="AutoShape 32"/>
            <p:cNvSpPr>
              <a:spLocks noChangeArrowheads="1"/>
            </p:cNvSpPr>
            <p:nvPr/>
          </p:nvSpPr>
          <p:spPr bwMode="auto">
            <a:xfrm>
              <a:off x="7580313" y="5121275"/>
              <a:ext cx="280987" cy="304800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en-US">
                <a:latin typeface="Times New Roman" panose="02020603050405020304" charset="0"/>
              </a:endParaRPr>
            </a:p>
          </p:txBody>
        </p:sp>
        <p:sp>
          <p:nvSpPr>
            <p:cNvPr id="15395" name="AutoShape 33"/>
            <p:cNvSpPr>
              <a:spLocks noChangeArrowheads="1"/>
            </p:cNvSpPr>
            <p:nvPr/>
          </p:nvSpPr>
          <p:spPr bwMode="auto">
            <a:xfrm>
              <a:off x="6056313" y="5121275"/>
              <a:ext cx="280987" cy="304800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en-US">
                <a:latin typeface="Times New Roman" panose="02020603050405020304" charset="0"/>
              </a:endParaRPr>
            </a:p>
          </p:txBody>
        </p:sp>
        <p:sp>
          <p:nvSpPr>
            <p:cNvPr id="15396" name="AutoShape 34"/>
            <p:cNvSpPr>
              <a:spLocks noChangeArrowheads="1"/>
            </p:cNvSpPr>
            <p:nvPr/>
          </p:nvSpPr>
          <p:spPr bwMode="auto">
            <a:xfrm>
              <a:off x="5041900" y="4511675"/>
              <a:ext cx="282575" cy="304800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en-US">
                <a:latin typeface="Times New Roman" panose="02020603050405020304" charset="0"/>
              </a:endParaRPr>
            </a:p>
          </p:txBody>
        </p:sp>
        <p:sp>
          <p:nvSpPr>
            <p:cNvPr id="15397" name="Line 35"/>
            <p:cNvSpPr>
              <a:spLocks noChangeShapeType="1"/>
            </p:cNvSpPr>
            <p:nvPr/>
          </p:nvSpPr>
          <p:spPr bwMode="auto">
            <a:xfrm>
              <a:off x="4430713" y="3657600"/>
              <a:ext cx="0" cy="2362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9" name="Text Box 37"/>
            <p:cNvSpPr txBox="1">
              <a:spLocks noChangeArrowheads="1"/>
            </p:cNvSpPr>
            <p:nvPr/>
          </p:nvSpPr>
          <p:spPr bwMode="auto">
            <a:xfrm>
              <a:off x="6823075" y="5791200"/>
              <a:ext cx="300038" cy="3698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b="1" dirty="0">
                  <a:latin typeface="Times New Roman" panose="02020603050405020304" charset="0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Ambiguity (cont.)</a:t>
            </a:r>
          </a:p>
        </p:txBody>
      </p:sp>
      <p:sp>
        <p:nvSpPr>
          <p:cNvPr id="16391" name="Date Placeholder 7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53314EC-59AC-40B6-9489-6CD954D12051}" type="datetime1">
              <a:rPr lang="en-US"/>
              <a:t>10/30/2025</a:t>
            </a:fld>
            <a:endParaRPr lang="en-US"/>
          </a:p>
        </p:txBody>
      </p:sp>
      <p:sp>
        <p:nvSpPr>
          <p:cNvPr id="16386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1638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8EDB816E-29F4-4784-826C-6CCE7E67CEE7}" type="slidenum">
              <a:rPr lang="en-US"/>
              <a:t>19</a:t>
            </a:fld>
            <a:endParaRPr lang="en-US"/>
          </a:p>
        </p:txBody>
      </p:sp>
      <p:sp>
        <p:nvSpPr>
          <p:cNvPr id="16389" name="Text Box 3"/>
          <p:cNvSpPr txBox="1">
            <a:spLocks noChangeArrowheads="1"/>
          </p:cNvSpPr>
          <p:nvPr/>
        </p:nvSpPr>
        <p:spPr bwMode="auto">
          <a:xfrm>
            <a:off x="619125" y="1489075"/>
            <a:ext cx="8220075" cy="172354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Char char="•"/>
            </a:pPr>
            <a:r>
              <a:rPr lang="en-US" sz="2200" dirty="0">
                <a:latin typeface="Times New Roman" panose="02020603050405020304" charset="0"/>
              </a:rPr>
              <a:t>  We prefer the second parse tree (else matches with closest if).</a:t>
            </a:r>
          </a:p>
          <a:p>
            <a:pPr>
              <a:buFontTx/>
              <a:buChar char="•"/>
            </a:pPr>
            <a:r>
              <a:rPr lang="en-US" sz="2200" dirty="0">
                <a:latin typeface="Times New Roman" panose="02020603050405020304" charset="0"/>
              </a:rPr>
              <a:t>  So, we have to disambiguate our grammar to reflect this choice.</a:t>
            </a:r>
          </a:p>
          <a:p>
            <a:endParaRPr lang="en-US" sz="2200" dirty="0">
              <a:latin typeface="Times New Roman" panose="02020603050405020304" charset="0"/>
            </a:endParaRPr>
          </a:p>
          <a:p>
            <a:pPr>
              <a:buFontTx/>
              <a:buChar char="•"/>
            </a:pPr>
            <a:r>
              <a:rPr lang="en-US" sz="2200" dirty="0">
                <a:latin typeface="Times New Roman" panose="02020603050405020304" charset="0"/>
              </a:rPr>
              <a:t>  The unambiguous grammar will be:</a:t>
            </a:r>
          </a:p>
          <a:p>
            <a:endParaRPr lang="en-US" dirty="0">
              <a:latin typeface="Times New Roman" panose="02020603050405020304" charset="0"/>
            </a:endParaRPr>
          </a:p>
        </p:txBody>
      </p:sp>
      <p:sp>
        <p:nvSpPr>
          <p:cNvPr id="16390" name="Text Box 4"/>
          <p:cNvSpPr txBox="1">
            <a:spLocks noChangeArrowheads="1"/>
          </p:cNvSpPr>
          <p:nvPr/>
        </p:nvSpPr>
        <p:spPr bwMode="auto">
          <a:xfrm>
            <a:off x="395287" y="3276600"/>
            <a:ext cx="8371202" cy="24622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2200" dirty="0">
                <a:latin typeface="Times New Roman" panose="02020603050405020304" charset="0"/>
              </a:rPr>
              <a:t>stmt 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 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matchedstmt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 | 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unmatchedstmt</a:t>
            </a:r>
            <a:endParaRPr lang="en-US" sz="2200" dirty="0">
              <a:latin typeface="Times New Roman" panose="02020603050405020304" charset="0"/>
              <a:sym typeface="Symbol" panose="05050102010706020507" pitchFamily="18" charset="2"/>
            </a:endParaRPr>
          </a:p>
          <a:p>
            <a:endParaRPr lang="en-US" sz="2200" dirty="0">
              <a:latin typeface="Times New Roman" panose="02020603050405020304" charset="0"/>
              <a:sym typeface="Symbol" panose="05050102010706020507" pitchFamily="18" charset="2"/>
            </a:endParaRPr>
          </a:p>
          <a:p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matchedstmt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  </a:t>
            </a:r>
            <a:r>
              <a:rPr lang="en-US" sz="2200" dirty="0">
                <a:latin typeface="Courier New" panose="02070309020205020404" pitchFamily="49" charset="0"/>
                <a:sym typeface="Symbol" panose="05050102010706020507" pitchFamily="18" charset="2"/>
              </a:rPr>
              <a:t>if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expr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 </a:t>
            </a:r>
            <a:r>
              <a:rPr lang="en-US" sz="2200" dirty="0">
                <a:latin typeface="Courier New" panose="02070309020205020404" pitchFamily="49" charset="0"/>
                <a:sym typeface="Symbol" panose="05050102010706020507" pitchFamily="18" charset="2"/>
              </a:rPr>
              <a:t>then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matchedstmt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 </a:t>
            </a:r>
            <a:r>
              <a:rPr lang="en-US" sz="2200" dirty="0">
                <a:latin typeface="Courier New" panose="02070309020205020404" pitchFamily="49" charset="0"/>
                <a:sym typeface="Symbol" panose="05050102010706020507" pitchFamily="18" charset="2"/>
              </a:rPr>
              <a:t>else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matchedstmt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   </a:t>
            </a:r>
          </a:p>
          <a:p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                            |  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otherstmts</a:t>
            </a:r>
            <a:endParaRPr lang="en-US" sz="2200" dirty="0">
              <a:latin typeface="Times New Roman" panose="02020603050405020304" charset="0"/>
              <a:sym typeface="Symbol" panose="05050102010706020507" pitchFamily="18" charset="2"/>
            </a:endParaRPr>
          </a:p>
          <a:p>
            <a:endParaRPr lang="en-US" sz="2200" dirty="0">
              <a:latin typeface="Times New Roman" panose="02020603050405020304" charset="0"/>
              <a:sym typeface="Symbol" panose="05050102010706020507" pitchFamily="18" charset="2"/>
            </a:endParaRPr>
          </a:p>
          <a:p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unmatchedstmt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 </a:t>
            </a:r>
            <a:r>
              <a:rPr lang="en-US" sz="2200" dirty="0">
                <a:latin typeface="Courier New" panose="02070309020205020404" pitchFamily="49" charset="0"/>
                <a:sym typeface="Symbol" panose="05050102010706020507" pitchFamily="18" charset="2"/>
              </a:rPr>
              <a:t>if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expr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 </a:t>
            </a:r>
            <a:r>
              <a:rPr lang="en-US" sz="2200" dirty="0">
                <a:latin typeface="Courier New" panose="02070309020205020404" pitchFamily="49" charset="0"/>
                <a:sym typeface="Symbol" panose="05050102010706020507" pitchFamily="18" charset="2"/>
              </a:rPr>
              <a:t>then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 stmt    |</a:t>
            </a:r>
          </a:p>
          <a:p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                             </a:t>
            </a:r>
            <a:r>
              <a:rPr lang="en-US" sz="2200" dirty="0">
                <a:latin typeface="Courier New" panose="02070309020205020404" pitchFamily="49" charset="0"/>
                <a:sym typeface="Symbol" panose="05050102010706020507" pitchFamily="18" charset="2"/>
              </a:rPr>
              <a:t>if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expr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 </a:t>
            </a:r>
            <a:r>
              <a:rPr lang="en-US" sz="2200" dirty="0">
                <a:latin typeface="Courier New" panose="02070309020205020404" pitchFamily="49" charset="0"/>
                <a:sym typeface="Symbol" panose="05050102010706020507" pitchFamily="18" charset="2"/>
              </a:rPr>
              <a:t>then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matchedstmt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 </a:t>
            </a:r>
            <a:r>
              <a:rPr lang="en-US" sz="2200" dirty="0">
                <a:latin typeface="Courier New" panose="02070309020205020404" pitchFamily="49" charset="0"/>
                <a:sym typeface="Symbol" panose="05050102010706020507" pitchFamily="18" charset="2"/>
              </a:rPr>
              <a:t>else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unmatchedstmt</a:t>
            </a:r>
            <a:endParaRPr lang="en-US" sz="2200" dirty="0">
              <a:latin typeface="Times New Roman" panose="0202060305040502030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Ambiguity – Operator Precedence</a:t>
            </a:r>
          </a:p>
        </p:txBody>
      </p:sp>
      <p:sp>
        <p:nvSpPr>
          <p:cNvPr id="17415" name="Date Placeholder 7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163ECA1-F094-43B3-8284-D66EF3A7CD06}" type="datetime1">
              <a:rPr lang="en-US"/>
              <a:t>10/30/2025</a:t>
            </a:fld>
            <a:endParaRPr lang="en-US"/>
          </a:p>
        </p:txBody>
      </p:sp>
      <p:sp>
        <p:nvSpPr>
          <p:cNvPr id="17410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1741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286D380-8FCC-41AB-A2D8-75A2714BBB52}" type="slidenum">
              <a:rPr lang="en-US"/>
              <a:t>20</a:t>
            </a:fld>
            <a:endParaRPr lang="en-US"/>
          </a:p>
        </p:txBody>
      </p:sp>
      <p:sp>
        <p:nvSpPr>
          <p:cNvPr id="1741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Ambiguous grammars (because of ambiguous operators) can be disambiguated according to the precedence and associativity rules.</a:t>
            </a:r>
          </a:p>
          <a:p>
            <a:endParaRPr lang="en-US" dirty="0"/>
          </a:p>
          <a:p>
            <a:pPr>
              <a:buFontTx/>
              <a:buNone/>
            </a:pPr>
            <a:r>
              <a:rPr lang="en-US" dirty="0"/>
              <a:t>	E </a:t>
            </a:r>
            <a:r>
              <a:rPr lang="en-US" dirty="0">
                <a:sym typeface="Symbol" panose="05050102010706020507" pitchFamily="18" charset="2"/>
              </a:rPr>
              <a:t> E+E  |  E*E  |  E^E  |  id  |  (E)</a:t>
            </a: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		    </a:t>
            </a:r>
            <a:r>
              <a:rPr lang="en-US" sz="1800" dirty="0">
                <a:sym typeface="Symbol" panose="05050102010706020507" pitchFamily="18" charset="2"/>
              </a:rPr>
              <a:t>disambiguate the grammar </a:t>
            </a:r>
          </a:p>
          <a:p>
            <a:pPr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			precedence:  	^   (right to left)</a:t>
            </a:r>
          </a:p>
          <a:p>
            <a:pPr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					*   (left to right)</a:t>
            </a:r>
          </a:p>
          <a:p>
            <a:pPr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					+   (left to right)</a:t>
            </a: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	E  E+T  |  T</a:t>
            </a: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	T  T*F  |  F</a:t>
            </a: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	F  G^F  |  G</a:t>
            </a: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	G  id  |  (E)</a:t>
            </a:r>
          </a:p>
        </p:txBody>
      </p:sp>
      <p:sp>
        <p:nvSpPr>
          <p:cNvPr id="17414" name="Text Box 4"/>
          <p:cNvSpPr txBox="1">
            <a:spLocks noChangeArrowheads="1"/>
          </p:cNvSpPr>
          <p:nvPr/>
        </p:nvSpPr>
        <p:spPr bwMode="auto">
          <a:xfrm>
            <a:off x="1143000" y="3657600"/>
            <a:ext cx="542925" cy="641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 dirty="0">
                <a:latin typeface="Times New Roman" panose="02020603050405020304" charset="0"/>
                <a:sym typeface="Symbol" panose="05050102010706020507" pitchFamily="18" charset="2"/>
              </a:rPr>
              <a:t></a:t>
            </a:r>
            <a:endParaRPr lang="en-US" sz="3600" dirty="0">
              <a:latin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Ambiguity – Operator Precedence</a:t>
            </a:r>
          </a:p>
        </p:txBody>
      </p:sp>
      <p:sp>
        <p:nvSpPr>
          <p:cNvPr id="17415" name="Date Placeholder 7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163ECA1-F094-43B3-8284-D66EF3A7CD06}" type="datetime1">
              <a:rPr lang="en-US"/>
              <a:t>10/30/2025</a:t>
            </a:fld>
            <a:endParaRPr lang="en-US"/>
          </a:p>
        </p:txBody>
      </p:sp>
      <p:sp>
        <p:nvSpPr>
          <p:cNvPr id="17410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1741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286D380-8FCC-41AB-A2D8-75A2714BBB52}" type="slidenum">
              <a:rPr lang="en-US"/>
              <a:t>21</a:t>
            </a:fld>
            <a:endParaRPr lang="en-US"/>
          </a:p>
        </p:txBody>
      </p:sp>
      <p:sp>
        <p:nvSpPr>
          <p:cNvPr id="1741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Ambiguous grammars (because of ambiguous operators) can be disambiguated according to the precedence and associativity rules.</a:t>
            </a:r>
          </a:p>
          <a:p>
            <a:endParaRPr lang="en-US" dirty="0"/>
          </a:p>
          <a:p>
            <a:pPr>
              <a:buFontTx/>
              <a:buNone/>
            </a:pPr>
            <a:r>
              <a:rPr lang="en-US" dirty="0"/>
              <a:t>	E </a:t>
            </a:r>
            <a:r>
              <a:rPr lang="en-US" dirty="0">
                <a:sym typeface="Symbol" panose="05050102010706020507" pitchFamily="18" charset="2"/>
              </a:rPr>
              <a:t> E+E  |  E*E  |  E^E  |  id  |  (E)</a:t>
            </a: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		    </a:t>
            </a:r>
            <a:r>
              <a:rPr lang="en-US" sz="1800" dirty="0">
                <a:sym typeface="Symbol" panose="05050102010706020507" pitchFamily="18" charset="2"/>
              </a:rPr>
              <a:t>disambiguate the grammar </a:t>
            </a:r>
          </a:p>
          <a:p>
            <a:pPr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			precedence:  	^   (right to left)</a:t>
            </a:r>
          </a:p>
          <a:p>
            <a:pPr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					*   (left to right)</a:t>
            </a:r>
          </a:p>
          <a:p>
            <a:pPr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					+   (left to right)</a:t>
            </a: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	E  E+T  |  T</a:t>
            </a: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	T  T*F  |  F</a:t>
            </a: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	F  G^F  |  G</a:t>
            </a: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	G  id  |  (E)</a:t>
            </a:r>
          </a:p>
        </p:txBody>
      </p:sp>
      <p:sp>
        <p:nvSpPr>
          <p:cNvPr id="17414" name="Text Box 4"/>
          <p:cNvSpPr txBox="1">
            <a:spLocks noChangeArrowheads="1"/>
          </p:cNvSpPr>
          <p:nvPr/>
        </p:nvSpPr>
        <p:spPr bwMode="auto">
          <a:xfrm>
            <a:off x="1143000" y="3657600"/>
            <a:ext cx="542925" cy="641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 dirty="0">
                <a:latin typeface="Times New Roman" panose="02020603050405020304" charset="0"/>
                <a:sym typeface="Symbol" panose="05050102010706020507" pitchFamily="18" charset="2"/>
              </a:rPr>
              <a:t></a:t>
            </a:r>
            <a:endParaRPr lang="en-US" sz="3600" dirty="0">
              <a:latin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sym typeface="+mn-ea"/>
              </a:rPr>
              <a:t>Ambiguity – Associativity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If the same precedence operators are in production, we must examine their associativity.</a:t>
            </a:r>
          </a:p>
          <a:p>
            <a:r>
              <a:rPr lang="en-US"/>
              <a:t>If the associativity is left to right, we must initiate a left recursion in the production. The parse tree will be left-recursive and grow on the left side. </a:t>
            </a:r>
          </a:p>
          <a:p>
            <a:pPr lvl="1"/>
            <a:r>
              <a:rPr lang="en-US"/>
              <a:t>+, -, *, and / are left associative operators.</a:t>
            </a:r>
          </a:p>
          <a:p>
            <a:r>
              <a:rPr lang="en-US"/>
              <a:t>If the associativity is right to left, we must prompt the appropriate recursion in the productions. The parse tree will also be right-recursive, growing on the right side. </a:t>
            </a:r>
          </a:p>
          <a:p>
            <a:pPr lvl="1"/>
            <a:r>
              <a:rPr lang="en-US"/>
              <a:t>^ denotes a right associative operator.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832E6-B55A-4E24-AC1A-FA114B576BC7}" type="datetime1">
              <a:rPr lang="en-US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C19BE-7371-47B2-943B-F4A7FF6ACF5A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sym typeface="+mn-ea"/>
              </a:rPr>
              <a:t>Ambiguity – Associativity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/>
              <a:t>Grammer:</a:t>
            </a:r>
          </a:p>
          <a:p>
            <a:pPr marL="0" indent="0">
              <a:buNone/>
            </a:pPr>
            <a:r>
              <a:rPr lang="en-US"/>
              <a:t>X -&gt; X - X  </a:t>
            </a:r>
          </a:p>
          <a:p>
            <a:pPr marL="0" indent="0">
              <a:buNone/>
            </a:pPr>
            <a:r>
              <a:rPr lang="en-US"/>
              <a:t>X -&gt; var/const 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String: “a-b-c”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832E6-B55A-4E24-AC1A-FA114B576BC7}" type="datetime1">
              <a:rPr lang="en-US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C19BE-7371-47B2-943B-F4A7FF6ACF5A}" type="slidenum">
              <a:rPr lang="en-US"/>
              <a:t>23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3306445"/>
            <a:ext cx="3141345" cy="296037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371600"/>
            <a:ext cx="3138805" cy="30353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sym typeface="+mn-ea"/>
              </a:rPr>
              <a:t>Ambiguity – Associativity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1625" y="1527175"/>
            <a:ext cx="4245610" cy="4572000"/>
          </a:xfrm>
        </p:spPr>
        <p:txBody>
          <a:bodyPr/>
          <a:lstStyle/>
          <a:p>
            <a:r>
              <a:rPr lang="en-US"/>
              <a:t>Grammer:</a:t>
            </a:r>
          </a:p>
          <a:p>
            <a:pPr marL="0" indent="0">
              <a:buNone/>
            </a:pPr>
            <a:r>
              <a:rPr lang="en-US"/>
              <a:t>X -&gt; X - P/P  </a:t>
            </a:r>
          </a:p>
          <a:p>
            <a:pPr marL="0" indent="0">
              <a:buNone/>
            </a:pPr>
            <a:r>
              <a:rPr lang="en-US"/>
              <a:t>P -&gt; var/ const 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String: “a-b-c”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832E6-B55A-4E24-AC1A-FA114B576BC7}" type="datetime1">
              <a:rPr lang="en-US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C19BE-7371-47B2-943B-F4A7FF6ACF5A}" type="slidenum">
              <a:rPr lang="en-US"/>
              <a:t>24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/>
        </p:nvSpPr>
        <p:spPr>
          <a:xfrm>
            <a:off x="4674235" y="1527175"/>
            <a:ext cx="4245610" cy="45720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/>
              <a:buChar char="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/>
              <a:buChar char=""/>
              <a:defRPr kumimoji="0"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75000"/>
              <a:buFont typeface="Wingdings 2" panose="05020102010507070707"/>
              <a:buChar char="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70000"/>
              <a:buFont typeface="Wingdings" panose="05000000000000000000"/>
              <a:buChar char=""/>
              <a:defRPr kumimoji="0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FontTx/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 panose="05020102010507070707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Corrected Grammer:</a:t>
            </a:r>
          </a:p>
          <a:p>
            <a:pPr marL="0" indent="0">
              <a:buNone/>
            </a:pPr>
            <a:r>
              <a:rPr lang="en-US"/>
              <a:t>X -&gt; X - P  </a:t>
            </a:r>
          </a:p>
          <a:p>
            <a:pPr marL="0" indent="457200">
              <a:buNone/>
            </a:pPr>
            <a:r>
              <a:rPr lang="en-US"/>
              <a:t>   X - X - P  </a:t>
            </a:r>
          </a:p>
          <a:p>
            <a:pPr marL="0" indent="457200">
              <a:buNone/>
            </a:pPr>
            <a:r>
              <a:rPr lang="en-US"/>
              <a:t>   P - P - var  </a:t>
            </a:r>
          </a:p>
          <a:p>
            <a:pPr marL="0" indent="0">
              <a:buNone/>
            </a:pPr>
            <a:r>
              <a:rPr lang="en-US"/>
              <a:t>        var - var - var</a:t>
            </a:r>
          </a:p>
          <a:p>
            <a:pPr marL="0" indent="0">
              <a:buNone/>
            </a:pPr>
            <a:r>
              <a:rPr lang="en-US"/>
              <a:t>        a-b-c 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String: “a-b-c”</a:t>
            </a:r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Left Recursion</a:t>
            </a:r>
          </a:p>
        </p:txBody>
      </p:sp>
      <p:sp>
        <p:nvSpPr>
          <p:cNvPr id="18439" name="Date Placeholder 7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E6642B7-F82B-4458-9F1D-16C34E130234}" type="datetime1">
              <a:rPr lang="en-US"/>
              <a:t>10/30/2025</a:t>
            </a:fld>
            <a:endParaRPr lang="en-US"/>
          </a:p>
        </p:txBody>
      </p:sp>
      <p:sp>
        <p:nvSpPr>
          <p:cNvPr id="18434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1843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E15B154-3387-4085-9D6D-F485D2B8ACFE}" type="slidenum">
              <a:rPr lang="en-US"/>
              <a:t>25</a:t>
            </a:fld>
            <a:endParaRPr lang="en-US"/>
          </a:p>
        </p:txBody>
      </p:sp>
      <p:sp>
        <p:nvSpPr>
          <p:cNvPr id="1843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grammar is  </a:t>
            </a:r>
            <a:r>
              <a:rPr lang="en-US" b="1" i="1" dirty="0"/>
              <a:t>left recursive</a:t>
            </a:r>
            <a:r>
              <a:rPr lang="en-US" dirty="0"/>
              <a:t>  if it has a non-terminal A such that there is  a derivation</a:t>
            </a:r>
          </a:p>
          <a:p>
            <a:pPr>
              <a:buFontTx/>
              <a:buNone/>
            </a:pPr>
            <a:r>
              <a:rPr lang="en-US" sz="1000" dirty="0"/>
              <a:t>	</a:t>
            </a:r>
          </a:p>
          <a:p>
            <a:pPr>
              <a:buFontTx/>
              <a:buNone/>
            </a:pPr>
            <a:r>
              <a:rPr lang="en-US" dirty="0"/>
              <a:t>	 A </a:t>
            </a:r>
            <a:r>
              <a:rPr lang="en-US" dirty="0">
                <a:sym typeface="Symbol" panose="05050102010706020507" pitchFamily="18" charset="2"/>
              </a:rPr>
              <a:t> A	for some string  </a:t>
            </a:r>
          </a:p>
          <a:p>
            <a:pPr>
              <a:buFontTx/>
              <a:buNone/>
            </a:pPr>
            <a:endParaRPr lang="en-US" dirty="0">
              <a:sym typeface="Symbol" panose="05050102010706020507" pitchFamily="18" charset="2"/>
            </a:endParaRPr>
          </a:p>
          <a:p>
            <a:r>
              <a:rPr lang="en-US" dirty="0">
                <a:sym typeface="Symbol" panose="05050102010706020507" pitchFamily="18" charset="2"/>
              </a:rPr>
              <a:t>Top-down parsing techniques </a:t>
            </a:r>
            <a:r>
              <a:rPr lang="en-US" b="1" dirty="0">
                <a:sym typeface="Symbol" panose="05050102010706020507" pitchFamily="18" charset="2"/>
              </a:rPr>
              <a:t>cannot</a:t>
            </a:r>
            <a:r>
              <a:rPr lang="en-US" dirty="0">
                <a:sym typeface="Symbol" panose="05050102010706020507" pitchFamily="18" charset="2"/>
              </a:rPr>
              <a:t> handle left-recursive grammars.</a:t>
            </a:r>
          </a:p>
          <a:p>
            <a:r>
              <a:rPr lang="en-US" dirty="0">
                <a:sym typeface="Symbol" panose="05050102010706020507" pitchFamily="18" charset="2"/>
              </a:rPr>
              <a:t>So, we have to convert left-recursive grammar into an equivalent grammar which is not left-recursive.</a:t>
            </a:r>
          </a:p>
          <a:p>
            <a:r>
              <a:rPr lang="en-US" dirty="0">
                <a:sym typeface="Symbol" panose="05050102010706020507" pitchFamily="18" charset="2"/>
              </a:rPr>
              <a:t>The left-recursion may appear in a single step of the derivation (</a:t>
            </a:r>
            <a:r>
              <a:rPr lang="en-US" i="1" dirty="0">
                <a:sym typeface="Symbol" panose="05050102010706020507" pitchFamily="18" charset="2"/>
              </a:rPr>
              <a:t>immediate left-recursion</a:t>
            </a:r>
            <a:r>
              <a:rPr lang="en-US" dirty="0">
                <a:sym typeface="Symbol" panose="05050102010706020507" pitchFamily="18" charset="2"/>
              </a:rPr>
              <a:t>), or may appear in more than one step of the derivation.</a:t>
            </a:r>
          </a:p>
        </p:txBody>
      </p:sp>
      <p:sp>
        <p:nvSpPr>
          <p:cNvPr id="18438" name="Text Box 4"/>
          <p:cNvSpPr txBox="1">
            <a:spLocks noChangeArrowheads="1"/>
          </p:cNvSpPr>
          <p:nvPr/>
        </p:nvSpPr>
        <p:spPr bwMode="auto">
          <a:xfrm>
            <a:off x="990600" y="2362200"/>
            <a:ext cx="261937" cy="30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sz="1400" dirty="0">
                <a:latin typeface="Times New Roman" panose="02020603050405020304" charset="0"/>
              </a:rPr>
              <a:t>+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Eliminate Left-Recursion</a:t>
            </a:r>
          </a:p>
        </p:txBody>
      </p:sp>
      <p:sp>
        <p:nvSpPr>
          <p:cNvPr id="19464" name="Date Placeholder 8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A3E1CD5-B13D-49DE-8F31-3FE8BCD3EB40}" type="datetime1">
              <a:rPr lang="en-US"/>
              <a:t>10/30/2025</a:t>
            </a:fld>
            <a:endParaRPr lang="en-US"/>
          </a:p>
        </p:txBody>
      </p:sp>
      <p:sp>
        <p:nvSpPr>
          <p:cNvPr id="19458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1945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3B2EE0C-D57F-42B6-B160-17A0276C3FF6}" type="slidenum">
              <a:rPr lang="en-US"/>
              <a:t>26</a:t>
            </a:fld>
            <a:endParaRPr lang="en-US"/>
          </a:p>
        </p:txBody>
      </p:sp>
      <p:sp>
        <p:nvSpPr>
          <p:cNvPr id="19461" name="Text Box 3"/>
          <p:cNvSpPr txBox="1">
            <a:spLocks noChangeArrowheads="1"/>
          </p:cNvSpPr>
          <p:nvPr/>
        </p:nvSpPr>
        <p:spPr bwMode="auto">
          <a:xfrm>
            <a:off x="914400" y="2209800"/>
            <a:ext cx="7467600" cy="207441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800" dirty="0">
                <a:latin typeface="Times New Roman" panose="02020603050405020304" charset="0"/>
                <a:sym typeface="Symbol" panose="05050102010706020507" pitchFamily="18" charset="2"/>
              </a:rPr>
              <a:t>A  A  |       	where  does not start with A</a:t>
            </a:r>
          </a:p>
          <a:p>
            <a:pPr>
              <a:spcBef>
                <a:spcPct val="20000"/>
              </a:spcBef>
            </a:pPr>
            <a:r>
              <a:rPr lang="en-US" sz="2800" dirty="0">
                <a:latin typeface="Times New Roman" panose="02020603050405020304" charset="0"/>
                <a:sym typeface="Symbol" panose="05050102010706020507" pitchFamily="18" charset="2"/>
              </a:rPr>
              <a:t>		eliminate immediate left recursion</a:t>
            </a:r>
          </a:p>
          <a:p>
            <a:pPr>
              <a:spcBef>
                <a:spcPct val="20000"/>
              </a:spcBef>
            </a:pPr>
            <a:r>
              <a:rPr lang="en-US" sz="2800" dirty="0">
                <a:latin typeface="Times New Roman" panose="02020603050405020304" charset="0"/>
                <a:sym typeface="Symbol" panose="05050102010706020507" pitchFamily="18" charset="2"/>
              </a:rPr>
              <a:t>A   A</a:t>
            </a:r>
            <a:r>
              <a:rPr lang="en-US" sz="2800" baseline="30000" dirty="0">
                <a:latin typeface="Times New Roman" panose="02020603050405020304" charset="0"/>
                <a:sym typeface="Symbol" panose="05050102010706020507"/>
              </a:rPr>
              <a:t></a:t>
            </a:r>
            <a:endParaRPr lang="en-US" sz="2800" baseline="30000" dirty="0">
              <a:latin typeface="Times New Roman" panose="02020603050405020304" charset="0"/>
              <a:sym typeface="Symbol" panose="05050102010706020507" pitchFamily="18" charset="2"/>
            </a:endParaRPr>
          </a:p>
          <a:p>
            <a:pPr>
              <a:spcBef>
                <a:spcPct val="20000"/>
              </a:spcBef>
            </a:pPr>
            <a:r>
              <a:rPr lang="en-US" sz="2800" dirty="0">
                <a:latin typeface="Times New Roman" panose="02020603050405020304" charset="0"/>
                <a:sym typeface="Symbol" panose="05050102010706020507" pitchFamily="18" charset="2"/>
              </a:rPr>
              <a:t>A</a:t>
            </a:r>
            <a:r>
              <a:rPr lang="en-US" sz="2800" baseline="30000" dirty="0">
                <a:latin typeface="Times New Roman" panose="02020603050405020304" charset="0"/>
                <a:sym typeface="Symbol" panose="05050102010706020507"/>
              </a:rPr>
              <a:t> </a:t>
            </a:r>
            <a:r>
              <a:rPr lang="en-US" sz="2800" dirty="0">
                <a:latin typeface="Times New Roman" panose="02020603050405020304" charset="0"/>
                <a:sym typeface="Symbol" panose="05050102010706020507" pitchFamily="18" charset="2"/>
              </a:rPr>
              <a:t>  A</a:t>
            </a:r>
            <a:r>
              <a:rPr lang="en-US" sz="2800" baseline="30000" dirty="0">
                <a:latin typeface="Times New Roman" panose="02020603050405020304" charset="0"/>
                <a:sym typeface="Symbol" panose="05050102010706020507"/>
              </a:rPr>
              <a:t> </a:t>
            </a:r>
            <a:r>
              <a:rPr lang="en-US" sz="2800" dirty="0">
                <a:latin typeface="Times New Roman" panose="02020603050405020304" charset="0"/>
                <a:sym typeface="Symbol" panose="05050102010706020507" pitchFamily="18" charset="2"/>
              </a:rPr>
              <a:t> |   	an equivalent grammar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Immediate Left-Recursion - Example</a:t>
            </a:r>
          </a:p>
        </p:txBody>
      </p:sp>
      <p:sp>
        <p:nvSpPr>
          <p:cNvPr id="20489" name="Date Placeholder 9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64F5D467-1797-4A78-85E3-F71F77B0F7BE}" type="datetime1">
              <a:rPr lang="en-US"/>
              <a:t>10/30/2025</a:t>
            </a:fld>
            <a:endParaRPr lang="en-US"/>
          </a:p>
        </p:txBody>
      </p:sp>
      <p:sp>
        <p:nvSpPr>
          <p:cNvPr id="20482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2048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03012EF-1294-4D6B-B2DB-EFAAFE0B2569}" type="slidenum">
              <a:rPr lang="en-US"/>
              <a:t>27</a:t>
            </a:fld>
            <a:endParaRPr lang="en-US"/>
          </a:p>
        </p:txBody>
      </p:sp>
      <p:sp>
        <p:nvSpPr>
          <p:cNvPr id="20485" name="Text Box 3"/>
          <p:cNvSpPr txBox="1">
            <a:spLocks noChangeArrowheads="1"/>
          </p:cNvSpPr>
          <p:nvPr/>
        </p:nvSpPr>
        <p:spPr bwMode="auto">
          <a:xfrm>
            <a:off x="1476374" y="1508125"/>
            <a:ext cx="2943225" cy="152041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E  E+T  |  T</a:t>
            </a:r>
          </a:p>
          <a:p>
            <a:pPr>
              <a:spcBef>
                <a:spcPct val="20000"/>
              </a:spcBef>
            </a:pP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T  T*F  |  F</a:t>
            </a:r>
          </a:p>
          <a:p>
            <a:pPr>
              <a:spcBef>
                <a:spcPct val="20000"/>
              </a:spcBef>
            </a:pP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F  id  |  (E)</a:t>
            </a:r>
          </a:p>
          <a:p>
            <a:endParaRPr lang="en-US" dirty="0">
              <a:latin typeface="Times New Roman" panose="02020603050405020304" charset="0"/>
            </a:endParaRPr>
          </a:p>
        </p:txBody>
      </p:sp>
      <p:sp>
        <p:nvSpPr>
          <p:cNvPr id="20486" name="Text Box 4"/>
          <p:cNvSpPr txBox="1">
            <a:spLocks noChangeArrowheads="1"/>
          </p:cNvSpPr>
          <p:nvPr/>
        </p:nvSpPr>
        <p:spPr bwMode="auto">
          <a:xfrm>
            <a:off x="1547813" y="3505200"/>
            <a:ext cx="1730410" cy="239450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E  TE</a:t>
            </a:r>
            <a:r>
              <a:rPr lang="en-US" sz="2400" baseline="30000" dirty="0">
                <a:latin typeface="Times New Roman" panose="02020603050405020304" charset="0"/>
                <a:sym typeface="Symbol" panose="05050102010706020507"/>
              </a:rPr>
              <a:t></a:t>
            </a:r>
            <a:endParaRPr lang="en-US" sz="2200" baseline="-25000" dirty="0">
              <a:latin typeface="Times New Roman" panose="02020603050405020304" charset="0"/>
              <a:sym typeface="Symbol" panose="05050102010706020507" pitchFamily="18" charset="2"/>
            </a:endParaRPr>
          </a:p>
          <a:p>
            <a:pPr>
              <a:spcBef>
                <a:spcPct val="20000"/>
              </a:spcBef>
            </a:pP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E</a:t>
            </a:r>
            <a:r>
              <a:rPr lang="en-US" sz="2000" baseline="30000" dirty="0">
                <a:latin typeface="Times New Roman" panose="02020603050405020304" charset="0"/>
                <a:sym typeface="Symbol" panose="05050102010706020507"/>
              </a:rPr>
              <a:t></a:t>
            </a:r>
            <a:r>
              <a:rPr lang="en-US" sz="2000" baseline="-25000" dirty="0">
                <a:latin typeface="Times New Roman" panose="02020603050405020304" charset="0"/>
                <a:sym typeface="Symbol" panose="05050102010706020507" pitchFamily="18" charset="2"/>
              </a:rPr>
              <a:t> 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 +TE</a:t>
            </a:r>
            <a:r>
              <a:rPr lang="en-US" sz="2000" baseline="30000" dirty="0">
                <a:latin typeface="Times New Roman" panose="02020603050405020304" charset="0"/>
                <a:sym typeface="Symbol" panose="05050102010706020507"/>
              </a:rPr>
              <a:t>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| </a:t>
            </a:r>
          </a:p>
          <a:p>
            <a:pPr>
              <a:spcBef>
                <a:spcPct val="20000"/>
              </a:spcBef>
            </a:pP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T  FT</a:t>
            </a:r>
            <a:r>
              <a:rPr lang="en-US" sz="2000" baseline="30000" dirty="0">
                <a:latin typeface="Times New Roman" panose="02020603050405020304" charset="0"/>
                <a:sym typeface="Symbol" panose="05050102010706020507"/>
              </a:rPr>
              <a:t></a:t>
            </a:r>
            <a:endParaRPr lang="en-US" sz="2200" dirty="0">
              <a:latin typeface="Times New Roman" panose="02020603050405020304" charset="0"/>
              <a:sym typeface="Symbol" panose="05050102010706020507" pitchFamily="18" charset="2"/>
            </a:endParaRPr>
          </a:p>
          <a:p>
            <a:pPr>
              <a:spcBef>
                <a:spcPct val="20000"/>
              </a:spcBef>
            </a:pP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T</a:t>
            </a:r>
            <a:r>
              <a:rPr lang="en-US" sz="2200" baseline="30000" dirty="0">
                <a:latin typeface="Times New Roman" panose="02020603050405020304" charset="0"/>
                <a:sym typeface="Symbol" panose="05050102010706020507" pitchFamily="18" charset="2"/>
              </a:rPr>
              <a:t>’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 *FT</a:t>
            </a:r>
            <a:r>
              <a:rPr lang="en-US" sz="2000" baseline="30000" dirty="0">
                <a:latin typeface="Times New Roman" panose="02020603050405020304" charset="0"/>
                <a:sym typeface="Symbol" panose="05050102010706020507"/>
              </a:rPr>
              <a:t>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 | </a:t>
            </a:r>
          </a:p>
          <a:p>
            <a:pPr>
              <a:spcBef>
                <a:spcPct val="20000"/>
              </a:spcBef>
            </a:pP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F  id | (E)</a:t>
            </a:r>
          </a:p>
          <a:p>
            <a:endParaRPr lang="en-US" sz="2200" dirty="0">
              <a:latin typeface="Times New Roman" panose="02020603050405020304" charset="0"/>
            </a:endParaRPr>
          </a:p>
        </p:txBody>
      </p:sp>
      <p:sp>
        <p:nvSpPr>
          <p:cNvPr id="20487" name="Text Box 5"/>
          <p:cNvSpPr txBox="1">
            <a:spLocks noChangeArrowheads="1"/>
          </p:cNvSpPr>
          <p:nvPr/>
        </p:nvSpPr>
        <p:spPr bwMode="auto">
          <a:xfrm>
            <a:off x="1743075" y="2784475"/>
            <a:ext cx="185738" cy="369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endParaRPr lang="en-US">
              <a:latin typeface="Times New Roman" panose="02020603050405020304" charset="0"/>
            </a:endParaRPr>
          </a:p>
        </p:txBody>
      </p:sp>
      <p:sp>
        <p:nvSpPr>
          <p:cNvPr id="20488" name="Text Box 6"/>
          <p:cNvSpPr txBox="1">
            <a:spLocks noChangeArrowheads="1"/>
          </p:cNvSpPr>
          <p:nvPr/>
        </p:nvSpPr>
        <p:spPr bwMode="auto">
          <a:xfrm>
            <a:off x="1828800" y="2819400"/>
            <a:ext cx="4987263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3200" dirty="0">
                <a:latin typeface="Times New Roman" panose="02020603050405020304" charset="0"/>
                <a:sym typeface="Symbol" panose="05050102010706020507" pitchFamily="18" charset="2"/>
              </a:rPr>
              <a:t></a:t>
            </a:r>
            <a:r>
              <a:rPr lang="en-US" dirty="0">
                <a:latin typeface="Times New Roman" panose="02020603050405020304" charset="0"/>
                <a:sym typeface="Symbol" panose="05050102010706020507" pitchFamily="18" charset="2"/>
              </a:rPr>
              <a:t> 	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eliminate immediate left recursion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5" grpId="0"/>
      <p:bldP spid="20486" grpId="0"/>
      <p:bldP spid="2048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Immediate Left-Recursion</a:t>
            </a:r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228600" y="3048000"/>
            <a:ext cx="8610599" cy="17912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400" dirty="0">
                <a:latin typeface="Times New Roman" panose="02020603050405020304" charset="0"/>
                <a:sym typeface="Symbol" panose="05050102010706020507" pitchFamily="18" charset="2"/>
              </a:rPr>
              <a:t>A  A </a:t>
            </a:r>
            <a:r>
              <a:rPr lang="en-US" sz="2400" baseline="-25000" dirty="0">
                <a:latin typeface="Times New Roman" panose="02020603050405020304" charset="0"/>
                <a:sym typeface="Symbol" panose="05050102010706020507" pitchFamily="18" charset="2"/>
              </a:rPr>
              <a:t>1</a:t>
            </a:r>
            <a:r>
              <a:rPr lang="en-US" sz="2400" dirty="0">
                <a:latin typeface="Times New Roman" panose="02020603050405020304" charset="0"/>
                <a:sym typeface="Symbol" panose="05050102010706020507" pitchFamily="18" charset="2"/>
              </a:rPr>
              <a:t> | ... | A </a:t>
            </a:r>
            <a:r>
              <a:rPr lang="en-US" sz="2400" baseline="-25000" dirty="0">
                <a:latin typeface="Times New Roman" panose="02020603050405020304" charset="0"/>
                <a:sym typeface="Symbol" panose="05050102010706020507" pitchFamily="18" charset="2"/>
              </a:rPr>
              <a:t>m</a:t>
            </a:r>
            <a:r>
              <a:rPr lang="en-US" sz="2400" dirty="0">
                <a:latin typeface="Times New Roman" panose="02020603050405020304" charset="0"/>
                <a:sym typeface="Symbol" panose="05050102010706020507" pitchFamily="18" charset="2"/>
              </a:rPr>
              <a:t> | </a:t>
            </a:r>
            <a:r>
              <a:rPr lang="en-US" sz="2400" baseline="-25000" dirty="0">
                <a:latin typeface="Times New Roman" panose="02020603050405020304" charset="0"/>
                <a:sym typeface="Symbol" panose="05050102010706020507" pitchFamily="18" charset="2"/>
              </a:rPr>
              <a:t>1</a:t>
            </a:r>
            <a:r>
              <a:rPr lang="en-US" sz="2400" dirty="0">
                <a:latin typeface="Times New Roman" panose="02020603050405020304" charset="0"/>
                <a:sym typeface="Symbol" panose="05050102010706020507" pitchFamily="18" charset="2"/>
              </a:rPr>
              <a:t> | ... | </a:t>
            </a:r>
            <a:r>
              <a:rPr lang="en-US" sz="2400" baseline="-25000" dirty="0">
                <a:latin typeface="Times New Roman" panose="02020603050405020304" charset="0"/>
                <a:sym typeface="Symbol" panose="05050102010706020507" pitchFamily="18" charset="2"/>
              </a:rPr>
              <a:t>n</a:t>
            </a:r>
            <a:r>
              <a:rPr lang="en-US" sz="2400" dirty="0">
                <a:latin typeface="Times New Roman" panose="02020603050405020304" charset="0"/>
                <a:sym typeface="Symbol" panose="05050102010706020507" pitchFamily="18" charset="2"/>
              </a:rPr>
              <a:t>    where </a:t>
            </a:r>
            <a:r>
              <a:rPr lang="en-US" sz="2400" baseline="-25000" dirty="0">
                <a:latin typeface="Times New Roman" panose="02020603050405020304" charset="0"/>
                <a:sym typeface="Symbol" panose="05050102010706020507" pitchFamily="18" charset="2"/>
              </a:rPr>
              <a:t>1</a:t>
            </a:r>
            <a:r>
              <a:rPr lang="en-US" sz="2400" dirty="0">
                <a:latin typeface="Times New Roman" panose="02020603050405020304" charset="0"/>
                <a:sym typeface="Symbol" panose="05050102010706020507" pitchFamily="18" charset="2"/>
              </a:rPr>
              <a:t> ... </a:t>
            </a:r>
            <a:r>
              <a:rPr lang="en-US" sz="2400" baseline="-25000" dirty="0">
                <a:latin typeface="Times New Roman" panose="02020603050405020304" charset="0"/>
                <a:sym typeface="Symbol" panose="05050102010706020507" pitchFamily="18" charset="2"/>
              </a:rPr>
              <a:t>n</a:t>
            </a:r>
            <a:r>
              <a:rPr lang="en-US" sz="2400" dirty="0">
                <a:latin typeface="Times New Roman" panose="02020603050405020304" charset="0"/>
                <a:sym typeface="Symbol" panose="05050102010706020507" pitchFamily="18" charset="2"/>
              </a:rPr>
              <a:t> do not start with A</a:t>
            </a:r>
          </a:p>
          <a:p>
            <a:pPr>
              <a:spcBef>
                <a:spcPct val="20000"/>
              </a:spcBef>
            </a:pPr>
            <a:r>
              <a:rPr lang="en-US" sz="2400" dirty="0">
                <a:latin typeface="Times New Roman" panose="02020603050405020304" charset="0"/>
                <a:sym typeface="Symbol" panose="05050102010706020507" pitchFamily="18" charset="2"/>
              </a:rPr>
              <a:t>		eliminate immediate left recursion</a:t>
            </a:r>
          </a:p>
          <a:p>
            <a:pPr>
              <a:spcBef>
                <a:spcPct val="20000"/>
              </a:spcBef>
            </a:pPr>
            <a:r>
              <a:rPr lang="en-US" sz="2400" dirty="0">
                <a:latin typeface="Times New Roman" panose="02020603050405020304" charset="0"/>
                <a:sym typeface="Symbol" panose="05050102010706020507" pitchFamily="18" charset="2"/>
              </a:rPr>
              <a:t>A  </a:t>
            </a:r>
            <a:r>
              <a:rPr lang="en-US" sz="2400" baseline="-25000" dirty="0">
                <a:latin typeface="Times New Roman" panose="02020603050405020304" charset="0"/>
                <a:sym typeface="Symbol" panose="05050102010706020507" pitchFamily="18" charset="2"/>
              </a:rPr>
              <a:t>1</a:t>
            </a:r>
            <a:r>
              <a:rPr lang="en-US" sz="2400" dirty="0">
                <a:latin typeface="Times New Roman" panose="02020603050405020304" charset="0"/>
                <a:sym typeface="Symbol" panose="05050102010706020507" pitchFamily="18" charset="2"/>
              </a:rPr>
              <a:t> A</a:t>
            </a:r>
            <a:r>
              <a:rPr lang="en-US" sz="2400" baseline="30000" dirty="0">
                <a:latin typeface="Times New Roman" panose="02020603050405020304" charset="0"/>
                <a:sym typeface="Symbol" panose="05050102010706020507"/>
              </a:rPr>
              <a:t></a:t>
            </a:r>
            <a:r>
              <a:rPr lang="en-US" sz="2400" baseline="30000" dirty="0">
                <a:latin typeface="Times New Roman" panose="02020603050405020304" charset="0"/>
                <a:sym typeface="Symbol" panose="05050102010706020507" pitchFamily="18" charset="2"/>
              </a:rPr>
              <a:t>  </a:t>
            </a:r>
            <a:r>
              <a:rPr lang="en-US" sz="2400" dirty="0">
                <a:latin typeface="Times New Roman" panose="02020603050405020304" charset="0"/>
                <a:sym typeface="Symbol" panose="05050102010706020507" pitchFamily="18" charset="2"/>
              </a:rPr>
              <a:t>| ... | </a:t>
            </a:r>
            <a:r>
              <a:rPr lang="en-US" sz="2400" baseline="-25000" dirty="0">
                <a:latin typeface="Times New Roman" panose="02020603050405020304" charset="0"/>
                <a:sym typeface="Symbol" panose="05050102010706020507" pitchFamily="18" charset="2"/>
              </a:rPr>
              <a:t>n</a:t>
            </a:r>
            <a:r>
              <a:rPr lang="en-US" sz="2400" dirty="0">
                <a:latin typeface="Times New Roman" panose="02020603050405020304" charset="0"/>
                <a:sym typeface="Symbol" panose="05050102010706020507" pitchFamily="18" charset="2"/>
              </a:rPr>
              <a:t> A</a:t>
            </a:r>
            <a:r>
              <a:rPr lang="en-US" sz="2400" baseline="30000" dirty="0">
                <a:latin typeface="Times New Roman" panose="02020603050405020304" charset="0"/>
                <a:sym typeface="Symbol" panose="05050102010706020507"/>
              </a:rPr>
              <a:t> </a:t>
            </a:r>
            <a:endParaRPr lang="en-US" sz="2400" baseline="30000" dirty="0">
              <a:latin typeface="Times New Roman" panose="02020603050405020304" charset="0"/>
              <a:sym typeface="Symbol" panose="05050102010706020507" pitchFamily="18" charset="2"/>
            </a:endParaRPr>
          </a:p>
          <a:p>
            <a:pPr>
              <a:spcBef>
                <a:spcPct val="20000"/>
              </a:spcBef>
            </a:pPr>
            <a:r>
              <a:rPr lang="en-US" sz="2400" dirty="0">
                <a:latin typeface="Times New Roman" panose="02020603050405020304" charset="0"/>
                <a:sym typeface="Symbol" panose="05050102010706020507" pitchFamily="18" charset="2"/>
              </a:rPr>
              <a:t>A</a:t>
            </a:r>
            <a:r>
              <a:rPr lang="en-US" sz="2400" baseline="30000" dirty="0">
                <a:latin typeface="Times New Roman" panose="02020603050405020304" charset="0"/>
                <a:sym typeface="Symbol" panose="05050102010706020507"/>
              </a:rPr>
              <a:t></a:t>
            </a:r>
            <a:r>
              <a:rPr lang="en-US" sz="2400" dirty="0">
                <a:latin typeface="Times New Roman" panose="02020603050405020304" charset="0"/>
                <a:sym typeface="Symbol" panose="05050102010706020507" pitchFamily="18" charset="2"/>
              </a:rPr>
              <a:t>  </a:t>
            </a:r>
            <a:r>
              <a:rPr lang="en-US" sz="2400" baseline="-25000" dirty="0">
                <a:latin typeface="Times New Roman" panose="02020603050405020304" charset="0"/>
                <a:sym typeface="Symbol" panose="05050102010706020507" pitchFamily="18" charset="2"/>
              </a:rPr>
              <a:t>1</a:t>
            </a:r>
            <a:r>
              <a:rPr lang="en-US" sz="2400" dirty="0">
                <a:latin typeface="Times New Roman" panose="02020603050405020304" charset="0"/>
                <a:sym typeface="Symbol" panose="05050102010706020507" pitchFamily="18" charset="2"/>
              </a:rPr>
              <a:t> A</a:t>
            </a:r>
            <a:r>
              <a:rPr lang="en-US" sz="2400" baseline="30000" dirty="0">
                <a:latin typeface="Times New Roman" panose="02020603050405020304" charset="0"/>
                <a:sym typeface="Symbol" panose="05050102010706020507"/>
              </a:rPr>
              <a:t></a:t>
            </a:r>
            <a:r>
              <a:rPr lang="en-US" sz="2400" dirty="0">
                <a:latin typeface="Times New Roman" panose="02020603050405020304" charset="0"/>
                <a:sym typeface="Symbol" panose="05050102010706020507" pitchFamily="18" charset="2"/>
              </a:rPr>
              <a:t>  | ... | </a:t>
            </a:r>
            <a:r>
              <a:rPr lang="en-US" sz="2400" baseline="-25000" dirty="0">
                <a:latin typeface="Times New Roman" panose="02020603050405020304" charset="0"/>
                <a:sym typeface="Symbol" panose="05050102010706020507" pitchFamily="18" charset="2"/>
              </a:rPr>
              <a:t>m</a:t>
            </a:r>
            <a:r>
              <a:rPr lang="en-US" sz="2400" dirty="0">
                <a:latin typeface="Times New Roman" panose="02020603050405020304" charset="0"/>
                <a:sym typeface="Symbol" panose="05050102010706020507" pitchFamily="18" charset="2"/>
              </a:rPr>
              <a:t> A</a:t>
            </a:r>
            <a:r>
              <a:rPr lang="en-US" sz="2400" baseline="30000" dirty="0">
                <a:latin typeface="Times New Roman" panose="02020603050405020304" charset="0"/>
                <a:sym typeface="Symbol" panose="05050102010706020507"/>
              </a:rPr>
              <a:t></a:t>
            </a:r>
            <a:r>
              <a:rPr lang="en-US" sz="2400" dirty="0">
                <a:latin typeface="Times New Roman" panose="02020603050405020304" charset="0"/>
                <a:sym typeface="Symbol" panose="05050102010706020507" pitchFamily="18" charset="2"/>
              </a:rPr>
              <a:t> |  		an equivalent grammar</a:t>
            </a: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457200" y="2286000"/>
            <a:ext cx="1718740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2800" dirty="0">
                <a:latin typeface="Times New Roman" panose="02020603050405020304" charset="0"/>
              </a:rPr>
              <a:t>In general,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832E6-B55A-4E24-AC1A-FA114B576BC7}" type="datetime1">
              <a:rPr lang="en-US"/>
              <a:t>10/30/2025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C19BE-7371-47B2-943B-F4A7FF6ACF5A}" type="slidenum">
              <a:rPr lang="en-US"/>
              <a:t>28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Left-Recursion -- Problem</a:t>
            </a:r>
          </a:p>
        </p:txBody>
      </p:sp>
      <p:sp>
        <p:nvSpPr>
          <p:cNvPr id="21512" name="Date Placeholder 8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59460068-D3C0-4B19-8C05-08B63B7F6871}" type="datetime1">
              <a:rPr lang="en-US"/>
              <a:t>10/30/2025</a:t>
            </a:fld>
            <a:endParaRPr lang="en-US"/>
          </a:p>
        </p:txBody>
      </p:sp>
      <p:sp>
        <p:nvSpPr>
          <p:cNvPr id="21506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Md Zahim Hassan, BAUST</a:t>
            </a:r>
          </a:p>
        </p:txBody>
      </p:sp>
      <p:sp>
        <p:nvSpPr>
          <p:cNvPr id="2150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67428E2-6891-43D8-B6C3-B4A4CFB6D734}" type="slidenum">
              <a:rPr lang="en-US"/>
              <a:t>29</a:t>
            </a:fld>
            <a:endParaRPr lang="en-US"/>
          </a:p>
        </p:txBody>
      </p:sp>
      <p:sp>
        <p:nvSpPr>
          <p:cNvPr id="21509" name="Text Box 3"/>
          <p:cNvSpPr txBox="1">
            <a:spLocks noChangeArrowheads="1"/>
          </p:cNvSpPr>
          <p:nvPr/>
        </p:nvSpPr>
        <p:spPr bwMode="auto">
          <a:xfrm>
            <a:off x="492124" y="1466850"/>
            <a:ext cx="8194675" cy="1446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Char char="•"/>
            </a:pPr>
            <a:r>
              <a:rPr lang="en-US" sz="2200" dirty="0">
                <a:latin typeface="Times New Roman" panose="02020603050405020304" charset="0"/>
              </a:rPr>
              <a:t>  A grammar cannot be immediately left-recursive, but it still can be </a:t>
            </a:r>
          </a:p>
          <a:p>
            <a:r>
              <a:rPr lang="en-US" sz="2200" dirty="0">
                <a:latin typeface="Times New Roman" panose="02020603050405020304" charset="0"/>
              </a:rPr>
              <a:t>   left-recursive.</a:t>
            </a:r>
          </a:p>
          <a:p>
            <a:pPr>
              <a:buFontTx/>
              <a:buChar char="•"/>
            </a:pPr>
            <a:r>
              <a:rPr lang="en-US" sz="2200" dirty="0">
                <a:latin typeface="Times New Roman" panose="02020603050405020304" charset="0"/>
              </a:rPr>
              <a:t>  By just eliminating the immediate left-recursion, we may not get </a:t>
            </a:r>
          </a:p>
          <a:p>
            <a:r>
              <a:rPr lang="en-US" sz="2200" dirty="0">
                <a:latin typeface="Times New Roman" panose="02020603050405020304" charset="0"/>
              </a:rPr>
              <a:t>   a grammar which is not left-recursive.</a:t>
            </a:r>
          </a:p>
        </p:txBody>
      </p:sp>
      <p:sp>
        <p:nvSpPr>
          <p:cNvPr id="21510" name="Text Box 4"/>
          <p:cNvSpPr txBox="1">
            <a:spLocks noChangeArrowheads="1"/>
          </p:cNvSpPr>
          <p:nvPr/>
        </p:nvSpPr>
        <p:spPr bwMode="auto">
          <a:xfrm>
            <a:off x="688975" y="3470275"/>
            <a:ext cx="184150" cy="369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endParaRPr lang="en-US">
              <a:latin typeface="Times New Roman" panose="02020603050405020304" charset="0"/>
            </a:endParaRPr>
          </a:p>
        </p:txBody>
      </p:sp>
      <p:sp>
        <p:nvSpPr>
          <p:cNvPr id="21511" name="Text Box 5"/>
          <p:cNvSpPr txBox="1">
            <a:spLocks noChangeArrowheads="1"/>
          </p:cNvSpPr>
          <p:nvPr/>
        </p:nvSpPr>
        <p:spPr bwMode="auto">
          <a:xfrm>
            <a:off x="561975" y="3124200"/>
            <a:ext cx="7725192" cy="280076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S 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Aa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| b</a:t>
            </a:r>
          </a:p>
          <a:p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A  Ac |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Sd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| </a:t>
            </a:r>
            <a:r>
              <a:rPr lang="en-US" sz="2000" dirty="0">
                <a:latin typeface="Times New Roman" panose="02020603050405020304" charset="0"/>
                <a:sym typeface="Symbol" panose="05050102010706020507" pitchFamily="18" charset="2"/>
              </a:rPr>
              <a:t> 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	This grammar is not immediately left-recursive,</a:t>
            </a:r>
          </a:p>
          <a:p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			but it is still left-recursive.</a:t>
            </a:r>
          </a:p>
          <a:p>
            <a:endParaRPr lang="en-US" sz="2200" dirty="0">
              <a:latin typeface="Times New Roman" panose="02020603050405020304" charset="0"/>
              <a:sym typeface="Symbol" panose="05050102010706020507" pitchFamily="18" charset="2"/>
            </a:endParaRPr>
          </a:p>
          <a:p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S 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Aa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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Sda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   	or</a:t>
            </a:r>
          </a:p>
          <a:p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A 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Sd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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Aad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	causes to a left-recursion</a:t>
            </a:r>
          </a:p>
          <a:p>
            <a:endParaRPr lang="en-US" sz="2200" dirty="0">
              <a:latin typeface="Times New Roman" panose="02020603050405020304" charset="0"/>
              <a:sym typeface="Symbol" panose="05050102010706020507" pitchFamily="18" charset="2"/>
            </a:endParaRPr>
          </a:p>
          <a:p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So, we have to eliminate all left-recursions from  this grammar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Eliminate Left-Recursion -- Example</a:t>
            </a:r>
          </a:p>
        </p:txBody>
      </p:sp>
      <p:sp>
        <p:nvSpPr>
          <p:cNvPr id="23558" name="Date Placeholder 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72BC3C0-FBBA-4F5B-A53F-A73597EE6959}" type="datetime1">
              <a:rPr lang="en-US"/>
              <a:t>10/30/2025</a:t>
            </a:fld>
            <a:endParaRPr lang="en-US"/>
          </a:p>
        </p:txBody>
      </p:sp>
      <p:sp>
        <p:nvSpPr>
          <p:cNvPr id="23554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2355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B2AA7A9-42DF-4D30-BD96-3432168AEB47}" type="slidenum">
              <a:rPr lang="en-US"/>
              <a:t>30</a:t>
            </a:fld>
            <a:endParaRPr lang="en-US"/>
          </a:p>
        </p:txBody>
      </p:sp>
      <p:sp>
        <p:nvSpPr>
          <p:cNvPr id="2355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52425" y="1295400"/>
            <a:ext cx="8650288" cy="495300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200" dirty="0">
                <a:sym typeface="Symbol" panose="05050102010706020507" pitchFamily="18" charset="2"/>
              </a:rPr>
              <a:t>S  </a:t>
            </a:r>
            <a:r>
              <a:rPr lang="en-US" sz="2200" dirty="0" err="1">
                <a:sym typeface="Symbol" panose="05050102010706020507" pitchFamily="18" charset="2"/>
              </a:rPr>
              <a:t>Aa</a:t>
            </a:r>
            <a:r>
              <a:rPr lang="en-US" sz="2200" dirty="0">
                <a:sym typeface="Symbol" panose="05050102010706020507" pitchFamily="18" charset="2"/>
              </a:rPr>
              <a:t> | b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200" dirty="0">
                <a:sym typeface="Symbol" panose="05050102010706020507" pitchFamily="18" charset="2"/>
              </a:rPr>
              <a:t>A  Ac | </a:t>
            </a:r>
            <a:r>
              <a:rPr lang="en-US" sz="2200" dirty="0" err="1">
                <a:sym typeface="Symbol" panose="05050102010706020507" pitchFamily="18" charset="2"/>
              </a:rPr>
              <a:t>Sd</a:t>
            </a:r>
            <a:r>
              <a:rPr lang="en-US" sz="2200" dirty="0">
                <a:sym typeface="Symbol" panose="05050102010706020507" pitchFamily="18" charset="2"/>
              </a:rPr>
              <a:t> | f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sz="22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200" dirty="0">
                <a:sym typeface="Symbol" panose="05050102010706020507" pitchFamily="18" charset="2"/>
              </a:rPr>
              <a:t>- Order of non-terminals: S, A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sz="22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200" dirty="0">
                <a:sym typeface="Symbol" panose="05050102010706020507" pitchFamily="18" charset="2"/>
              </a:rPr>
              <a:t>for S: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200" dirty="0">
                <a:sym typeface="Symbol" panose="05050102010706020507" pitchFamily="18" charset="2"/>
              </a:rPr>
              <a:t>	- we do not enter the inner loop.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200" dirty="0">
                <a:sym typeface="Symbol" panose="05050102010706020507" pitchFamily="18" charset="2"/>
              </a:rPr>
              <a:t>	- there is no immediate left recursion in S.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sz="22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200" dirty="0">
                <a:sym typeface="Symbol" panose="05050102010706020507" pitchFamily="18" charset="2"/>
              </a:rPr>
              <a:t>for A: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sz="22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200" dirty="0">
                <a:sym typeface="Symbol" panose="05050102010706020507" pitchFamily="18" charset="2"/>
              </a:rPr>
              <a:t>	- Replace A  </a:t>
            </a:r>
            <a:r>
              <a:rPr lang="en-US" sz="2200" dirty="0" err="1">
                <a:sym typeface="Symbol" panose="05050102010706020507" pitchFamily="18" charset="2"/>
              </a:rPr>
              <a:t>Sd</a:t>
            </a:r>
            <a:r>
              <a:rPr lang="en-US" sz="2200" dirty="0">
                <a:sym typeface="Symbol" panose="05050102010706020507" pitchFamily="18" charset="2"/>
              </a:rPr>
              <a:t>   with   A  </a:t>
            </a:r>
            <a:r>
              <a:rPr lang="en-US" sz="2200" dirty="0" err="1">
                <a:sym typeface="Symbol" panose="05050102010706020507" pitchFamily="18" charset="2"/>
              </a:rPr>
              <a:t>Aad</a:t>
            </a:r>
            <a:r>
              <a:rPr lang="en-US" sz="2200" dirty="0">
                <a:sym typeface="Symbol" panose="05050102010706020507" pitchFamily="18" charset="2"/>
              </a:rPr>
              <a:t> | </a:t>
            </a:r>
            <a:r>
              <a:rPr lang="en-US" sz="2200" dirty="0" err="1">
                <a:sym typeface="Symbol" panose="05050102010706020507" pitchFamily="18" charset="2"/>
              </a:rPr>
              <a:t>bd</a:t>
            </a:r>
            <a:endParaRPr lang="en-US" sz="22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200" dirty="0">
                <a:sym typeface="Symbol" panose="05050102010706020507" pitchFamily="18" charset="2"/>
              </a:rPr>
              <a:t>	  So, we will have   A  Ac | </a:t>
            </a:r>
            <a:r>
              <a:rPr lang="en-US" sz="2200" dirty="0" err="1">
                <a:sym typeface="Symbol" panose="05050102010706020507" pitchFamily="18" charset="2"/>
              </a:rPr>
              <a:t>Aad</a:t>
            </a:r>
            <a:r>
              <a:rPr lang="en-US" sz="2200" dirty="0">
                <a:sym typeface="Symbol" panose="05050102010706020507" pitchFamily="18" charset="2"/>
              </a:rPr>
              <a:t> | </a:t>
            </a:r>
            <a:r>
              <a:rPr lang="en-US" sz="2200" dirty="0" err="1">
                <a:sym typeface="Symbol" panose="05050102010706020507" pitchFamily="18" charset="2"/>
              </a:rPr>
              <a:t>bd</a:t>
            </a:r>
            <a:r>
              <a:rPr lang="en-US" sz="2200" dirty="0">
                <a:sym typeface="Symbol" panose="05050102010706020507" pitchFamily="18" charset="2"/>
              </a:rPr>
              <a:t> | f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200" dirty="0">
                <a:sym typeface="Symbol" panose="05050102010706020507" pitchFamily="18" charset="2"/>
              </a:rPr>
              <a:t>	- Eliminate the immediate left-recursion in A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sz="22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200" dirty="0">
                <a:sym typeface="Symbol" panose="05050102010706020507" pitchFamily="18" charset="2"/>
              </a:rPr>
              <a:t>		 A  </a:t>
            </a:r>
            <a:r>
              <a:rPr lang="en-US" sz="2200" dirty="0" err="1">
                <a:sym typeface="Symbol" panose="05050102010706020507" pitchFamily="18" charset="2"/>
              </a:rPr>
              <a:t>bdA</a:t>
            </a:r>
            <a:r>
              <a:rPr lang="en-US" sz="2000" baseline="30000" dirty="0">
                <a:latin typeface="Times New Roman" panose="02020603050405020304" charset="0"/>
                <a:sym typeface="Symbol" panose="05050102010706020507"/>
              </a:rPr>
              <a:t></a:t>
            </a:r>
            <a:r>
              <a:rPr lang="en-US" sz="2200" dirty="0">
                <a:sym typeface="Symbol" panose="05050102010706020507" pitchFamily="18" charset="2"/>
              </a:rPr>
              <a:t> | </a:t>
            </a:r>
            <a:r>
              <a:rPr lang="en-US" sz="2200" dirty="0" err="1">
                <a:sym typeface="Symbol" panose="05050102010706020507" pitchFamily="18" charset="2"/>
              </a:rPr>
              <a:t>fA</a:t>
            </a:r>
            <a:r>
              <a:rPr lang="en-US" sz="2000" baseline="30000" dirty="0">
                <a:latin typeface="Times New Roman" panose="02020603050405020304" charset="0"/>
                <a:sym typeface="Symbol" panose="05050102010706020507"/>
              </a:rPr>
              <a:t></a:t>
            </a:r>
            <a:endParaRPr lang="en-US" sz="2200" baseline="300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200" baseline="30000" dirty="0">
                <a:sym typeface="Symbol" panose="05050102010706020507" pitchFamily="18" charset="2"/>
              </a:rPr>
              <a:t>		 </a:t>
            </a:r>
            <a:r>
              <a:rPr lang="en-US" sz="2200" dirty="0">
                <a:sym typeface="Symbol" panose="05050102010706020507" pitchFamily="18" charset="2"/>
              </a:rPr>
              <a:t>A</a:t>
            </a:r>
            <a:r>
              <a:rPr lang="en-US" sz="2200" baseline="30000" dirty="0">
                <a:sym typeface="Symbol" panose="05050102010706020507" pitchFamily="18" charset="2"/>
              </a:rPr>
              <a:t>’ </a:t>
            </a:r>
            <a:r>
              <a:rPr lang="en-US" sz="2200" dirty="0">
                <a:sym typeface="Symbol" panose="05050102010706020507" pitchFamily="18" charset="2"/>
              </a:rPr>
              <a:t> </a:t>
            </a:r>
            <a:r>
              <a:rPr lang="en-US" sz="2200" dirty="0" err="1">
                <a:sym typeface="Symbol" panose="05050102010706020507" pitchFamily="18" charset="2"/>
              </a:rPr>
              <a:t>cA</a:t>
            </a:r>
            <a:r>
              <a:rPr lang="en-US" sz="2000" baseline="30000" dirty="0">
                <a:latin typeface="Times New Roman" panose="02020603050405020304" charset="0"/>
                <a:sym typeface="Symbol" panose="05050102010706020507"/>
              </a:rPr>
              <a:t></a:t>
            </a:r>
            <a:r>
              <a:rPr lang="en-US" sz="2200" baseline="30000" dirty="0">
                <a:sym typeface="Symbol" panose="05050102010706020507" pitchFamily="18" charset="2"/>
              </a:rPr>
              <a:t>  </a:t>
            </a:r>
            <a:r>
              <a:rPr lang="en-US" sz="2200" dirty="0">
                <a:sym typeface="Symbol" panose="05050102010706020507" pitchFamily="18" charset="2"/>
              </a:rPr>
              <a:t>|  </a:t>
            </a:r>
            <a:r>
              <a:rPr lang="en-US" sz="2200" dirty="0" err="1">
                <a:sym typeface="Symbol" panose="05050102010706020507" pitchFamily="18" charset="2"/>
              </a:rPr>
              <a:t>adA</a:t>
            </a:r>
            <a:r>
              <a:rPr lang="en-US" sz="2000" baseline="30000" dirty="0">
                <a:latin typeface="Times New Roman" panose="02020603050405020304" charset="0"/>
                <a:sym typeface="Symbol" panose="05050102010706020507"/>
              </a:rPr>
              <a:t></a:t>
            </a:r>
            <a:r>
              <a:rPr lang="en-US" sz="2200" baseline="30000" dirty="0">
                <a:sym typeface="Symbol" panose="05050102010706020507" pitchFamily="18" charset="2"/>
              </a:rPr>
              <a:t>  </a:t>
            </a:r>
            <a:r>
              <a:rPr lang="en-US" sz="2200" dirty="0">
                <a:sym typeface="Symbol" panose="05050102010706020507" pitchFamily="18" charset="2"/>
              </a:rPr>
              <a:t>| 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sz="22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200" dirty="0">
                <a:sym typeface="Symbol" panose="05050102010706020507" pitchFamily="18" charset="2"/>
              </a:rPr>
              <a:t>So, the resulting equivalent grammar which is not left-recursive is: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sz="22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200" dirty="0">
                <a:sym typeface="Symbol" panose="05050102010706020507" pitchFamily="18" charset="2"/>
              </a:rPr>
              <a:t>	S  </a:t>
            </a:r>
            <a:r>
              <a:rPr lang="en-US" sz="2200" dirty="0" err="1">
                <a:sym typeface="Symbol" panose="05050102010706020507" pitchFamily="18" charset="2"/>
              </a:rPr>
              <a:t>Aa</a:t>
            </a:r>
            <a:r>
              <a:rPr lang="en-US" sz="2200" dirty="0">
                <a:sym typeface="Symbol" panose="05050102010706020507" pitchFamily="18" charset="2"/>
              </a:rPr>
              <a:t> | b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200" dirty="0">
                <a:sym typeface="Symbol" panose="05050102010706020507" pitchFamily="18" charset="2"/>
              </a:rPr>
              <a:t>	A  </a:t>
            </a:r>
            <a:r>
              <a:rPr lang="en-US" sz="2200" dirty="0" err="1">
                <a:sym typeface="Symbol" panose="05050102010706020507" pitchFamily="18" charset="2"/>
              </a:rPr>
              <a:t>bdA</a:t>
            </a:r>
            <a:r>
              <a:rPr lang="en-US" sz="2000" baseline="30000" dirty="0">
                <a:latin typeface="Times New Roman" panose="02020603050405020304" charset="0"/>
                <a:sym typeface="Symbol" panose="05050102010706020507"/>
              </a:rPr>
              <a:t></a:t>
            </a:r>
            <a:r>
              <a:rPr lang="en-US" sz="2200" dirty="0">
                <a:sym typeface="Symbol" panose="05050102010706020507" pitchFamily="18" charset="2"/>
              </a:rPr>
              <a:t> | </a:t>
            </a:r>
            <a:r>
              <a:rPr lang="en-US" sz="2200" dirty="0" err="1">
                <a:sym typeface="Symbol" panose="05050102010706020507" pitchFamily="18" charset="2"/>
              </a:rPr>
              <a:t>fA</a:t>
            </a:r>
            <a:r>
              <a:rPr lang="en-US" sz="2000" baseline="30000" dirty="0">
                <a:latin typeface="Times New Roman" panose="02020603050405020304" charset="0"/>
                <a:sym typeface="Symbol" panose="05050102010706020507"/>
              </a:rPr>
              <a:t></a:t>
            </a:r>
            <a:endParaRPr lang="en-US" sz="2200" baseline="300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200" baseline="30000" dirty="0">
                <a:sym typeface="Symbol" panose="05050102010706020507" pitchFamily="18" charset="2"/>
              </a:rPr>
              <a:t>	</a:t>
            </a:r>
            <a:r>
              <a:rPr lang="en-US" sz="2200" dirty="0">
                <a:sym typeface="Symbol" panose="05050102010706020507" pitchFamily="18" charset="2"/>
              </a:rPr>
              <a:t>A</a:t>
            </a:r>
            <a:r>
              <a:rPr lang="en-US" sz="2200" baseline="30000" dirty="0">
                <a:sym typeface="Symbol" panose="05050102010706020507" pitchFamily="18" charset="2"/>
              </a:rPr>
              <a:t>’ </a:t>
            </a:r>
            <a:r>
              <a:rPr lang="en-US" sz="2200" dirty="0">
                <a:sym typeface="Symbol" panose="05050102010706020507" pitchFamily="18" charset="2"/>
              </a:rPr>
              <a:t> </a:t>
            </a:r>
            <a:r>
              <a:rPr lang="en-US" sz="2200" dirty="0" err="1">
                <a:sym typeface="Symbol" panose="05050102010706020507" pitchFamily="18" charset="2"/>
              </a:rPr>
              <a:t>cA</a:t>
            </a:r>
            <a:r>
              <a:rPr lang="en-US" sz="2000" baseline="30000" dirty="0">
                <a:latin typeface="Times New Roman" panose="02020603050405020304" charset="0"/>
                <a:sym typeface="Symbol" panose="05050102010706020507"/>
              </a:rPr>
              <a:t></a:t>
            </a:r>
            <a:r>
              <a:rPr lang="en-US" sz="2200" baseline="30000" dirty="0">
                <a:sym typeface="Symbol" panose="05050102010706020507" pitchFamily="18" charset="2"/>
              </a:rPr>
              <a:t>  </a:t>
            </a:r>
            <a:r>
              <a:rPr lang="en-US" sz="2200" dirty="0">
                <a:sym typeface="Symbol" panose="05050102010706020507" pitchFamily="18" charset="2"/>
              </a:rPr>
              <a:t>|  </a:t>
            </a:r>
            <a:r>
              <a:rPr lang="en-US" sz="2200" dirty="0" err="1">
                <a:sym typeface="Symbol" panose="05050102010706020507" pitchFamily="18" charset="2"/>
              </a:rPr>
              <a:t>adA</a:t>
            </a:r>
            <a:r>
              <a:rPr lang="en-US" sz="2000" baseline="30000" dirty="0">
                <a:latin typeface="Times New Roman" panose="02020603050405020304" charset="0"/>
                <a:sym typeface="Symbol" panose="05050102010706020507"/>
              </a:rPr>
              <a:t></a:t>
            </a:r>
            <a:r>
              <a:rPr lang="en-US" sz="2200" baseline="30000" dirty="0">
                <a:sym typeface="Symbol" panose="05050102010706020507" pitchFamily="18" charset="2"/>
              </a:rPr>
              <a:t>  </a:t>
            </a:r>
            <a:r>
              <a:rPr lang="en-US" sz="2200" dirty="0">
                <a:sym typeface="Symbol" panose="05050102010706020507" pitchFamily="18" charset="2"/>
              </a:rPr>
              <a:t>| 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Eliminate Left-Recursion – Example2</a:t>
            </a:r>
          </a:p>
        </p:txBody>
      </p:sp>
      <p:sp>
        <p:nvSpPr>
          <p:cNvPr id="24582" name="Date Placeholder 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2F5375B-B1A3-4C5B-AB15-D0A1F23493C9}" type="datetime1">
              <a:rPr lang="en-US"/>
              <a:t>10/30/2025</a:t>
            </a:fld>
            <a:endParaRPr lang="en-US"/>
          </a:p>
        </p:txBody>
      </p:sp>
      <p:sp>
        <p:nvSpPr>
          <p:cNvPr id="24578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2457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B80D96C-5FBC-4EE3-8A4C-C767CCD8D3F2}" type="slidenum">
              <a:rPr lang="en-US"/>
              <a:t>31</a:t>
            </a:fld>
            <a:endParaRPr lang="en-US"/>
          </a:p>
        </p:txBody>
      </p:sp>
      <p:sp>
        <p:nvSpPr>
          <p:cNvPr id="2458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295400"/>
            <a:ext cx="8348472" cy="510540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sz="20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900" dirty="0">
                <a:sym typeface="Symbol" panose="05050102010706020507" pitchFamily="18" charset="2"/>
              </a:rPr>
              <a:t>S  </a:t>
            </a:r>
            <a:r>
              <a:rPr lang="en-US" sz="2900" dirty="0" err="1">
                <a:sym typeface="Symbol" panose="05050102010706020507" pitchFamily="18" charset="2"/>
              </a:rPr>
              <a:t>Aa</a:t>
            </a:r>
            <a:r>
              <a:rPr lang="en-US" sz="2900" dirty="0">
                <a:sym typeface="Symbol" panose="05050102010706020507" pitchFamily="18" charset="2"/>
              </a:rPr>
              <a:t> | b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900" dirty="0">
                <a:sym typeface="Symbol" panose="05050102010706020507" pitchFamily="18" charset="2"/>
              </a:rPr>
              <a:t>A  Ac | </a:t>
            </a:r>
            <a:r>
              <a:rPr lang="en-US" sz="2900" dirty="0" err="1">
                <a:sym typeface="Symbol" panose="05050102010706020507" pitchFamily="18" charset="2"/>
              </a:rPr>
              <a:t>Sd</a:t>
            </a:r>
            <a:r>
              <a:rPr lang="en-US" sz="2900" dirty="0">
                <a:sym typeface="Symbol" panose="05050102010706020507" pitchFamily="18" charset="2"/>
              </a:rPr>
              <a:t> | f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sz="29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900" dirty="0">
                <a:sym typeface="Symbol" panose="05050102010706020507" pitchFamily="18" charset="2"/>
              </a:rPr>
              <a:t>- Order of non-terminals: A, S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sz="29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900" dirty="0">
                <a:sym typeface="Symbol" panose="05050102010706020507" pitchFamily="18" charset="2"/>
              </a:rPr>
              <a:t>for A: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900" dirty="0">
                <a:sym typeface="Symbol" panose="05050102010706020507" pitchFamily="18" charset="2"/>
              </a:rPr>
              <a:t>	- we do not enter the inner loop.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900" dirty="0">
                <a:sym typeface="Symbol" panose="05050102010706020507" pitchFamily="18" charset="2"/>
              </a:rPr>
              <a:t>	- Eliminate the immediate left-recursion in A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900" dirty="0">
                <a:sym typeface="Symbol" panose="05050102010706020507" pitchFamily="18" charset="2"/>
              </a:rPr>
              <a:t>		 A  </a:t>
            </a:r>
            <a:r>
              <a:rPr lang="en-US" sz="2900" dirty="0" err="1">
                <a:sym typeface="Symbol" panose="05050102010706020507" pitchFamily="18" charset="2"/>
              </a:rPr>
              <a:t>SdA</a:t>
            </a:r>
            <a:r>
              <a:rPr lang="en-US" sz="2900" baseline="30000" dirty="0">
                <a:sym typeface="Symbol" panose="05050102010706020507" pitchFamily="18" charset="2"/>
              </a:rPr>
              <a:t>’</a:t>
            </a:r>
            <a:r>
              <a:rPr lang="en-US" sz="2900" dirty="0">
                <a:sym typeface="Symbol" panose="05050102010706020507" pitchFamily="18" charset="2"/>
              </a:rPr>
              <a:t> | </a:t>
            </a:r>
            <a:r>
              <a:rPr lang="en-US" sz="2900" dirty="0" err="1">
                <a:sym typeface="Symbol" panose="05050102010706020507" pitchFamily="18" charset="2"/>
              </a:rPr>
              <a:t>fA</a:t>
            </a:r>
            <a:r>
              <a:rPr lang="en-US" sz="2900" baseline="30000" dirty="0">
                <a:sym typeface="Symbol" panose="05050102010706020507" pitchFamily="18" charset="2"/>
              </a:rPr>
              <a:t>’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900" baseline="30000" dirty="0">
                <a:sym typeface="Symbol" panose="05050102010706020507" pitchFamily="18" charset="2"/>
              </a:rPr>
              <a:t>		 </a:t>
            </a:r>
            <a:r>
              <a:rPr lang="en-US" sz="2900" dirty="0">
                <a:sym typeface="Symbol" panose="05050102010706020507" pitchFamily="18" charset="2"/>
              </a:rPr>
              <a:t>A</a:t>
            </a:r>
            <a:r>
              <a:rPr lang="en-US" sz="2900" baseline="30000" dirty="0">
                <a:sym typeface="Symbol" panose="05050102010706020507" pitchFamily="18" charset="2"/>
              </a:rPr>
              <a:t>’ </a:t>
            </a:r>
            <a:r>
              <a:rPr lang="en-US" sz="2900" dirty="0">
                <a:sym typeface="Symbol" panose="05050102010706020507" pitchFamily="18" charset="2"/>
              </a:rPr>
              <a:t> </a:t>
            </a:r>
            <a:r>
              <a:rPr lang="en-US" sz="2900" dirty="0" err="1">
                <a:sym typeface="Symbol" panose="05050102010706020507" pitchFamily="18" charset="2"/>
              </a:rPr>
              <a:t>cA</a:t>
            </a:r>
            <a:r>
              <a:rPr lang="en-US" sz="2900" baseline="30000" dirty="0">
                <a:sym typeface="Symbol" panose="05050102010706020507" pitchFamily="18" charset="2"/>
              </a:rPr>
              <a:t>’  </a:t>
            </a:r>
            <a:r>
              <a:rPr lang="en-US" sz="2900" dirty="0">
                <a:sym typeface="Symbol" panose="05050102010706020507" pitchFamily="18" charset="2"/>
              </a:rPr>
              <a:t>| 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900" dirty="0">
                <a:sym typeface="Symbol" panose="05050102010706020507" pitchFamily="18" charset="2"/>
              </a:rPr>
              <a:t>for S: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900" dirty="0">
                <a:sym typeface="Symbol" panose="05050102010706020507" pitchFamily="18" charset="2"/>
              </a:rPr>
              <a:t>	- Replace   S  </a:t>
            </a:r>
            <a:r>
              <a:rPr lang="en-US" sz="2900" dirty="0" err="1">
                <a:sym typeface="Symbol" panose="05050102010706020507" pitchFamily="18" charset="2"/>
              </a:rPr>
              <a:t>Aa</a:t>
            </a:r>
            <a:r>
              <a:rPr lang="en-US" sz="2900" dirty="0">
                <a:sym typeface="Symbol" panose="05050102010706020507" pitchFamily="18" charset="2"/>
              </a:rPr>
              <a:t>   with   S  </a:t>
            </a:r>
            <a:r>
              <a:rPr lang="en-US" sz="2900" dirty="0" err="1">
                <a:sym typeface="Symbol" panose="05050102010706020507" pitchFamily="18" charset="2"/>
              </a:rPr>
              <a:t>SdA</a:t>
            </a:r>
            <a:r>
              <a:rPr lang="en-US" sz="2900" baseline="30000" dirty="0" err="1">
                <a:sym typeface="Symbol" panose="05050102010706020507" pitchFamily="18" charset="2"/>
              </a:rPr>
              <a:t>’</a:t>
            </a:r>
            <a:r>
              <a:rPr lang="en-US" sz="2900" dirty="0" err="1">
                <a:sym typeface="Symbol" panose="05050102010706020507" pitchFamily="18" charset="2"/>
              </a:rPr>
              <a:t>a</a:t>
            </a:r>
            <a:r>
              <a:rPr lang="en-US" sz="2900" dirty="0">
                <a:sym typeface="Symbol" panose="05050102010706020507" pitchFamily="18" charset="2"/>
              </a:rPr>
              <a:t>  |  </a:t>
            </a:r>
            <a:r>
              <a:rPr lang="en-US" sz="2900" dirty="0" err="1">
                <a:sym typeface="Symbol" panose="05050102010706020507" pitchFamily="18" charset="2"/>
              </a:rPr>
              <a:t>fA</a:t>
            </a:r>
            <a:r>
              <a:rPr lang="en-US" sz="2900" baseline="30000" dirty="0" err="1">
                <a:sym typeface="Symbol" panose="05050102010706020507" pitchFamily="18" charset="2"/>
              </a:rPr>
              <a:t>’</a:t>
            </a:r>
            <a:r>
              <a:rPr lang="en-US" sz="2900" dirty="0" err="1">
                <a:sym typeface="Symbol" panose="05050102010706020507" pitchFamily="18" charset="2"/>
              </a:rPr>
              <a:t>a</a:t>
            </a:r>
            <a:r>
              <a:rPr lang="en-US" sz="2900" dirty="0">
                <a:sym typeface="Symbol" panose="05050102010706020507" pitchFamily="18" charset="2"/>
              </a:rPr>
              <a:t> 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900" dirty="0">
                <a:sym typeface="Symbol" panose="05050102010706020507" pitchFamily="18" charset="2"/>
              </a:rPr>
              <a:t>	  So, we will have  S  </a:t>
            </a:r>
            <a:r>
              <a:rPr lang="en-US" sz="2900" dirty="0" err="1">
                <a:sym typeface="Symbol" panose="05050102010706020507" pitchFamily="18" charset="2"/>
              </a:rPr>
              <a:t>SdA</a:t>
            </a:r>
            <a:r>
              <a:rPr lang="en-US" sz="2900" baseline="30000" dirty="0" err="1">
                <a:sym typeface="Symbol" panose="05050102010706020507" pitchFamily="18" charset="2"/>
              </a:rPr>
              <a:t>’</a:t>
            </a:r>
            <a:r>
              <a:rPr lang="en-US" sz="2900" dirty="0" err="1">
                <a:sym typeface="Symbol" panose="05050102010706020507" pitchFamily="18" charset="2"/>
              </a:rPr>
              <a:t>a</a:t>
            </a:r>
            <a:r>
              <a:rPr lang="en-US" sz="2900" dirty="0">
                <a:sym typeface="Symbol" panose="05050102010706020507" pitchFamily="18" charset="2"/>
              </a:rPr>
              <a:t>  |  </a:t>
            </a:r>
            <a:r>
              <a:rPr lang="en-US" sz="2900" dirty="0" err="1">
                <a:sym typeface="Symbol" panose="05050102010706020507" pitchFamily="18" charset="2"/>
              </a:rPr>
              <a:t>fA</a:t>
            </a:r>
            <a:r>
              <a:rPr lang="en-US" sz="2900" baseline="30000" dirty="0" err="1">
                <a:sym typeface="Symbol" panose="05050102010706020507" pitchFamily="18" charset="2"/>
              </a:rPr>
              <a:t>’</a:t>
            </a:r>
            <a:r>
              <a:rPr lang="en-US" sz="2900" dirty="0" err="1">
                <a:sym typeface="Symbol" panose="05050102010706020507" pitchFamily="18" charset="2"/>
              </a:rPr>
              <a:t>a</a:t>
            </a:r>
            <a:r>
              <a:rPr lang="en-US" sz="2900" dirty="0">
                <a:sym typeface="Symbol" panose="05050102010706020507" pitchFamily="18" charset="2"/>
              </a:rPr>
              <a:t>  | b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900" dirty="0">
                <a:sym typeface="Symbol" panose="05050102010706020507" pitchFamily="18" charset="2"/>
              </a:rPr>
              <a:t>	- Eliminate the immediate left-recursion in S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900" dirty="0">
                <a:sym typeface="Symbol" panose="05050102010706020507" pitchFamily="18" charset="2"/>
              </a:rPr>
              <a:t>		 S  </a:t>
            </a:r>
            <a:r>
              <a:rPr lang="en-US" sz="2900" dirty="0" err="1">
                <a:sym typeface="Symbol" panose="05050102010706020507" pitchFamily="18" charset="2"/>
              </a:rPr>
              <a:t>fA’aS</a:t>
            </a:r>
            <a:r>
              <a:rPr lang="en-US" sz="2900" dirty="0">
                <a:sym typeface="Symbol" panose="05050102010706020507" pitchFamily="18" charset="2"/>
              </a:rPr>
              <a:t>’  | </a:t>
            </a:r>
            <a:r>
              <a:rPr lang="en-US" sz="2900" dirty="0" err="1">
                <a:sym typeface="Symbol" panose="05050102010706020507" pitchFamily="18" charset="2"/>
              </a:rPr>
              <a:t>bS</a:t>
            </a:r>
            <a:r>
              <a:rPr lang="en-US" sz="2900" baseline="30000" dirty="0">
                <a:sym typeface="Symbol" panose="05050102010706020507" pitchFamily="18" charset="2"/>
              </a:rPr>
              <a:t>’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900" baseline="30000" dirty="0">
                <a:sym typeface="Symbol" panose="05050102010706020507" pitchFamily="18" charset="2"/>
              </a:rPr>
              <a:t>		 </a:t>
            </a:r>
            <a:r>
              <a:rPr lang="en-US" sz="2900" dirty="0">
                <a:sym typeface="Symbol" panose="05050102010706020507" pitchFamily="18" charset="2"/>
              </a:rPr>
              <a:t>S</a:t>
            </a:r>
            <a:r>
              <a:rPr lang="en-US" sz="2900" baseline="30000" dirty="0">
                <a:sym typeface="Symbol" panose="05050102010706020507" pitchFamily="18" charset="2"/>
              </a:rPr>
              <a:t>’ </a:t>
            </a:r>
            <a:r>
              <a:rPr lang="en-US" sz="2900" dirty="0">
                <a:sym typeface="Symbol" panose="05050102010706020507" pitchFamily="18" charset="2"/>
              </a:rPr>
              <a:t> </a:t>
            </a:r>
            <a:r>
              <a:rPr lang="en-US" sz="2900" dirty="0" err="1">
                <a:sym typeface="Symbol" panose="05050102010706020507" pitchFamily="18" charset="2"/>
              </a:rPr>
              <a:t>dA</a:t>
            </a:r>
            <a:r>
              <a:rPr lang="en-US" sz="2900" baseline="30000" dirty="0" err="1">
                <a:sym typeface="Symbol" panose="05050102010706020507" pitchFamily="18" charset="2"/>
              </a:rPr>
              <a:t>’</a:t>
            </a:r>
            <a:r>
              <a:rPr lang="en-US" sz="2900" dirty="0" err="1">
                <a:sym typeface="Symbol" panose="05050102010706020507" pitchFamily="18" charset="2"/>
              </a:rPr>
              <a:t>aS</a:t>
            </a:r>
            <a:r>
              <a:rPr lang="en-US" sz="2900" dirty="0">
                <a:sym typeface="Symbol" panose="05050102010706020507" pitchFamily="18" charset="2"/>
              </a:rPr>
              <a:t>’  |  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900" dirty="0">
                <a:sym typeface="Symbol" panose="05050102010706020507" pitchFamily="18" charset="2"/>
              </a:rPr>
              <a:t>So, the resulting equivalent grammar which is not left-recursive is: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900" dirty="0">
                <a:sym typeface="Symbol" panose="05050102010706020507" pitchFamily="18" charset="2"/>
              </a:rPr>
              <a:t>	S  </a:t>
            </a:r>
            <a:r>
              <a:rPr lang="en-US" sz="2900" dirty="0" err="1">
                <a:sym typeface="Symbol" panose="05050102010706020507" pitchFamily="18" charset="2"/>
              </a:rPr>
              <a:t>fA’aS</a:t>
            </a:r>
            <a:r>
              <a:rPr lang="en-US" sz="2900" dirty="0">
                <a:sym typeface="Symbol" panose="05050102010706020507" pitchFamily="18" charset="2"/>
              </a:rPr>
              <a:t>’  | </a:t>
            </a:r>
            <a:r>
              <a:rPr lang="en-US" sz="2900" dirty="0" err="1">
                <a:sym typeface="Symbol" panose="05050102010706020507" pitchFamily="18" charset="2"/>
              </a:rPr>
              <a:t>bS</a:t>
            </a:r>
            <a:r>
              <a:rPr lang="en-US" sz="2900" baseline="30000" dirty="0">
                <a:sym typeface="Symbol" panose="05050102010706020507" pitchFamily="18" charset="2"/>
              </a:rPr>
              <a:t>’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900" baseline="30000" dirty="0">
                <a:sym typeface="Symbol" panose="05050102010706020507" pitchFamily="18" charset="2"/>
              </a:rPr>
              <a:t>	</a:t>
            </a:r>
            <a:r>
              <a:rPr lang="en-US" sz="2900" dirty="0">
                <a:sym typeface="Symbol" panose="05050102010706020507" pitchFamily="18" charset="2"/>
              </a:rPr>
              <a:t>S</a:t>
            </a:r>
            <a:r>
              <a:rPr lang="en-US" sz="2900" baseline="30000" dirty="0">
                <a:sym typeface="Symbol" panose="05050102010706020507" pitchFamily="18" charset="2"/>
              </a:rPr>
              <a:t>’ </a:t>
            </a:r>
            <a:r>
              <a:rPr lang="en-US" sz="2900" dirty="0">
                <a:sym typeface="Symbol" panose="05050102010706020507" pitchFamily="18" charset="2"/>
              </a:rPr>
              <a:t> </a:t>
            </a:r>
            <a:r>
              <a:rPr lang="en-US" sz="2900" dirty="0" err="1">
                <a:sym typeface="Symbol" panose="05050102010706020507" pitchFamily="18" charset="2"/>
              </a:rPr>
              <a:t>dA</a:t>
            </a:r>
            <a:r>
              <a:rPr lang="en-US" sz="2900" baseline="30000" dirty="0" err="1">
                <a:sym typeface="Symbol" panose="05050102010706020507" pitchFamily="18" charset="2"/>
              </a:rPr>
              <a:t>’</a:t>
            </a:r>
            <a:r>
              <a:rPr lang="en-US" sz="2900" dirty="0" err="1">
                <a:sym typeface="Symbol" panose="05050102010706020507" pitchFamily="18" charset="2"/>
              </a:rPr>
              <a:t>aS</a:t>
            </a:r>
            <a:r>
              <a:rPr lang="en-US" sz="2900" dirty="0">
                <a:sym typeface="Symbol" panose="05050102010706020507" pitchFamily="18" charset="2"/>
              </a:rPr>
              <a:t>’  |  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900" dirty="0">
                <a:sym typeface="Symbol" panose="05050102010706020507" pitchFamily="18" charset="2"/>
              </a:rPr>
              <a:t>	A  </a:t>
            </a:r>
            <a:r>
              <a:rPr lang="en-US" sz="2900" dirty="0" err="1">
                <a:sym typeface="Symbol" panose="05050102010706020507" pitchFamily="18" charset="2"/>
              </a:rPr>
              <a:t>SdA</a:t>
            </a:r>
            <a:r>
              <a:rPr lang="en-US" sz="2900" baseline="30000" dirty="0">
                <a:sym typeface="Symbol" panose="05050102010706020507" pitchFamily="18" charset="2"/>
              </a:rPr>
              <a:t>’</a:t>
            </a:r>
            <a:r>
              <a:rPr lang="en-US" sz="2900" dirty="0">
                <a:sym typeface="Symbol" panose="05050102010706020507" pitchFamily="18" charset="2"/>
              </a:rPr>
              <a:t> | </a:t>
            </a:r>
            <a:r>
              <a:rPr lang="en-US" sz="2900" dirty="0" err="1">
                <a:sym typeface="Symbol" panose="05050102010706020507" pitchFamily="18" charset="2"/>
              </a:rPr>
              <a:t>fA</a:t>
            </a:r>
            <a:r>
              <a:rPr lang="en-US" sz="2900" baseline="30000" dirty="0">
                <a:sym typeface="Symbol" panose="05050102010706020507" pitchFamily="18" charset="2"/>
              </a:rPr>
              <a:t>’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900" baseline="30000" dirty="0">
                <a:sym typeface="Symbol" panose="05050102010706020507" pitchFamily="18" charset="2"/>
              </a:rPr>
              <a:t>	</a:t>
            </a:r>
            <a:r>
              <a:rPr lang="en-US" sz="2900" dirty="0">
                <a:sym typeface="Symbol" panose="05050102010706020507" pitchFamily="18" charset="2"/>
              </a:rPr>
              <a:t>A</a:t>
            </a:r>
            <a:r>
              <a:rPr lang="en-US" sz="2900" baseline="30000" dirty="0">
                <a:sym typeface="Symbol" panose="05050102010706020507" pitchFamily="18" charset="2"/>
              </a:rPr>
              <a:t>’ </a:t>
            </a:r>
            <a:r>
              <a:rPr lang="en-US" sz="2900" dirty="0">
                <a:sym typeface="Symbol" panose="05050102010706020507" pitchFamily="18" charset="2"/>
              </a:rPr>
              <a:t> </a:t>
            </a:r>
            <a:r>
              <a:rPr lang="en-US" sz="2900" dirty="0" err="1">
                <a:sym typeface="Symbol" panose="05050102010706020507" pitchFamily="18" charset="2"/>
              </a:rPr>
              <a:t>cA</a:t>
            </a:r>
            <a:r>
              <a:rPr lang="en-US" sz="2900" baseline="30000" dirty="0">
                <a:sym typeface="Symbol" panose="05050102010706020507" pitchFamily="18" charset="2"/>
              </a:rPr>
              <a:t>’  </a:t>
            </a:r>
            <a:r>
              <a:rPr lang="en-US" sz="2900" dirty="0">
                <a:sym typeface="Symbol" panose="05050102010706020507" pitchFamily="18" charset="2"/>
              </a:rPr>
              <a:t>| 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Left-Factoring</a:t>
            </a:r>
          </a:p>
        </p:txBody>
      </p:sp>
      <p:sp>
        <p:nvSpPr>
          <p:cNvPr id="25606" name="Date Placeholder 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6F32C6BB-BE04-4F9F-B483-64A98F1BFC66}" type="datetime1">
              <a:rPr lang="en-US"/>
              <a:t>10/30/2025</a:t>
            </a:fld>
            <a:endParaRPr lang="en-US"/>
          </a:p>
        </p:txBody>
      </p:sp>
      <p:sp>
        <p:nvSpPr>
          <p:cNvPr id="25602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2560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D3F9B90-4C32-4B9E-953E-1B22F57F0939}" type="slidenum">
              <a:rPr lang="en-US"/>
              <a:t>32</a:t>
            </a:fld>
            <a:endParaRPr lang="en-US"/>
          </a:p>
        </p:txBody>
      </p:sp>
      <p:sp>
        <p:nvSpPr>
          <p:cNvPr id="2560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predictive parser (a top-down parser without backtracking) insists  that the grammar must be </a:t>
            </a:r>
            <a:r>
              <a:rPr lang="en-US" i="1" dirty="0"/>
              <a:t>left-factored</a:t>
            </a:r>
            <a:r>
              <a:rPr lang="en-US" dirty="0"/>
              <a:t>.</a:t>
            </a:r>
          </a:p>
          <a:p>
            <a:pPr>
              <a:buFontTx/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>
              <a:buFontTx/>
              <a:buNone/>
            </a:pPr>
            <a:r>
              <a:rPr lang="en-US" dirty="0">
                <a:sym typeface="Wingdings" panose="05000000000000000000" pitchFamily="2" charset="2"/>
              </a:rPr>
              <a:t>	stmt </a:t>
            </a:r>
            <a:r>
              <a:rPr lang="en-US" dirty="0">
                <a:sym typeface="Symbol" panose="05050102010706020507" pitchFamily="18" charset="2"/>
              </a:rPr>
              <a:t> 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if</a:t>
            </a:r>
            <a:r>
              <a:rPr lang="en-US" dirty="0">
                <a:sym typeface="Symbol" panose="05050102010706020507" pitchFamily="18" charset="2"/>
              </a:rPr>
              <a:t>  </a:t>
            </a:r>
            <a:r>
              <a:rPr lang="en-US" dirty="0" err="1">
                <a:sym typeface="Symbol" panose="05050102010706020507" pitchFamily="18" charset="2"/>
              </a:rPr>
              <a:t>expr</a:t>
            </a:r>
            <a:r>
              <a:rPr lang="en-US" dirty="0">
                <a:sym typeface="Symbol" panose="05050102010706020507" pitchFamily="18" charset="2"/>
              </a:rPr>
              <a:t>  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then</a:t>
            </a:r>
            <a:r>
              <a:rPr lang="en-US" dirty="0">
                <a:sym typeface="Symbol" panose="05050102010706020507" pitchFamily="18" charset="2"/>
              </a:rPr>
              <a:t>  stmt  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else</a:t>
            </a:r>
            <a:r>
              <a:rPr lang="en-US" dirty="0">
                <a:sym typeface="Symbol" panose="05050102010706020507" pitchFamily="18" charset="2"/>
              </a:rPr>
              <a:t>  stmt    |</a:t>
            </a: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		 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if</a:t>
            </a:r>
            <a:r>
              <a:rPr lang="en-US" dirty="0">
                <a:sym typeface="Symbol" panose="05050102010706020507" pitchFamily="18" charset="2"/>
              </a:rPr>
              <a:t>  </a:t>
            </a:r>
            <a:r>
              <a:rPr lang="en-US" dirty="0" err="1">
                <a:sym typeface="Symbol" panose="05050102010706020507" pitchFamily="18" charset="2"/>
              </a:rPr>
              <a:t>expr</a:t>
            </a:r>
            <a:r>
              <a:rPr lang="en-US" dirty="0">
                <a:sym typeface="Symbol" panose="05050102010706020507" pitchFamily="18" charset="2"/>
              </a:rPr>
              <a:t>  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then</a:t>
            </a:r>
            <a:r>
              <a:rPr lang="en-US" dirty="0">
                <a:sym typeface="Symbol" panose="05050102010706020507" pitchFamily="18" charset="2"/>
              </a:rPr>
              <a:t>  stmt </a:t>
            </a:r>
          </a:p>
          <a:p>
            <a:pPr>
              <a:buFontTx/>
              <a:buNone/>
            </a:pPr>
            <a:endParaRPr lang="en-US" dirty="0">
              <a:sym typeface="Symbol" panose="05050102010706020507" pitchFamily="18" charset="2"/>
            </a:endParaRPr>
          </a:p>
          <a:p>
            <a:r>
              <a:rPr lang="en-US" dirty="0"/>
              <a:t>when we see  </a:t>
            </a:r>
            <a:r>
              <a:rPr lang="en-US" dirty="0">
                <a:latin typeface="Courier New" panose="02070309020205020404" pitchFamily="49" charset="0"/>
              </a:rPr>
              <a:t>if</a:t>
            </a:r>
            <a:r>
              <a:rPr lang="en-US" dirty="0"/>
              <a:t>, we cannot know which production rule to choose to  re-write </a:t>
            </a:r>
            <a:r>
              <a:rPr lang="en-US" i="1" dirty="0"/>
              <a:t>stmt</a:t>
            </a:r>
            <a:r>
              <a:rPr lang="en-US" dirty="0"/>
              <a:t> in the derivation.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Left-Factoring (cont.)</a:t>
            </a:r>
          </a:p>
        </p:txBody>
      </p:sp>
      <p:sp>
        <p:nvSpPr>
          <p:cNvPr id="26630" name="Date Placeholder 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609001E9-62A5-4E61-BD39-BBE7F6B4086F}" type="datetime1">
              <a:rPr lang="en-US"/>
              <a:t>10/30/2025</a:t>
            </a:fld>
            <a:endParaRPr lang="en-US"/>
          </a:p>
        </p:txBody>
      </p:sp>
      <p:sp>
        <p:nvSpPr>
          <p:cNvPr id="26626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2662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D604F05-F0B8-47D4-9592-9C6D0CE41552}" type="slidenum">
              <a:rPr lang="en-US"/>
              <a:t>33</a:t>
            </a:fld>
            <a:endParaRPr lang="en-US"/>
          </a:p>
        </p:txBody>
      </p:sp>
      <p:sp>
        <p:nvSpPr>
          <p:cNvPr id="2662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 general,</a:t>
            </a:r>
          </a:p>
          <a:p>
            <a:endParaRPr lang="en-US" sz="800" dirty="0"/>
          </a:p>
          <a:p>
            <a:pPr>
              <a:buFontTx/>
              <a:buNone/>
            </a:pPr>
            <a:r>
              <a:rPr lang="en-US" dirty="0"/>
              <a:t>	A </a:t>
            </a:r>
            <a:r>
              <a:rPr lang="en-US" dirty="0">
                <a:sym typeface="Symbol" panose="05050102010706020507" pitchFamily="18" charset="2"/>
              </a:rPr>
              <a:t>  </a:t>
            </a:r>
            <a:r>
              <a:rPr lang="en-US" baseline="-25000" dirty="0">
                <a:sym typeface="Symbol" panose="05050102010706020507" pitchFamily="18" charset="2"/>
              </a:rPr>
              <a:t>1</a:t>
            </a:r>
            <a:r>
              <a:rPr lang="en-US" dirty="0">
                <a:sym typeface="Symbol" panose="05050102010706020507" pitchFamily="18" charset="2"/>
              </a:rPr>
              <a:t>  |   </a:t>
            </a:r>
            <a:r>
              <a:rPr lang="en-US" baseline="-25000" dirty="0">
                <a:sym typeface="Symbol" panose="05050102010706020507" pitchFamily="18" charset="2"/>
              </a:rPr>
              <a:t>2</a:t>
            </a:r>
            <a:r>
              <a:rPr lang="en-US" dirty="0">
                <a:sym typeface="Symbol" panose="05050102010706020507" pitchFamily="18" charset="2"/>
              </a:rPr>
              <a:t> 	</a:t>
            </a: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	where  is non-empty and the first  symbols of </a:t>
            </a:r>
            <a:r>
              <a:rPr lang="en-US" baseline="-25000" dirty="0">
                <a:sym typeface="Symbol" panose="05050102010706020507" pitchFamily="18" charset="2"/>
              </a:rPr>
              <a:t>1</a:t>
            </a:r>
            <a:r>
              <a:rPr lang="en-US" dirty="0">
                <a:sym typeface="Symbol" panose="05050102010706020507" pitchFamily="18" charset="2"/>
              </a:rPr>
              <a:t> and </a:t>
            </a:r>
            <a:r>
              <a:rPr lang="en-US" baseline="-25000" dirty="0">
                <a:sym typeface="Symbol" panose="05050102010706020507" pitchFamily="18" charset="2"/>
              </a:rPr>
              <a:t>2</a:t>
            </a:r>
            <a:r>
              <a:rPr lang="en-US" dirty="0">
                <a:sym typeface="Symbol" panose="05050102010706020507" pitchFamily="18" charset="2"/>
              </a:rPr>
              <a:t> (if they have one)are different.</a:t>
            </a:r>
          </a:p>
          <a:p>
            <a:pPr>
              <a:buFontTx/>
              <a:buNone/>
            </a:pPr>
            <a:endParaRPr lang="en-US" sz="800" dirty="0">
              <a:sym typeface="Symbol" panose="05050102010706020507" pitchFamily="18" charset="2"/>
            </a:endParaRPr>
          </a:p>
          <a:p>
            <a:r>
              <a:rPr lang="en-US" dirty="0">
                <a:sym typeface="Symbol" panose="05050102010706020507" pitchFamily="18" charset="2"/>
              </a:rPr>
              <a:t>when processing  we cannot know whether expand </a:t>
            </a: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		A to </a:t>
            </a:r>
            <a:r>
              <a:rPr lang="en-US" baseline="-25000" dirty="0">
                <a:sym typeface="Symbol" panose="05050102010706020507" pitchFamily="18" charset="2"/>
              </a:rPr>
              <a:t>1</a:t>
            </a:r>
            <a:r>
              <a:rPr lang="en-US" dirty="0">
                <a:sym typeface="Symbol" panose="05050102010706020507" pitchFamily="18" charset="2"/>
              </a:rPr>
              <a:t>    or     A to </a:t>
            </a:r>
            <a:r>
              <a:rPr lang="en-US" baseline="-25000" dirty="0">
                <a:sym typeface="Symbol" panose="05050102010706020507" pitchFamily="18" charset="2"/>
              </a:rPr>
              <a:t>2</a:t>
            </a:r>
            <a:r>
              <a:rPr lang="en-US" dirty="0">
                <a:sym typeface="Symbol" panose="05050102010706020507" pitchFamily="18" charset="2"/>
              </a:rPr>
              <a:t> </a:t>
            </a:r>
          </a:p>
          <a:p>
            <a:pPr>
              <a:buFontTx/>
              <a:buNone/>
            </a:pPr>
            <a:endParaRPr lang="en-US" dirty="0">
              <a:sym typeface="Symbol" panose="05050102010706020507" pitchFamily="18" charset="2"/>
            </a:endParaRPr>
          </a:p>
          <a:p>
            <a:r>
              <a:rPr lang="en-US" dirty="0">
                <a:sym typeface="Symbol" panose="05050102010706020507" pitchFamily="18" charset="2"/>
              </a:rPr>
              <a:t>But, if we re-write the grammar as follows</a:t>
            </a: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		 </a:t>
            </a:r>
            <a:r>
              <a:rPr lang="en-US" dirty="0"/>
              <a:t>A </a:t>
            </a:r>
            <a:r>
              <a:rPr lang="en-US" dirty="0">
                <a:sym typeface="Symbol" panose="05050102010706020507" pitchFamily="18" charset="2"/>
              </a:rPr>
              <a:t>  A</a:t>
            </a:r>
            <a:r>
              <a:rPr lang="en-US" sz="2800" baseline="30000" dirty="0">
                <a:latin typeface="Times New Roman" panose="02020603050405020304" charset="0"/>
                <a:sym typeface="Symbol" panose="05050102010706020507"/>
              </a:rPr>
              <a:t> </a:t>
            </a:r>
            <a:endParaRPr lang="en-US" baseline="30000" dirty="0">
              <a:sym typeface="Symbol" panose="05050102010706020507" pitchFamily="18" charset="2"/>
            </a:endParaRPr>
          </a:p>
          <a:p>
            <a:pPr>
              <a:buNone/>
            </a:pPr>
            <a:r>
              <a:rPr lang="en-US" baseline="30000" dirty="0">
                <a:sym typeface="Symbol" panose="05050102010706020507" pitchFamily="18" charset="2"/>
              </a:rPr>
              <a:t>		 </a:t>
            </a:r>
            <a:r>
              <a:rPr lang="en-US" dirty="0">
                <a:sym typeface="Symbol" panose="05050102010706020507" pitchFamily="18" charset="2"/>
              </a:rPr>
              <a:t>A</a:t>
            </a:r>
            <a:r>
              <a:rPr lang="en-US" sz="2400" baseline="30000" dirty="0">
                <a:latin typeface="Times New Roman" panose="02020603050405020304" charset="0"/>
                <a:sym typeface="Symbol" panose="05050102010706020507"/>
              </a:rPr>
              <a:t></a:t>
            </a:r>
            <a:r>
              <a:rPr lang="en-US" dirty="0">
                <a:sym typeface="Symbol" panose="05050102010706020507" pitchFamily="18" charset="2"/>
              </a:rPr>
              <a:t>  </a:t>
            </a:r>
            <a:r>
              <a:rPr lang="en-US" baseline="-25000" dirty="0">
                <a:sym typeface="Symbol" panose="05050102010706020507" pitchFamily="18" charset="2"/>
              </a:rPr>
              <a:t>1</a:t>
            </a:r>
            <a:r>
              <a:rPr lang="en-US" dirty="0">
                <a:sym typeface="Symbol" panose="05050102010706020507" pitchFamily="18" charset="2"/>
              </a:rPr>
              <a:t>  |   </a:t>
            </a:r>
            <a:r>
              <a:rPr lang="en-US" baseline="-25000" dirty="0">
                <a:sym typeface="Symbol" panose="05050102010706020507" pitchFamily="18" charset="2"/>
              </a:rPr>
              <a:t>2</a:t>
            </a:r>
            <a:r>
              <a:rPr lang="en-US" dirty="0">
                <a:sym typeface="Symbol" panose="05050102010706020507" pitchFamily="18" charset="2"/>
              </a:rPr>
              <a:t> 	</a:t>
            </a: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	so, we can immediately expand A to A</a:t>
            </a:r>
            <a:r>
              <a:rPr lang="en-US" sz="2800" baseline="30000" dirty="0">
                <a:latin typeface="Times New Roman" panose="02020603050405020304" charset="0"/>
                <a:sym typeface="Symbol" panose="05050102010706020507"/>
              </a:rPr>
              <a:t> </a:t>
            </a:r>
            <a:endParaRPr lang="en-US" baseline="300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Left-Factoring -- Algorithm </a:t>
            </a:r>
          </a:p>
        </p:txBody>
      </p:sp>
      <p:sp>
        <p:nvSpPr>
          <p:cNvPr id="27654" name="Date Placeholder 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C93BDC2-09E5-4412-A0BF-D0E37AC5E2A6}" type="datetime1">
              <a:rPr lang="en-US"/>
              <a:t>10/30/2025</a:t>
            </a:fld>
            <a:endParaRPr lang="en-US"/>
          </a:p>
        </p:txBody>
      </p:sp>
      <p:sp>
        <p:nvSpPr>
          <p:cNvPr id="27650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2765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6D1BF66F-BA7F-4D5D-8EC9-534F2BB78EBA}" type="slidenum">
              <a:rPr lang="en-US"/>
              <a:t>34</a:t>
            </a:fld>
            <a:endParaRPr lang="en-US"/>
          </a:p>
        </p:txBody>
      </p:sp>
      <p:sp>
        <p:nvSpPr>
          <p:cNvPr id="2765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each non-terminal A with two or more alternatives (production rules) with a common non-empty prefix, </a:t>
            </a:r>
          </a:p>
          <a:p>
            <a:endParaRPr lang="en-US" sz="800" dirty="0"/>
          </a:p>
          <a:p>
            <a:pPr>
              <a:buFontTx/>
              <a:buNone/>
            </a:pPr>
            <a:r>
              <a:rPr lang="en-US" dirty="0"/>
              <a:t>		 A </a:t>
            </a:r>
            <a:r>
              <a:rPr lang="en-US" dirty="0">
                <a:sym typeface="Symbol" panose="05050102010706020507" pitchFamily="18" charset="2"/>
              </a:rPr>
              <a:t>  </a:t>
            </a:r>
            <a:r>
              <a:rPr lang="en-US" baseline="-25000" dirty="0">
                <a:sym typeface="Symbol" panose="05050102010706020507" pitchFamily="18" charset="2"/>
              </a:rPr>
              <a:t>1</a:t>
            </a:r>
            <a:r>
              <a:rPr lang="en-US" dirty="0">
                <a:sym typeface="Symbol" panose="05050102010706020507" pitchFamily="18" charset="2"/>
              </a:rPr>
              <a:t> | ... | </a:t>
            </a:r>
            <a:r>
              <a:rPr lang="en-US" baseline="-25000" dirty="0">
                <a:sym typeface="Symbol" panose="05050102010706020507" pitchFamily="18" charset="2"/>
              </a:rPr>
              <a:t>n </a:t>
            </a:r>
            <a:r>
              <a:rPr lang="en-US" dirty="0">
                <a:sym typeface="Symbol" panose="05050102010706020507" pitchFamily="18" charset="2"/>
              </a:rPr>
              <a:t> |  </a:t>
            </a:r>
            <a:r>
              <a:rPr lang="en-US" baseline="-25000" dirty="0">
                <a:sym typeface="Symbol" panose="05050102010706020507" pitchFamily="18" charset="2"/>
              </a:rPr>
              <a:t>1</a:t>
            </a:r>
            <a:r>
              <a:rPr lang="en-US" dirty="0">
                <a:sym typeface="Symbol" panose="05050102010706020507" pitchFamily="18" charset="2"/>
              </a:rPr>
              <a:t> | ... | </a:t>
            </a:r>
            <a:r>
              <a:rPr lang="en-US" baseline="-25000" dirty="0">
                <a:sym typeface="Symbol" panose="05050102010706020507" pitchFamily="18" charset="2"/>
              </a:rPr>
              <a:t>m</a:t>
            </a:r>
            <a:r>
              <a:rPr lang="en-US" dirty="0">
                <a:sym typeface="Symbol" panose="05050102010706020507" pitchFamily="18" charset="2"/>
              </a:rPr>
              <a:t> </a:t>
            </a:r>
          </a:p>
          <a:p>
            <a:pPr>
              <a:buFontTx/>
              <a:buNone/>
            </a:pPr>
            <a:endParaRPr lang="en-US" dirty="0"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	convert it into</a:t>
            </a:r>
          </a:p>
          <a:p>
            <a:pPr>
              <a:buFontTx/>
              <a:buNone/>
            </a:pPr>
            <a:endParaRPr lang="en-US" dirty="0"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		</a:t>
            </a:r>
            <a:r>
              <a:rPr lang="en-US" dirty="0"/>
              <a:t>A </a:t>
            </a:r>
            <a:r>
              <a:rPr lang="en-US" dirty="0">
                <a:sym typeface="Symbol" panose="05050102010706020507" pitchFamily="18" charset="2"/>
              </a:rPr>
              <a:t>  A</a:t>
            </a:r>
            <a:r>
              <a:rPr lang="en-US" sz="2800" baseline="30000" dirty="0">
                <a:latin typeface="Times New Roman" panose="02020603050405020304" charset="0"/>
                <a:sym typeface="Symbol" panose="05050102010706020507"/>
              </a:rPr>
              <a:t></a:t>
            </a:r>
            <a:r>
              <a:rPr lang="en-US" dirty="0">
                <a:sym typeface="Symbol" panose="05050102010706020507" pitchFamily="18" charset="2"/>
              </a:rPr>
              <a:t> |  </a:t>
            </a:r>
            <a:r>
              <a:rPr lang="en-US" baseline="-25000" dirty="0">
                <a:sym typeface="Symbol" panose="05050102010706020507" pitchFamily="18" charset="2"/>
              </a:rPr>
              <a:t>1</a:t>
            </a:r>
            <a:r>
              <a:rPr lang="en-US" dirty="0">
                <a:sym typeface="Symbol" panose="05050102010706020507" pitchFamily="18" charset="2"/>
              </a:rPr>
              <a:t> | ... | </a:t>
            </a:r>
            <a:r>
              <a:rPr lang="en-US" baseline="-25000" dirty="0">
                <a:sym typeface="Symbol" panose="05050102010706020507" pitchFamily="18" charset="2"/>
              </a:rPr>
              <a:t>m</a:t>
            </a:r>
            <a:r>
              <a:rPr lang="en-US" dirty="0">
                <a:sym typeface="Symbol" panose="05050102010706020507" pitchFamily="18" charset="2"/>
              </a:rPr>
              <a:t> </a:t>
            </a: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		A</a:t>
            </a:r>
            <a:r>
              <a:rPr lang="en-US" baseline="30000" dirty="0">
                <a:sym typeface="Symbol" panose="05050102010706020507" pitchFamily="18" charset="2"/>
              </a:rPr>
              <a:t>’ </a:t>
            </a:r>
            <a:r>
              <a:rPr lang="en-US" dirty="0">
                <a:sym typeface="Symbol" panose="05050102010706020507" pitchFamily="18" charset="2"/>
              </a:rPr>
              <a:t> </a:t>
            </a:r>
            <a:r>
              <a:rPr lang="en-US" baseline="-25000" dirty="0">
                <a:sym typeface="Symbol" panose="05050102010706020507" pitchFamily="18" charset="2"/>
              </a:rPr>
              <a:t>1</a:t>
            </a:r>
            <a:r>
              <a:rPr lang="en-US" dirty="0">
                <a:sym typeface="Symbol" panose="05050102010706020507" pitchFamily="18" charset="2"/>
              </a:rPr>
              <a:t> | ... | </a:t>
            </a:r>
            <a:r>
              <a:rPr lang="en-US" baseline="-25000" dirty="0">
                <a:sym typeface="Symbol" panose="05050102010706020507" pitchFamily="18" charset="2"/>
              </a:rPr>
              <a:t>n </a:t>
            </a:r>
            <a:endParaRPr 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Left-Factoring </a:t>
            </a:r>
            <a:r>
              <a:rPr lang="en-US">
                <a:solidFill>
                  <a:schemeClr val="tx1"/>
                </a:solidFill>
              </a:rPr>
              <a:t>– Example 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678" name="Date Placeholder 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508B914-AE5C-455F-B5D0-11A560D386BD}" type="datetime1">
              <a:rPr lang="en-US"/>
              <a:t>10/30/2025</a:t>
            </a:fld>
            <a:endParaRPr lang="en-US"/>
          </a:p>
        </p:txBody>
      </p:sp>
      <p:sp>
        <p:nvSpPr>
          <p:cNvPr id="28674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2867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16CC59A3-394A-4D59-871A-3F02BC89BE33}" type="slidenum">
              <a:rPr lang="en-US"/>
              <a:t>35</a:t>
            </a:fld>
            <a:endParaRPr lang="en-US"/>
          </a:p>
        </p:txBody>
      </p:sp>
      <p:sp>
        <p:nvSpPr>
          <p:cNvPr id="2867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/>
              <a:t>A </a:t>
            </a:r>
            <a:r>
              <a:rPr lang="en-US">
                <a:sym typeface="Symbol" panose="05050102010706020507" pitchFamily="18" charset="2"/>
              </a:rPr>
              <a:t> </a:t>
            </a:r>
            <a:r>
              <a:rPr lang="en-US" u="sng">
                <a:sym typeface="Symbol" panose="05050102010706020507" pitchFamily="18" charset="2"/>
              </a:rPr>
              <a:t>a</a:t>
            </a:r>
            <a:r>
              <a:rPr lang="en-US">
                <a:sym typeface="Symbol" panose="05050102010706020507" pitchFamily="18" charset="2"/>
              </a:rPr>
              <a:t>bB | </a:t>
            </a:r>
            <a:r>
              <a:rPr lang="en-US" u="sng">
                <a:sym typeface="Symbol" panose="05050102010706020507" pitchFamily="18" charset="2"/>
              </a:rPr>
              <a:t>a</a:t>
            </a:r>
            <a:r>
              <a:rPr lang="en-US">
                <a:sym typeface="Symbol" panose="05050102010706020507" pitchFamily="18" charset="2"/>
              </a:rPr>
              <a:t>B | cdg | cdeB | cdfB</a:t>
            </a:r>
          </a:p>
          <a:p>
            <a:pPr>
              <a:buFontTx/>
              <a:buNone/>
            </a:pPr>
            <a:r>
              <a:rPr lang="en-US">
                <a:sym typeface="Symbol" panose="05050102010706020507" pitchFamily="18" charset="2"/>
              </a:rPr>
              <a:t>	</a:t>
            </a:r>
            <a:r>
              <a:rPr lang="en-US" sz="3600">
                <a:sym typeface="Symbol" panose="05050102010706020507" pitchFamily="18" charset="2"/>
              </a:rPr>
              <a:t></a:t>
            </a:r>
          </a:p>
          <a:p>
            <a:pPr>
              <a:buFontTx/>
              <a:buNone/>
            </a:pPr>
            <a:r>
              <a:rPr lang="en-US">
                <a:sym typeface="Symbol" panose="05050102010706020507" pitchFamily="18" charset="2"/>
              </a:rPr>
              <a:t>A  aA</a:t>
            </a:r>
            <a:r>
              <a:rPr lang="en-US">
                <a:sym typeface="Symbol" panose="05050102010706020507"/>
              </a:rPr>
              <a:t></a:t>
            </a:r>
            <a:r>
              <a:rPr lang="en-US">
                <a:sym typeface="Symbol" panose="05050102010706020507" pitchFamily="18" charset="2"/>
              </a:rPr>
              <a:t> | </a:t>
            </a:r>
            <a:r>
              <a:rPr lang="en-US" u="sng">
                <a:sym typeface="Symbol" panose="05050102010706020507" pitchFamily="18" charset="2"/>
              </a:rPr>
              <a:t>cd</a:t>
            </a:r>
            <a:r>
              <a:rPr lang="en-US">
                <a:sym typeface="Symbol" panose="05050102010706020507" pitchFamily="18" charset="2"/>
              </a:rPr>
              <a:t>g | </a:t>
            </a:r>
            <a:r>
              <a:rPr lang="en-US" u="sng">
                <a:sym typeface="Symbol" panose="05050102010706020507" pitchFamily="18" charset="2"/>
              </a:rPr>
              <a:t>cd</a:t>
            </a:r>
            <a:r>
              <a:rPr lang="en-US">
                <a:sym typeface="Symbol" panose="05050102010706020507" pitchFamily="18" charset="2"/>
              </a:rPr>
              <a:t>eB | </a:t>
            </a:r>
            <a:r>
              <a:rPr lang="en-US" u="sng">
                <a:sym typeface="Symbol" panose="05050102010706020507" pitchFamily="18" charset="2"/>
              </a:rPr>
              <a:t>cd</a:t>
            </a:r>
            <a:r>
              <a:rPr lang="en-US">
                <a:sym typeface="Symbol" panose="05050102010706020507" pitchFamily="18" charset="2"/>
              </a:rPr>
              <a:t>fB</a:t>
            </a:r>
          </a:p>
          <a:p>
            <a:pPr>
              <a:buFontTx/>
              <a:buNone/>
            </a:pPr>
            <a:r>
              <a:rPr lang="en-US">
                <a:sym typeface="Symbol" panose="05050102010706020507" pitchFamily="18" charset="2"/>
              </a:rPr>
              <a:t>A</a:t>
            </a:r>
            <a:r>
              <a:rPr lang="en-US">
                <a:sym typeface="Symbol" panose="05050102010706020507"/>
              </a:rPr>
              <a:t></a:t>
            </a:r>
            <a:r>
              <a:rPr lang="en-US">
                <a:sym typeface="Symbol" panose="05050102010706020507" pitchFamily="18" charset="2"/>
              </a:rPr>
              <a:t>  bB | B</a:t>
            </a:r>
          </a:p>
          <a:p>
            <a:pPr>
              <a:buFontTx/>
              <a:buNone/>
            </a:pPr>
            <a:r>
              <a:rPr lang="en-US">
                <a:sym typeface="Symbol" panose="05050102010706020507" pitchFamily="18" charset="2"/>
              </a:rPr>
              <a:t>	</a:t>
            </a:r>
            <a:r>
              <a:rPr lang="en-US" sz="3600">
                <a:sym typeface="Symbol" panose="05050102010706020507" pitchFamily="18" charset="2"/>
              </a:rPr>
              <a:t></a:t>
            </a:r>
            <a:endParaRPr lang="en-US"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>
                <a:sym typeface="Symbol" panose="05050102010706020507" pitchFamily="18" charset="2"/>
              </a:rPr>
              <a:t>A  aA</a:t>
            </a:r>
            <a:r>
              <a:rPr lang="en-US">
                <a:sym typeface="Symbol" panose="05050102010706020507"/>
              </a:rPr>
              <a:t></a:t>
            </a:r>
            <a:r>
              <a:rPr lang="en-US">
                <a:sym typeface="Symbol" panose="05050102010706020507" pitchFamily="18" charset="2"/>
              </a:rPr>
              <a:t> | cdA</a:t>
            </a:r>
            <a:r>
              <a:rPr lang="en-US">
                <a:sym typeface="Symbol" panose="05050102010706020507"/>
              </a:rPr>
              <a:t></a:t>
            </a:r>
            <a:endParaRPr lang="en-US" baseline="30000"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>
                <a:sym typeface="Symbol" panose="05050102010706020507" pitchFamily="18" charset="2"/>
              </a:rPr>
              <a:t>A</a:t>
            </a:r>
            <a:r>
              <a:rPr lang="en-US">
                <a:sym typeface="Symbol" panose="05050102010706020507"/>
              </a:rPr>
              <a:t></a:t>
            </a:r>
            <a:r>
              <a:rPr lang="en-US">
                <a:sym typeface="Symbol" panose="05050102010706020507" pitchFamily="18" charset="2"/>
              </a:rPr>
              <a:t>  bB | B</a:t>
            </a:r>
          </a:p>
          <a:p>
            <a:pPr>
              <a:buFontTx/>
              <a:buNone/>
            </a:pPr>
            <a:r>
              <a:rPr lang="en-US">
                <a:sym typeface="Symbol" panose="05050102010706020507" pitchFamily="18" charset="2"/>
              </a:rPr>
              <a:t>A</a:t>
            </a:r>
            <a:r>
              <a:rPr lang="en-US">
                <a:sym typeface="Symbol" panose="05050102010706020507"/>
              </a:rPr>
              <a:t></a:t>
            </a:r>
            <a:r>
              <a:rPr lang="en-US" baseline="30000">
                <a:sym typeface="Symbol" panose="05050102010706020507" pitchFamily="18" charset="2"/>
              </a:rPr>
              <a:t> </a:t>
            </a:r>
            <a:r>
              <a:rPr lang="en-US">
                <a:sym typeface="Symbol" panose="05050102010706020507" pitchFamily="18" charset="2"/>
              </a:rPr>
              <a:t> g | eB | fB</a:t>
            </a:r>
          </a:p>
          <a:p>
            <a:pPr>
              <a:buFontTx/>
              <a:buNone/>
            </a:pPr>
            <a:endParaRPr lang="en-US">
              <a:sym typeface="Symbol" panose="05050102010706020507" pitchFamily="18" charset="2"/>
            </a:endParaRPr>
          </a:p>
          <a:p>
            <a:pPr>
              <a:buFontTx/>
              <a:buNone/>
            </a:pPr>
            <a:endParaRPr lang="en-US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Left-Factoring </a:t>
            </a:r>
            <a:r>
              <a:rPr lang="en-US">
                <a:solidFill>
                  <a:schemeClr val="tx1"/>
                </a:solidFill>
              </a:rPr>
              <a:t>– Example 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702" name="Date Placeholder 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B15EC3D-C852-46D4-959E-53A0551AFCB4}" type="datetime1">
              <a:rPr lang="en-US"/>
              <a:t>10/30/2025</a:t>
            </a:fld>
            <a:endParaRPr lang="en-US"/>
          </a:p>
        </p:txBody>
      </p:sp>
      <p:sp>
        <p:nvSpPr>
          <p:cNvPr id="29698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2969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E477F468-57CB-4FF0-9AC7-2D58C5255E80}" type="slidenum">
              <a:rPr lang="en-US"/>
              <a:t>36</a:t>
            </a:fld>
            <a:endParaRPr lang="en-US"/>
          </a:p>
        </p:txBody>
      </p:sp>
      <p:sp>
        <p:nvSpPr>
          <p:cNvPr id="2970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/>
              <a:t>A </a:t>
            </a:r>
            <a:r>
              <a:rPr lang="en-US">
                <a:sym typeface="Symbol" panose="05050102010706020507" pitchFamily="18" charset="2"/>
              </a:rPr>
              <a:t> ad | a | ab | abc | b			</a:t>
            </a:r>
          </a:p>
          <a:p>
            <a:pPr>
              <a:buFontTx/>
              <a:buNone/>
            </a:pPr>
            <a:r>
              <a:rPr lang="en-US">
                <a:sym typeface="Symbol" panose="05050102010706020507" pitchFamily="18" charset="2"/>
              </a:rPr>
              <a:t>		 </a:t>
            </a:r>
            <a:r>
              <a:rPr lang="en-US" sz="3600">
                <a:sym typeface="Symbol" panose="05050102010706020507" pitchFamily="18" charset="2"/>
              </a:rPr>
              <a:t></a:t>
            </a:r>
            <a:endParaRPr lang="en-US"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/>
              <a:t>A </a:t>
            </a:r>
            <a:r>
              <a:rPr lang="en-US">
                <a:sym typeface="Symbol" panose="05050102010706020507" pitchFamily="18" charset="2"/>
              </a:rPr>
              <a:t> aA</a:t>
            </a:r>
            <a:r>
              <a:rPr lang="en-US">
                <a:sym typeface="Symbol" panose="05050102010706020507"/>
              </a:rPr>
              <a:t></a:t>
            </a:r>
            <a:r>
              <a:rPr lang="en-US">
                <a:sym typeface="Symbol" panose="05050102010706020507" pitchFamily="18" charset="2"/>
              </a:rPr>
              <a:t> | b					</a:t>
            </a:r>
          </a:p>
          <a:p>
            <a:pPr>
              <a:buFontTx/>
              <a:buNone/>
            </a:pPr>
            <a:r>
              <a:rPr lang="en-US">
                <a:sym typeface="Symbol" panose="05050102010706020507" pitchFamily="18" charset="2"/>
              </a:rPr>
              <a:t>A</a:t>
            </a:r>
            <a:r>
              <a:rPr lang="en-US">
                <a:sym typeface="Symbol" panose="05050102010706020507"/>
              </a:rPr>
              <a:t></a:t>
            </a:r>
            <a:r>
              <a:rPr lang="en-US">
                <a:sym typeface="Symbol" panose="05050102010706020507" pitchFamily="18" charset="2"/>
              </a:rPr>
              <a:t>  d |   | b | bc 				</a:t>
            </a:r>
          </a:p>
          <a:p>
            <a:pPr>
              <a:buFontTx/>
              <a:buNone/>
            </a:pPr>
            <a:r>
              <a:rPr lang="en-US">
                <a:sym typeface="Symbol" panose="05050102010706020507" pitchFamily="18" charset="2"/>
              </a:rPr>
              <a:t>		 </a:t>
            </a:r>
            <a:r>
              <a:rPr lang="en-US" sz="3600">
                <a:sym typeface="Symbol" panose="05050102010706020507" pitchFamily="18" charset="2"/>
              </a:rPr>
              <a:t></a:t>
            </a:r>
            <a:endParaRPr lang="en-US"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/>
              <a:t>A </a:t>
            </a:r>
            <a:r>
              <a:rPr lang="en-US">
                <a:sym typeface="Symbol" panose="05050102010706020507" pitchFamily="18" charset="2"/>
              </a:rPr>
              <a:t> aA</a:t>
            </a:r>
            <a:r>
              <a:rPr lang="en-US">
                <a:sym typeface="Symbol" panose="05050102010706020507"/>
              </a:rPr>
              <a:t></a:t>
            </a:r>
            <a:r>
              <a:rPr lang="en-US">
                <a:sym typeface="Symbol" panose="05050102010706020507" pitchFamily="18" charset="2"/>
              </a:rPr>
              <a:t> | b					</a:t>
            </a:r>
          </a:p>
          <a:p>
            <a:pPr>
              <a:buFontTx/>
              <a:buNone/>
            </a:pPr>
            <a:r>
              <a:rPr lang="en-US">
                <a:sym typeface="Symbol" panose="05050102010706020507" pitchFamily="18" charset="2"/>
              </a:rPr>
              <a:t>A</a:t>
            </a:r>
            <a:r>
              <a:rPr lang="en-US">
                <a:sym typeface="Symbol" panose="05050102010706020507"/>
              </a:rPr>
              <a:t></a:t>
            </a:r>
            <a:r>
              <a:rPr lang="en-US">
                <a:sym typeface="Symbol" panose="05050102010706020507" pitchFamily="18" charset="2"/>
              </a:rPr>
              <a:t>  d |   | bA</a:t>
            </a:r>
            <a:r>
              <a:rPr lang="en-US">
                <a:sym typeface="Symbol" panose="05050102010706020507"/>
              </a:rPr>
              <a:t></a:t>
            </a:r>
            <a:r>
              <a:rPr lang="en-US">
                <a:sym typeface="Symbol" panose="05050102010706020507" pitchFamily="18" charset="2"/>
              </a:rPr>
              <a:t>				</a:t>
            </a:r>
          </a:p>
          <a:p>
            <a:pPr>
              <a:buFontTx/>
              <a:buNone/>
            </a:pPr>
            <a:r>
              <a:rPr lang="en-US">
                <a:sym typeface="Symbol" panose="05050102010706020507" pitchFamily="18" charset="2"/>
              </a:rPr>
              <a:t>A</a:t>
            </a:r>
            <a:r>
              <a:rPr lang="en-US">
                <a:sym typeface="Symbol" panose="05050102010706020507"/>
              </a:rPr>
              <a:t></a:t>
            </a:r>
            <a:r>
              <a:rPr lang="en-US">
                <a:sym typeface="Symbol" panose="05050102010706020507" pitchFamily="18" charset="2"/>
              </a:rPr>
              <a:t>    | c					</a:t>
            </a:r>
          </a:p>
          <a:p>
            <a:pPr>
              <a:buFontTx/>
              <a:buNone/>
            </a:pPr>
            <a:endParaRPr lang="en-US">
              <a:sym typeface="Symbol" panose="05050102010706020507" pitchFamily="18" charset="2"/>
            </a:endParaRPr>
          </a:p>
          <a:p>
            <a:pPr>
              <a:buFontTx/>
              <a:buNone/>
            </a:pPr>
            <a:endParaRPr lang="en-US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057400"/>
            <a:ext cx="8077200" cy="1219200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en-US" sz="4800" b="1" dirty="0">
                <a:solidFill>
                  <a:schemeClr val="tx1"/>
                </a:solidFill>
                <a:latin typeface="+mn-lt"/>
              </a:rPr>
              <a:t>Syntax Analysis</a:t>
            </a:r>
          </a:p>
        </p:txBody>
      </p:sp>
      <p:sp>
        <p:nvSpPr>
          <p:cNvPr id="307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026FD60-F092-4190-B331-9840380FBE71}" type="datetime1">
              <a:rPr lang="en-US">
                <a:latin typeface="Arial" panose="020B0604020202020204" pitchFamily="34" charset="0"/>
              </a:rPr>
              <a:t>10/30/2025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07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Arial" panose="020B0604020202020204" pitchFamily="34" charset="0"/>
              </a:rPr>
              <a:t>Md Zahim Hassan, BAUST</a:t>
            </a:r>
          </a:p>
        </p:txBody>
      </p:sp>
      <p:sp>
        <p:nvSpPr>
          <p:cNvPr id="307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E96DA8DC-BF72-4030-82CD-5BDDC1EA7C12}" type="slidenum">
              <a:rPr lang="en-US">
                <a:latin typeface="Arial" panose="020B0604020202020204" pitchFamily="34" charset="0"/>
              </a:rPr>
              <a:t>37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33600" y="3429000"/>
            <a:ext cx="487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Part II</a:t>
            </a: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Phases of a Compiler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3352800" y="1514475"/>
            <a:ext cx="2138363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i="0" dirty="0"/>
              <a:t>Source program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3276600" y="2200275"/>
            <a:ext cx="2211388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/>
          <a:p>
            <a:r>
              <a:rPr lang="en-US" i="0" dirty="0"/>
              <a:t>Lexical analyzer</a:t>
            </a: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3276600" y="2886075"/>
            <a:ext cx="21463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/>
          <a:p>
            <a:r>
              <a:rPr lang="en-US" i="0" dirty="0"/>
              <a:t>Syntax analyzer</a:t>
            </a: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3200400" y="3571875"/>
            <a:ext cx="243205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/>
          <a:p>
            <a:r>
              <a:rPr lang="en-US" i="0"/>
              <a:t>Semantic analyzer</a:t>
            </a: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2667000" y="4257675"/>
            <a:ext cx="36068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/>
          <a:p>
            <a:r>
              <a:rPr lang="en-US" i="0" dirty="0"/>
              <a:t>Intermediate code generator</a:t>
            </a: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3352800" y="5019675"/>
            <a:ext cx="2078038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/>
          <a:p>
            <a:r>
              <a:rPr lang="en-US" i="0"/>
              <a:t>Code optimizer</a:t>
            </a:r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3352800" y="5934075"/>
            <a:ext cx="2062163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/>
          <a:p>
            <a:r>
              <a:rPr lang="en-US" i="0"/>
              <a:t>Code generator</a:t>
            </a:r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914400" y="3190875"/>
            <a:ext cx="1808163" cy="831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/>
          <a:p>
            <a:r>
              <a:rPr lang="en-US" i="0"/>
              <a:t>Symbol table</a:t>
            </a:r>
          </a:p>
          <a:p>
            <a:r>
              <a:rPr lang="en-US" i="0"/>
              <a:t>manager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6308725" y="3460750"/>
            <a:ext cx="1825625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/>
          <a:p>
            <a:r>
              <a:rPr lang="en-US" i="0"/>
              <a:t>Error handler</a:t>
            </a:r>
          </a:p>
        </p:txBody>
      </p:sp>
      <p:sp>
        <p:nvSpPr>
          <p:cNvPr id="15" name="Line 12"/>
          <p:cNvSpPr>
            <a:spLocks noChangeShapeType="1"/>
          </p:cNvSpPr>
          <p:nvPr/>
        </p:nvSpPr>
        <p:spPr bwMode="auto">
          <a:xfrm>
            <a:off x="4343400" y="1971675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Line 13"/>
          <p:cNvSpPr>
            <a:spLocks noChangeShapeType="1"/>
          </p:cNvSpPr>
          <p:nvPr/>
        </p:nvSpPr>
        <p:spPr bwMode="auto">
          <a:xfrm>
            <a:off x="4343400" y="26574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Line 14"/>
          <p:cNvSpPr>
            <a:spLocks noChangeShapeType="1"/>
          </p:cNvSpPr>
          <p:nvPr/>
        </p:nvSpPr>
        <p:spPr bwMode="auto">
          <a:xfrm>
            <a:off x="4343400" y="33432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Line 15"/>
          <p:cNvSpPr>
            <a:spLocks noChangeShapeType="1"/>
          </p:cNvSpPr>
          <p:nvPr/>
        </p:nvSpPr>
        <p:spPr bwMode="auto">
          <a:xfrm>
            <a:off x="4343400" y="4105275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Line 16"/>
          <p:cNvSpPr>
            <a:spLocks noChangeShapeType="1"/>
          </p:cNvSpPr>
          <p:nvPr/>
        </p:nvSpPr>
        <p:spPr bwMode="auto">
          <a:xfrm>
            <a:off x="4343400" y="4714875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Line 17"/>
          <p:cNvSpPr>
            <a:spLocks noChangeShapeType="1"/>
          </p:cNvSpPr>
          <p:nvPr/>
        </p:nvSpPr>
        <p:spPr bwMode="auto">
          <a:xfrm>
            <a:off x="4343400" y="5553075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Hexagon 22"/>
          <p:cNvSpPr/>
          <p:nvPr/>
        </p:nvSpPr>
        <p:spPr>
          <a:xfrm>
            <a:off x="2895600" y="2667000"/>
            <a:ext cx="2971800" cy="838200"/>
          </a:xfrm>
          <a:prstGeom prst="hexagon">
            <a:avLst/>
          </a:prstGeom>
          <a:solidFill>
            <a:srgbClr val="002060">
              <a:alpha val="12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A318-DCBA-4447-84B4-B53354073B57}" type="datetime1">
              <a:rPr lang="en-US"/>
              <a:t>10/30/2025</a:t>
            </a:fld>
            <a:endParaRPr lang="en-US"/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939CF-315A-4CB2-A4B7-D4A9C8153E95}" type="slidenum">
              <a:rPr lang="en-US"/>
              <a:t>38</a:t>
            </a:fld>
            <a:endParaRPr lang="en-US"/>
          </a:p>
        </p:txBody>
      </p:sp>
      <p:sp>
        <p:nvSpPr>
          <p:cNvPr id="26" name="Footer Placeholder 2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3" grpId="1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Top-Down Parsing</a:t>
            </a:r>
          </a:p>
        </p:txBody>
      </p:sp>
      <p:sp>
        <p:nvSpPr>
          <p:cNvPr id="31750" name="Date Placeholder 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51A2AA82-F888-4112-8143-7EACB514D893}" type="datetime1">
              <a:rPr lang="en-US"/>
              <a:t>10/30/2025</a:t>
            </a:fld>
            <a:endParaRPr lang="en-US"/>
          </a:p>
        </p:txBody>
      </p:sp>
      <p:sp>
        <p:nvSpPr>
          <p:cNvPr id="31746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3174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DFC7A0B-FFB6-4391-B5F8-EF81B2B6E454}" type="slidenum">
              <a:rPr lang="en-US"/>
              <a:t>39</a:t>
            </a:fld>
            <a:endParaRPr lang="en-US"/>
          </a:p>
        </p:txBody>
      </p:sp>
      <p:sp>
        <p:nvSpPr>
          <p:cNvPr id="3174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parse tree is created top to bottom.</a:t>
            </a:r>
          </a:p>
          <a:p>
            <a:r>
              <a:rPr lang="en-US" dirty="0"/>
              <a:t>Top-down parser</a:t>
            </a:r>
          </a:p>
          <a:p>
            <a:pPr lvl="1"/>
            <a:r>
              <a:rPr lang="en-US" dirty="0"/>
              <a:t>Recursive-Descent Parsing</a:t>
            </a:r>
          </a:p>
          <a:p>
            <a:pPr lvl="2"/>
            <a:r>
              <a:rPr lang="en-US" dirty="0"/>
              <a:t>Backtracking is needed </a:t>
            </a:r>
          </a:p>
          <a:p>
            <a:pPr lvl="3"/>
            <a:r>
              <a:rPr lang="en-US" dirty="0"/>
              <a:t>If a choice of a production rule does not work, we backtrack to try other alternatives.</a:t>
            </a:r>
          </a:p>
          <a:p>
            <a:pPr lvl="2"/>
            <a:r>
              <a:rPr lang="en-US" dirty="0"/>
              <a:t>It is a general parsing technique, but not widely used.</a:t>
            </a:r>
          </a:p>
          <a:p>
            <a:pPr lvl="2"/>
            <a:r>
              <a:rPr lang="en-US" dirty="0"/>
              <a:t>Not efficient</a:t>
            </a:r>
          </a:p>
          <a:p>
            <a:pPr lvl="1"/>
            <a:r>
              <a:rPr lang="en-US" dirty="0"/>
              <a:t>Predictive Parsing</a:t>
            </a:r>
          </a:p>
          <a:p>
            <a:pPr lvl="2"/>
            <a:r>
              <a:rPr lang="en-US" dirty="0"/>
              <a:t>no backtracking </a:t>
            </a:r>
          </a:p>
          <a:p>
            <a:pPr lvl="2"/>
            <a:r>
              <a:rPr lang="en-US" dirty="0"/>
              <a:t>efficient</a:t>
            </a:r>
          </a:p>
          <a:p>
            <a:pPr lvl="2"/>
            <a:r>
              <a:rPr lang="en-US" dirty="0"/>
              <a:t>needs a special form of grammars (LL(1) grammars). (</a:t>
            </a:r>
            <a:r>
              <a:rPr lang="en-US" b="1" dirty="0"/>
              <a:t>LL</a:t>
            </a:r>
            <a:r>
              <a:rPr lang="en-US" dirty="0"/>
              <a:t>- </a:t>
            </a:r>
            <a:r>
              <a:rPr lang="en-US" b="1" dirty="0"/>
              <a:t>L</a:t>
            </a:r>
            <a:r>
              <a:rPr lang="en-US" dirty="0"/>
              <a:t>eft to right scan, </a:t>
            </a:r>
            <a:r>
              <a:rPr lang="en-US" b="1" dirty="0"/>
              <a:t>L</a:t>
            </a:r>
            <a:r>
              <a:rPr lang="en-US" dirty="0"/>
              <a:t>eft derivation )</a:t>
            </a:r>
          </a:p>
          <a:p>
            <a:pPr lvl="2"/>
            <a:r>
              <a:rPr lang="en-US" dirty="0"/>
              <a:t>Non-Recursive (Table Driven) Predictive Parser is also known as LL(1) parser. 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Top-Down Parsing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E6BBE3-C0A4-428F-9EBC-4C99FFE6CD45}" type="datetime1">
              <a:rPr lang="en-US"/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Md Zahim Hassan, BAUST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3E84DD-8F10-4A46-8A7D-909DFC9ACC0C}" type="slidenum">
              <a:rPr lang="en-US"/>
              <a:t>40</a:t>
            </a:fld>
            <a:endParaRPr lang="en-US"/>
          </a:p>
        </p:txBody>
      </p:sp>
      <p:pic>
        <p:nvPicPr>
          <p:cNvPr id="1026" name="Picture 2" descr="E:\ISBCL\1ST@SUST\pic\icon_drop.jpg"/>
          <p:cNvPicPr>
            <a:picLocks noChangeAspect="1" noChangeArrowheads="1"/>
          </p:cNvPicPr>
          <p:nvPr/>
        </p:nvPicPr>
        <p:blipFill>
          <a:blip r:embed="rId2"/>
          <a:srcRect l="2326" t="4669" r="2326" b="3502"/>
          <a:stretch>
            <a:fillRect/>
          </a:stretch>
        </p:blipFill>
        <p:spPr bwMode="auto">
          <a:xfrm>
            <a:off x="1219200" y="1600200"/>
            <a:ext cx="6688810" cy="4648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Predictive Parser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E6BBE3-C0A4-428F-9EBC-4C99FFE6CD45}" type="datetime1">
              <a:rPr lang="en-US"/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Md Zahim Hassan, BAUST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3E84DD-8F10-4A46-8A7D-909DFC9ACC0C}" type="slidenum">
              <a:rPr lang="en-US"/>
              <a:t>41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grammar  </a:t>
            </a:r>
          </a:p>
          <a:p>
            <a:pPr lvl="1"/>
            <a:r>
              <a:rPr lang="en-US">
                <a:sym typeface="Wingdings" panose="05000000000000000000" pitchFamily="2" charset="2"/>
              </a:rPr>
              <a:t>Eliminate </a:t>
            </a:r>
            <a:r>
              <a:rPr lang="en-US" dirty="0">
                <a:sym typeface="Wingdings" panose="05000000000000000000" pitchFamily="2" charset="2"/>
              </a:rPr>
              <a:t>ambiguity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eliminate left recursion  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 left factor 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suitable for predictive parsing (LL(1))</a:t>
            </a:r>
          </a:p>
          <a:p>
            <a:pPr>
              <a:lnSpc>
                <a:spcPct val="90000"/>
              </a:lnSpc>
            </a:pPr>
            <a:endParaRPr lang="en-US" dirty="0">
              <a:sym typeface="Wingdings" panose="05000000000000000000" pitchFamily="2" charset="2"/>
            </a:endParaRPr>
          </a:p>
          <a:p>
            <a:pPr>
              <a:lnSpc>
                <a:spcPct val="90000"/>
              </a:lnSpc>
            </a:pPr>
            <a:endParaRPr lang="en-US" dirty="0">
              <a:sym typeface="Wingdings" panose="05000000000000000000" pitchFamily="2" charset="2"/>
            </a:endParaRPr>
          </a:p>
          <a:p>
            <a:pPr>
              <a:lnSpc>
                <a:spcPct val="90000"/>
              </a:lnSpc>
            </a:pPr>
            <a:r>
              <a:rPr lang="en-US" dirty="0">
                <a:sym typeface="Wingdings" panose="05000000000000000000" pitchFamily="2" charset="2"/>
              </a:rPr>
              <a:t>Given the input symbol a, the non terminal A to be expand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>
                <a:sym typeface="Wingdings" panose="05000000000000000000" pitchFamily="2" charset="2"/>
              </a:rPr>
              <a:t>            	A </a:t>
            </a:r>
            <a:r>
              <a:rPr lang="en-US" dirty="0">
                <a:sym typeface="Symbol" panose="05050102010706020507" pitchFamily="18" charset="2"/>
              </a:rPr>
              <a:t> </a:t>
            </a:r>
            <a:r>
              <a:rPr lang="en-US" baseline="-25000" dirty="0">
                <a:sym typeface="Symbol" panose="05050102010706020507" pitchFamily="18" charset="2"/>
              </a:rPr>
              <a:t>1</a:t>
            </a:r>
            <a:r>
              <a:rPr lang="en-US" dirty="0">
                <a:sym typeface="Symbol" panose="05050102010706020507" pitchFamily="18" charset="2"/>
              </a:rPr>
              <a:t> | ... | </a:t>
            </a:r>
            <a:r>
              <a:rPr lang="en-US" baseline="-25000" dirty="0">
                <a:sym typeface="Symbol" panose="05050102010706020507" pitchFamily="18" charset="2"/>
              </a:rPr>
              <a:t>n</a:t>
            </a:r>
            <a:r>
              <a:rPr lang="en-US" dirty="0">
                <a:sym typeface="Symbol" panose="05050102010706020507" pitchFamily="18" charset="2"/>
              </a:rPr>
              <a:t> 	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    will be the unique alternatives with first symbol a.	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E8E7-3D51-4381-B61B-281277677682}" type="slidenum">
              <a:rPr lang="en-US" altLang="zh-TW"/>
              <a:t>42</a:t>
            </a:fld>
            <a:endParaRPr lang="en-US" altLang="zh-TW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</a:rPr>
              <a:t>LL(</a:t>
            </a:r>
            <a:r>
              <a:rPr lang="en-US" altLang="zh-TW" i="1" dirty="0">
                <a:solidFill>
                  <a:schemeClr val="tx1"/>
                </a:solidFill>
              </a:rPr>
              <a:t>k</a:t>
            </a:r>
            <a:r>
              <a:rPr lang="en-US" altLang="zh-TW" dirty="0">
                <a:solidFill>
                  <a:schemeClr val="tx1"/>
                </a:solidFill>
              </a:rPr>
              <a:t>) Parsing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676400"/>
            <a:ext cx="7543800" cy="4114800"/>
          </a:xfrm>
          <a:noFill/>
        </p:spPr>
        <p:txBody>
          <a:bodyPr/>
          <a:lstStyle/>
          <a:p>
            <a:pPr>
              <a:lnSpc>
                <a:spcPct val="90000"/>
              </a:lnSpc>
              <a:buNone/>
            </a:pPr>
            <a:r>
              <a:rPr lang="en-US" altLang="zh-TW" dirty="0"/>
              <a:t>The first </a:t>
            </a:r>
            <a:r>
              <a:rPr lang="en-US" altLang="zh-TW" dirty="0">
                <a:solidFill>
                  <a:srgbClr val="FF3399"/>
                </a:solidFill>
              </a:rPr>
              <a:t>L</a:t>
            </a:r>
            <a:r>
              <a:rPr lang="en-US" altLang="zh-TW" dirty="0"/>
              <a:t> stands for scanning the input from </a:t>
            </a:r>
            <a:r>
              <a:rPr lang="en-US" altLang="zh-TW" i="1" dirty="0">
                <a:solidFill>
                  <a:srgbClr val="FF3399"/>
                </a:solidFill>
              </a:rPr>
              <a:t>left</a:t>
            </a:r>
            <a:r>
              <a:rPr lang="en-US" altLang="zh-TW" dirty="0">
                <a:solidFill>
                  <a:srgbClr val="FF3399"/>
                </a:solidFill>
              </a:rPr>
              <a:t> to right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dirty="0"/>
              <a:t>The second </a:t>
            </a:r>
            <a:r>
              <a:rPr lang="en-US" altLang="zh-TW" dirty="0">
                <a:solidFill>
                  <a:srgbClr val="FF3399"/>
                </a:solidFill>
              </a:rPr>
              <a:t>L</a:t>
            </a:r>
            <a:r>
              <a:rPr lang="en-US" altLang="zh-TW" dirty="0"/>
              <a:t> stands for producing a </a:t>
            </a:r>
            <a:r>
              <a:rPr lang="en-US" altLang="zh-TW" i="1" dirty="0">
                <a:solidFill>
                  <a:srgbClr val="FF3399"/>
                </a:solidFill>
              </a:rPr>
              <a:t>leftmost</a:t>
            </a:r>
            <a:r>
              <a:rPr lang="en-US" altLang="zh-TW" dirty="0">
                <a:solidFill>
                  <a:srgbClr val="FF3399"/>
                </a:solidFill>
              </a:rPr>
              <a:t> derivation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dirty="0"/>
              <a:t>The </a:t>
            </a:r>
            <a:r>
              <a:rPr lang="en-US" altLang="zh-TW" i="1" dirty="0">
                <a:solidFill>
                  <a:srgbClr val="FF3399"/>
                </a:solidFill>
              </a:rPr>
              <a:t>k</a:t>
            </a:r>
            <a:r>
              <a:rPr lang="en-US" altLang="zh-TW" dirty="0"/>
              <a:t> stands for the number of </a:t>
            </a:r>
            <a:r>
              <a:rPr lang="en-US" altLang="zh-TW" dirty="0">
                <a:solidFill>
                  <a:schemeClr val="accent2"/>
                </a:solidFill>
              </a:rPr>
              <a:t>input symbols</a:t>
            </a:r>
            <a:r>
              <a:rPr lang="en-US" altLang="zh-TW" dirty="0"/>
              <a:t> for </a:t>
            </a:r>
            <a:r>
              <a:rPr lang="en-US" altLang="zh-TW" i="1" dirty="0">
                <a:solidFill>
                  <a:srgbClr val="FF3399"/>
                </a:solidFill>
              </a:rPr>
              <a:t>look ahead </a:t>
            </a:r>
            <a:r>
              <a:rPr lang="en-US" altLang="zh-TW" dirty="0"/>
              <a:t>used to choose alternative productions at each derivation step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E6BBE3-C0A4-428F-9EBC-4C99FFE6CD45}" type="datetime1">
              <a:rPr lang="en-US"/>
              <a:t>10/30/2025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Md Zahim Hassan, BAUST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Non-Recursive Predictive Parsing -- LL(1) Parser</a:t>
            </a:r>
          </a:p>
        </p:txBody>
      </p:sp>
      <p:sp>
        <p:nvSpPr>
          <p:cNvPr id="39946" name="Date Placeholder 10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923FCF9-BFE1-4F7A-AFD4-8E695DDC186E}" type="datetime1">
              <a:rPr lang="en-US"/>
              <a:t>10/30/2025</a:t>
            </a:fld>
            <a:endParaRPr lang="en-US" dirty="0"/>
          </a:p>
        </p:txBody>
      </p:sp>
      <p:sp>
        <p:nvSpPr>
          <p:cNvPr id="39938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3993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0D98784-D9AD-4F38-B4B0-D0F8C98EF401}" type="slidenum">
              <a:rPr lang="en-US"/>
              <a:t>43</a:t>
            </a:fld>
            <a:endParaRPr lang="en-US"/>
          </a:p>
        </p:txBody>
      </p:sp>
      <p:sp>
        <p:nvSpPr>
          <p:cNvPr id="3994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Non-Recursive predictive parsing is a table-driven parser.</a:t>
            </a:r>
          </a:p>
          <a:p>
            <a:r>
              <a:rPr lang="en-US" dirty="0"/>
              <a:t>It is a top-down parser.</a:t>
            </a:r>
          </a:p>
          <a:p>
            <a:r>
              <a:rPr lang="en-US" dirty="0"/>
              <a:t>It is also known as LL(1) Parser.</a:t>
            </a:r>
          </a:p>
          <a:p>
            <a:endParaRPr lang="en-US" dirty="0"/>
          </a:p>
          <a:p>
            <a:pPr>
              <a:buFontTx/>
              <a:buNone/>
            </a:pPr>
            <a:r>
              <a:rPr lang="en-US" dirty="0"/>
              <a:t>				input buffer</a:t>
            </a:r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r>
              <a:rPr lang="en-US" dirty="0"/>
              <a:t>	stack		Non-recursive 			output</a:t>
            </a:r>
          </a:p>
          <a:p>
            <a:pPr>
              <a:buFontTx/>
              <a:buNone/>
            </a:pPr>
            <a:r>
              <a:rPr lang="en-US" dirty="0"/>
              <a:t>				Predictive Parser</a:t>
            </a:r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r>
              <a:rPr lang="en-US" dirty="0"/>
              <a:t>				Parsing Table</a:t>
            </a:r>
          </a:p>
        </p:txBody>
      </p:sp>
      <p:sp>
        <p:nvSpPr>
          <p:cNvPr id="39942" name="Line 5"/>
          <p:cNvSpPr>
            <a:spLocks noChangeShapeType="1"/>
          </p:cNvSpPr>
          <p:nvPr/>
        </p:nvSpPr>
        <p:spPr bwMode="auto">
          <a:xfrm>
            <a:off x="1547813" y="4267200"/>
            <a:ext cx="1336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9943" name="Line 6"/>
          <p:cNvSpPr>
            <a:spLocks noChangeShapeType="1"/>
          </p:cNvSpPr>
          <p:nvPr/>
        </p:nvSpPr>
        <p:spPr bwMode="auto">
          <a:xfrm>
            <a:off x="3810000" y="350837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9944" name="Line 7"/>
          <p:cNvSpPr>
            <a:spLocks noChangeShapeType="1"/>
          </p:cNvSpPr>
          <p:nvPr/>
        </p:nvSpPr>
        <p:spPr bwMode="auto">
          <a:xfrm>
            <a:off x="3886200" y="4800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9945" name="Line 8"/>
          <p:cNvSpPr>
            <a:spLocks noChangeShapeType="1"/>
          </p:cNvSpPr>
          <p:nvPr/>
        </p:nvSpPr>
        <p:spPr bwMode="auto">
          <a:xfrm>
            <a:off x="5715000" y="4343400"/>
            <a:ext cx="1406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4AD70-D2CD-416F-AA40-DC063854557C}" type="slidenum">
              <a:rPr lang="en-US" altLang="zh-TW"/>
              <a:t>44</a:t>
            </a:fld>
            <a:endParaRPr lang="en-US" altLang="zh-TW"/>
          </a:p>
        </p:txBody>
      </p:sp>
      <p:sp>
        <p:nvSpPr>
          <p:cNvPr id="25293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228600"/>
            <a:ext cx="7772400" cy="838200"/>
          </a:xfrm>
          <a:noFill/>
        </p:spPr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</a:rPr>
              <a:t>Non recursive Predictive Parsing </a:t>
            </a:r>
          </a:p>
        </p:txBody>
      </p:sp>
      <p:sp>
        <p:nvSpPr>
          <p:cNvPr id="252931" name="Rectangle 3"/>
          <p:cNvSpPr>
            <a:spLocks noChangeArrowheads="1"/>
          </p:cNvSpPr>
          <p:nvPr/>
        </p:nvSpPr>
        <p:spPr bwMode="auto">
          <a:xfrm>
            <a:off x="3429000" y="3581400"/>
            <a:ext cx="2235200" cy="914400"/>
          </a:xfrm>
          <a:prstGeom prst="rect">
            <a:avLst/>
          </a:prstGeom>
          <a:noFill/>
          <a:ln w="508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52932" name="Rectangle 4"/>
          <p:cNvSpPr>
            <a:spLocks noChangeArrowheads="1"/>
          </p:cNvSpPr>
          <p:nvPr/>
        </p:nvSpPr>
        <p:spPr bwMode="auto">
          <a:xfrm>
            <a:off x="3429000" y="3657600"/>
            <a:ext cx="2109552" cy="92397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2075" tIns="46038" rIns="92075" bIns="46038">
            <a:spAutoFit/>
          </a:bodyPr>
          <a:lstStyle/>
          <a:p>
            <a:pPr defTabSz="762000"/>
            <a:r>
              <a:rPr lang="en-US" altLang="zh-TW" dirty="0"/>
              <a:t>Predictive Parsing </a:t>
            </a:r>
          </a:p>
          <a:p>
            <a:pPr defTabSz="762000"/>
            <a:r>
              <a:rPr lang="en-US" altLang="zh-TW" dirty="0"/>
              <a:t>Program</a:t>
            </a:r>
          </a:p>
          <a:p>
            <a:pPr defTabSz="762000"/>
            <a:endParaRPr lang="en-US" altLang="zh-TW" dirty="0"/>
          </a:p>
        </p:txBody>
      </p:sp>
      <p:sp>
        <p:nvSpPr>
          <p:cNvPr id="252933" name="Rectangle 5"/>
          <p:cNvSpPr>
            <a:spLocks noChangeArrowheads="1"/>
          </p:cNvSpPr>
          <p:nvPr/>
        </p:nvSpPr>
        <p:spPr bwMode="auto">
          <a:xfrm>
            <a:off x="3454400" y="5130800"/>
            <a:ext cx="2235200" cy="635000"/>
          </a:xfrm>
          <a:prstGeom prst="rect">
            <a:avLst/>
          </a:prstGeom>
          <a:noFill/>
          <a:ln w="508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52934" name="Rectangle 6"/>
          <p:cNvSpPr>
            <a:spLocks noChangeArrowheads="1"/>
          </p:cNvSpPr>
          <p:nvPr/>
        </p:nvSpPr>
        <p:spPr bwMode="auto">
          <a:xfrm>
            <a:off x="3641725" y="5260975"/>
            <a:ext cx="16954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2075" tIns="46038" rIns="92075" bIns="46038">
            <a:spAutoFit/>
          </a:bodyPr>
          <a:lstStyle/>
          <a:p>
            <a:pPr defTabSz="762000"/>
            <a:r>
              <a:rPr lang="en-US" altLang="zh-TW"/>
              <a:t>Parsing table</a:t>
            </a:r>
          </a:p>
        </p:txBody>
      </p:sp>
      <p:sp>
        <p:nvSpPr>
          <p:cNvPr id="252935" name="Line 7"/>
          <p:cNvSpPr>
            <a:spLocks noChangeShapeType="1"/>
          </p:cNvSpPr>
          <p:nvPr/>
        </p:nvSpPr>
        <p:spPr bwMode="auto">
          <a:xfrm>
            <a:off x="4495800" y="2514600"/>
            <a:ext cx="0" cy="10668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stealth" w="med" len="lg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52936" name="Line 8"/>
          <p:cNvSpPr>
            <a:spLocks noChangeShapeType="1"/>
          </p:cNvSpPr>
          <p:nvPr/>
        </p:nvSpPr>
        <p:spPr bwMode="auto">
          <a:xfrm>
            <a:off x="2362200" y="3962400"/>
            <a:ext cx="10668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stealth" w="med" len="lg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52937" name="Line 9"/>
          <p:cNvSpPr>
            <a:spLocks noChangeShapeType="1"/>
          </p:cNvSpPr>
          <p:nvPr/>
        </p:nvSpPr>
        <p:spPr bwMode="auto">
          <a:xfrm>
            <a:off x="5715000" y="3962400"/>
            <a:ext cx="10668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52938" name="Rectangle 10"/>
          <p:cNvSpPr>
            <a:spLocks noChangeArrowheads="1"/>
          </p:cNvSpPr>
          <p:nvPr/>
        </p:nvSpPr>
        <p:spPr bwMode="auto">
          <a:xfrm>
            <a:off x="5791200" y="2590800"/>
            <a:ext cx="84137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2075" tIns="46038" rIns="92075" bIns="46038">
            <a:spAutoFit/>
          </a:bodyPr>
          <a:lstStyle/>
          <a:p>
            <a:pPr defTabSz="762000"/>
            <a:r>
              <a:rPr lang="en-US" altLang="zh-TW" dirty="0"/>
              <a:t>Input</a:t>
            </a:r>
          </a:p>
        </p:txBody>
      </p:sp>
      <p:sp>
        <p:nvSpPr>
          <p:cNvPr id="252939" name="Rectangle 11"/>
          <p:cNvSpPr>
            <a:spLocks noChangeArrowheads="1"/>
          </p:cNvSpPr>
          <p:nvPr/>
        </p:nvSpPr>
        <p:spPr bwMode="auto">
          <a:xfrm>
            <a:off x="6918325" y="3736975"/>
            <a:ext cx="10541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2075" tIns="46038" rIns="92075" bIns="46038">
            <a:spAutoFit/>
          </a:bodyPr>
          <a:lstStyle/>
          <a:p>
            <a:pPr defTabSz="762000"/>
            <a:r>
              <a:rPr lang="en-US" altLang="zh-TW"/>
              <a:t>Output</a:t>
            </a:r>
          </a:p>
        </p:txBody>
      </p:sp>
      <p:sp>
        <p:nvSpPr>
          <p:cNvPr id="252940" name="Rectangle 12"/>
          <p:cNvSpPr>
            <a:spLocks noChangeArrowheads="1"/>
          </p:cNvSpPr>
          <p:nvPr/>
        </p:nvSpPr>
        <p:spPr bwMode="auto">
          <a:xfrm>
            <a:off x="457200" y="3962400"/>
            <a:ext cx="86042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2075" tIns="46038" rIns="92075" bIns="46038">
            <a:spAutoFit/>
          </a:bodyPr>
          <a:lstStyle/>
          <a:p>
            <a:pPr defTabSz="762000"/>
            <a:r>
              <a:rPr lang="en-US" altLang="zh-TW" dirty="0"/>
              <a:t>Stack</a:t>
            </a:r>
          </a:p>
        </p:txBody>
      </p:sp>
      <p:sp>
        <p:nvSpPr>
          <p:cNvPr id="252941" name="Line 13"/>
          <p:cNvSpPr>
            <a:spLocks noChangeShapeType="1"/>
          </p:cNvSpPr>
          <p:nvPr/>
        </p:nvSpPr>
        <p:spPr bwMode="auto">
          <a:xfrm>
            <a:off x="4495800" y="4495800"/>
            <a:ext cx="0" cy="6096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52944" name="Group 16"/>
          <p:cNvGraphicFramePr>
            <a:graphicFrameLocks noGrp="1"/>
          </p:cNvGraphicFramePr>
          <p:nvPr>
            <p:ph idx="1"/>
          </p:nvPr>
        </p:nvGraphicFramePr>
        <p:xfrm>
          <a:off x="1904683" y="3352867"/>
          <a:ext cx="504825" cy="2682173"/>
        </p:xfrm>
        <a:graphic>
          <a:graphicData uri="http://schemas.openxmlformats.org/drawingml/2006/table">
            <a:tbl>
              <a:tblPr/>
              <a:tblGrid>
                <a:gridCol w="504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9989">
                <a:tc>
                  <a:txBody>
                    <a:bodyPr/>
                    <a:lstStyle/>
                    <a:p>
                      <a:pPr marL="0" marR="0" lvl="0" indent="0" algn="l" defTabSz="7620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Times New Roman" panose="02020603050405020304" pitchFamily="18" charset="0"/>
                          <a:ea typeface="PMingLiU" pitchFamily="18" charset="-120"/>
                        </a:rPr>
                        <a:t>X</a:t>
                      </a:r>
                      <a:endParaRPr kumimoji="1" lang="en-US" altLang="zh-TW" sz="2000" b="0" i="0" u="none" strike="noStrike" cap="none" normalizeH="0" baseline="-25000" dirty="0">
                        <a:ln>
                          <a:noFill/>
                        </a:ln>
                        <a:solidFill>
                          <a:srgbClr val="FF00FF"/>
                        </a:solidFill>
                        <a:effectLst/>
                        <a:latin typeface="Times New Roman" panose="02020603050405020304" pitchFamily="18" charset="0"/>
                        <a:ea typeface="PMingLiU" pitchFamily="18" charset="-12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l" defTabSz="7620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PMingLiU" pitchFamily="18" charset="-120"/>
                        </a:rPr>
                        <a:t>Y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090">
                <a:tc>
                  <a:txBody>
                    <a:bodyPr/>
                    <a:lstStyle/>
                    <a:p>
                      <a:pPr marL="0" marR="0" lvl="0" indent="0" algn="l" defTabSz="7620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PMingLiU" pitchFamily="18" charset="-120"/>
                        </a:rPr>
                        <a:t>Z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456">
                <a:tc>
                  <a:txBody>
                    <a:bodyPr/>
                    <a:lstStyle/>
                    <a:p>
                      <a:pPr marL="0" marR="0" lvl="0" indent="0" algn="l" defTabSz="7620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PMingLiU" pitchFamily="18" charset="-120"/>
                        </a:rPr>
                        <a:t>$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399">
                <a:tc>
                  <a:txBody>
                    <a:bodyPr/>
                    <a:lstStyle/>
                    <a:p>
                      <a:pPr marL="0" marR="0" lvl="0" indent="0" algn="l" defTabSz="7620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itchFamily="18" charset="-12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456">
                <a:tc>
                  <a:txBody>
                    <a:bodyPr/>
                    <a:lstStyle/>
                    <a:p>
                      <a:pPr marL="0" marR="0" lvl="0" indent="0" algn="l" defTabSz="7620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itchFamily="18" charset="-12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93">
                <a:tc>
                  <a:txBody>
                    <a:bodyPr/>
                    <a:lstStyle/>
                    <a:p>
                      <a:pPr marL="0" marR="0" lvl="0" indent="0" algn="l" defTabSz="7620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itchFamily="18" charset="-12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52963" name="Group 35"/>
          <p:cNvGraphicFramePr>
            <a:graphicFrameLocks noGrp="1"/>
          </p:cNvGraphicFramePr>
          <p:nvPr/>
        </p:nvGraphicFramePr>
        <p:xfrm>
          <a:off x="2743200" y="2060575"/>
          <a:ext cx="3455987" cy="396240"/>
        </p:xfrm>
        <a:graphic>
          <a:graphicData uri="http://schemas.openxmlformats.org/drawingml/2006/table">
            <a:tbl>
              <a:tblPr/>
              <a:tblGrid>
                <a:gridCol w="49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37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37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1625">
                <a:tc>
                  <a:txBody>
                    <a:bodyPr/>
                    <a:lstStyle/>
                    <a:p>
                      <a:pPr marL="0" marR="0" lvl="0" indent="0" algn="l" defTabSz="7620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PMingLiU" pitchFamily="18" charset="-12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20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PMingLiU" pitchFamily="18" charset="-12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20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PMingLiU" pitchFamily="18" charset="-12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20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PMingLiU" pitchFamily="18" charset="-12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20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PMingLiU" pitchFamily="18" charset="-12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20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PMingLiU" pitchFamily="18" charset="-120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20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PMingLiU" pitchFamily="18" charset="-120"/>
                        </a:rPr>
                        <a:t>$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62C8B-B14F-4D97-AF65-F5344CB8AC3E}" type="datetime1">
              <a:rPr lang="en-US" altLang="zh-TW"/>
              <a:t>10/30/2025</a:t>
            </a:fld>
            <a:endParaRPr lang="en-US" altLang="zh-TW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Md Zahim Hassan, BAUST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LL(1) Parser</a:t>
            </a:r>
          </a:p>
        </p:txBody>
      </p:sp>
      <p:sp>
        <p:nvSpPr>
          <p:cNvPr id="40966" name="Date Placeholder 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8B64F695-B947-4013-99AF-9B4BFEB31532}" type="datetime1">
              <a:rPr lang="en-US"/>
              <a:t>10/30/2025</a:t>
            </a:fld>
            <a:endParaRPr lang="en-US"/>
          </a:p>
        </p:txBody>
      </p:sp>
      <p:sp>
        <p:nvSpPr>
          <p:cNvPr id="40962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4096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7FF0CCD-1547-4617-A3CA-B8EE35092245}" type="slidenum">
              <a:rPr lang="en-US"/>
              <a:t>45</a:t>
            </a:fld>
            <a:endParaRPr lang="en-US"/>
          </a:p>
        </p:txBody>
      </p:sp>
      <p:sp>
        <p:nvSpPr>
          <p:cNvPr id="4096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000" b="1" dirty="0"/>
              <a:t>input buffer</a:t>
            </a:r>
            <a:r>
              <a:rPr lang="en-US" sz="2000" dirty="0"/>
              <a:t> 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</a:rPr>
              <a:t>our string to be parsed. We will assume that its end is marked with a special symbol $.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00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1" dirty="0"/>
              <a:t>output</a:t>
            </a:r>
            <a:r>
              <a:rPr lang="en-US" sz="2000" dirty="0"/>
              <a:t> 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</a:rPr>
              <a:t>a production rule representing a step of the derivation sequence (left-most derivation) of the string in the input buffer.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00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1" dirty="0"/>
              <a:t>stack</a:t>
            </a:r>
            <a:endParaRPr lang="en-US" sz="2000" dirty="0"/>
          </a:p>
          <a:p>
            <a:pPr lvl="1"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</a:rPr>
              <a:t>contains the grammar symbols 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</a:rPr>
              <a:t>at the bottom of the stack, there is a special end marker symbol $.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</a:rPr>
              <a:t>initially the stack contains only the symbol $ and the starting symbol S.    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</a:rPr>
              <a:t>when the stack is emptied (</a:t>
            </a:r>
            <a:r>
              <a:rPr lang="en-US" sz="2000" dirty="0" err="1">
                <a:solidFill>
                  <a:schemeClr val="tx1"/>
                </a:solidFill>
              </a:rPr>
              <a:t>ie</a:t>
            </a:r>
            <a:r>
              <a:rPr lang="en-US" sz="2000" dirty="0">
                <a:solidFill>
                  <a:schemeClr val="tx1"/>
                </a:solidFill>
              </a:rPr>
              <a:t>. only $ left in the stack), the parsing is completed.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LL(1) Parser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E6BBE3-C0A4-428F-9EBC-4C99FFE6CD45}" type="datetime1">
              <a:rPr lang="en-US"/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Md Zahim Hassan, BAUST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3E84DD-8F10-4A46-8A7D-909DFC9ACC0C}" type="slidenum">
              <a:rPr lang="en-US"/>
              <a:t>46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endParaRPr lang="en-US" sz="2000" b="1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b="1" dirty="0"/>
              <a:t>parsing table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a two-dimensional array M[</a:t>
            </a:r>
            <a:r>
              <a:rPr lang="en-US" sz="2400" dirty="0" err="1">
                <a:solidFill>
                  <a:schemeClr val="tx1"/>
                </a:solidFill>
              </a:rPr>
              <a:t>A,a</a:t>
            </a:r>
            <a:r>
              <a:rPr lang="en-US" sz="2400" dirty="0">
                <a:solidFill>
                  <a:schemeClr val="tx1"/>
                </a:solidFill>
              </a:rPr>
              <a:t>]  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each row is a non-terminal symbol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each column is a terminal symbol or the special symbol $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each entry holds a production rule.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/>
              <a:t>	</a:t>
            </a:r>
          </a:p>
        </p:txBody>
      </p:sp>
      <p:graphicFrame>
        <p:nvGraphicFramePr>
          <p:cNvPr id="7" name="Group 32"/>
          <p:cNvGraphicFramePr>
            <a:graphicFrameLocks noGrp="1"/>
          </p:cNvGraphicFramePr>
          <p:nvPr/>
        </p:nvGraphicFramePr>
        <p:xfrm>
          <a:off x="2362200" y="4495800"/>
          <a:ext cx="4220308" cy="1417638"/>
        </p:xfrm>
        <a:graphic>
          <a:graphicData uri="http://schemas.openxmlformats.org/drawingml/2006/table">
            <a:tbl>
              <a:tblPr/>
              <a:tblGrid>
                <a:gridCol w="4542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38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3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$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0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</a:t>
                      </a: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 aBa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B  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B  bB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LL(1) Parser – Parser Actions</a:t>
            </a:r>
          </a:p>
        </p:txBody>
      </p:sp>
      <p:sp>
        <p:nvSpPr>
          <p:cNvPr id="41990" name="Date Placeholder 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8A28B2FA-FFC2-4B6D-BBC4-DA845805699C}" type="datetime1">
              <a:rPr lang="en-US"/>
              <a:t>10/30/2025</a:t>
            </a:fld>
            <a:endParaRPr lang="en-US"/>
          </a:p>
        </p:txBody>
      </p:sp>
      <p:sp>
        <p:nvSpPr>
          <p:cNvPr id="41986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4198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16B093ED-C358-4941-8FF3-37254FC15A88}" type="slidenum">
              <a:rPr lang="en-US"/>
              <a:t>47</a:t>
            </a:fld>
            <a:endParaRPr lang="en-US"/>
          </a:p>
        </p:txBody>
      </p:sp>
      <p:sp>
        <p:nvSpPr>
          <p:cNvPr id="4198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90000"/>
              </a:lnSpc>
            </a:pPr>
            <a:endParaRPr lang="en-US" sz="2000" dirty="0"/>
          </a:p>
          <a:p>
            <a:pPr marL="457200" indent="-457200">
              <a:lnSpc>
                <a:spcPct val="90000"/>
              </a:lnSpc>
            </a:pPr>
            <a:r>
              <a:rPr lang="en-US" sz="2400" dirty="0"/>
              <a:t>The symbol at the top of the stack (say X) and the current symbol in the input string (say a) determine the parser action. </a:t>
            </a:r>
          </a:p>
          <a:p>
            <a:pPr marL="457200" indent="-457200">
              <a:lnSpc>
                <a:spcPct val="90000"/>
              </a:lnSpc>
            </a:pPr>
            <a:r>
              <a:rPr lang="en-US" sz="2400" dirty="0"/>
              <a:t>There are four possible parser actions.</a:t>
            </a:r>
          </a:p>
          <a:p>
            <a:pPr marL="457200" indent="-457200">
              <a:lnSpc>
                <a:spcPct val="90000"/>
              </a:lnSpc>
            </a:pPr>
            <a:endParaRPr lang="en-US" sz="2400" dirty="0"/>
          </a:p>
          <a:p>
            <a:pPr marL="457200" indent="-457200">
              <a:lnSpc>
                <a:spcPct val="90000"/>
              </a:lnSpc>
              <a:buFontTx/>
              <a:buAutoNum type="arabicPeriod"/>
            </a:pPr>
            <a:r>
              <a:rPr lang="en-US" sz="2400" dirty="0"/>
              <a:t>If (X = $, a = $ ) </a:t>
            </a:r>
            <a:r>
              <a:rPr lang="en-US" sz="2400" dirty="0">
                <a:sym typeface="Wingdings" panose="05000000000000000000" pitchFamily="2" charset="2"/>
              </a:rPr>
              <a:t>parser halts (successful completion)</a:t>
            </a:r>
          </a:p>
          <a:p>
            <a:pPr marL="457200" indent="-457200">
              <a:lnSpc>
                <a:spcPct val="90000"/>
              </a:lnSpc>
              <a:buFontTx/>
              <a:buAutoNum type="arabicPeriod"/>
            </a:pPr>
            <a:endParaRPr lang="en-US" sz="2400" dirty="0">
              <a:sym typeface="Wingdings" panose="05000000000000000000" pitchFamily="2" charset="2"/>
            </a:endParaRPr>
          </a:p>
          <a:p>
            <a:pPr marL="457200" indent="-457200">
              <a:lnSpc>
                <a:spcPct val="90000"/>
              </a:lnSpc>
              <a:buFontTx/>
              <a:buAutoNum type="arabicPeriod"/>
            </a:pPr>
            <a:r>
              <a:rPr lang="en-US" sz="2400" dirty="0">
                <a:sym typeface="Wingdings" panose="05000000000000000000" pitchFamily="2" charset="2"/>
              </a:rPr>
              <a:t>If X= a (but not $)  </a:t>
            </a:r>
          </a:p>
          <a:p>
            <a:pPr marL="457200" indent="-457200">
              <a:lnSpc>
                <a:spcPct val="90000"/>
              </a:lnSpc>
              <a:buFontTx/>
              <a:buNone/>
            </a:pPr>
            <a:r>
              <a:rPr lang="en-US" sz="2400" dirty="0">
                <a:sym typeface="Wingdings" panose="05000000000000000000" pitchFamily="2" charset="2"/>
              </a:rPr>
              <a:t>	parser pops X from the stack, and moves the next symbol in the input buffer.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LL(1) Parser – Parser Actions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E6BBE3-C0A4-428F-9EBC-4C99FFE6CD45}" type="datetime1">
              <a:rPr lang="en-US"/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Md Zahim Hassan, BAUST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3E84DD-8F10-4A46-8A7D-909DFC9ACC0C}" type="slidenum">
              <a:rPr lang="en-US"/>
              <a:t>48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90000"/>
              </a:lnSpc>
              <a:buFontTx/>
              <a:buAutoNum type="arabicPeriod" startAt="3"/>
            </a:pPr>
            <a:r>
              <a:rPr lang="en-US" sz="2400" dirty="0">
                <a:sym typeface="Wingdings" panose="05000000000000000000" pitchFamily="2" charset="2"/>
              </a:rPr>
              <a:t>If X is a non-terminal  </a:t>
            </a:r>
          </a:p>
          <a:p>
            <a:pPr marL="73152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ym typeface="Wingdings" panose="05000000000000000000" pitchFamily="2" charset="2"/>
              </a:rPr>
              <a:t>parser looks at the parsing table entry M[X, a].</a:t>
            </a:r>
          </a:p>
          <a:p>
            <a:pPr marL="73152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ym typeface="Wingdings" panose="05000000000000000000" pitchFamily="2" charset="2"/>
              </a:rPr>
              <a:t> If   M[X, a] holds a production rule X</a:t>
            </a:r>
            <a:r>
              <a:rPr lang="en-US" sz="2400" dirty="0">
                <a:sym typeface="Symbol" panose="05050102010706020507" pitchFamily="18" charset="2"/>
              </a:rPr>
              <a:t>Y</a:t>
            </a:r>
            <a:r>
              <a:rPr lang="en-US" sz="2400" baseline="-25000" dirty="0">
                <a:sym typeface="Symbol" panose="05050102010706020507" pitchFamily="18" charset="2"/>
              </a:rPr>
              <a:t>1</a:t>
            </a:r>
            <a:r>
              <a:rPr lang="en-US" sz="2400" dirty="0">
                <a:sym typeface="Symbol" panose="05050102010706020507" pitchFamily="18" charset="2"/>
              </a:rPr>
              <a:t>Y</a:t>
            </a:r>
            <a:r>
              <a:rPr lang="en-US" sz="2400" baseline="-25000" dirty="0">
                <a:sym typeface="Symbol" panose="05050102010706020507" pitchFamily="18" charset="2"/>
              </a:rPr>
              <a:t>2</a:t>
            </a:r>
            <a:r>
              <a:rPr lang="en-US" sz="2400" dirty="0">
                <a:sym typeface="Symbol" panose="05050102010706020507" pitchFamily="18" charset="2"/>
              </a:rPr>
              <a:t>...</a:t>
            </a:r>
            <a:r>
              <a:rPr lang="en-US" sz="2400" dirty="0" err="1">
                <a:sym typeface="Symbol" panose="05050102010706020507" pitchFamily="18" charset="2"/>
              </a:rPr>
              <a:t>Y</a:t>
            </a:r>
            <a:r>
              <a:rPr lang="en-US" sz="2400" baseline="-25000" dirty="0" err="1">
                <a:sym typeface="Symbol" panose="05050102010706020507" pitchFamily="18" charset="2"/>
              </a:rPr>
              <a:t>k</a:t>
            </a:r>
            <a:r>
              <a:rPr lang="en-US" sz="2400" dirty="0">
                <a:sym typeface="Wingdings" panose="05000000000000000000" pitchFamily="2" charset="2"/>
              </a:rPr>
              <a:t>, it pops X from the stack and pushes Y</a:t>
            </a:r>
            <a:r>
              <a:rPr lang="en-US" sz="2400" baseline="-25000" dirty="0">
                <a:sym typeface="Wingdings" panose="05000000000000000000" pitchFamily="2" charset="2"/>
              </a:rPr>
              <a:t>k</a:t>
            </a:r>
            <a:r>
              <a:rPr lang="en-US" sz="2400" dirty="0">
                <a:sym typeface="Wingdings" panose="05000000000000000000" pitchFamily="2" charset="2"/>
              </a:rPr>
              <a:t>,Y</a:t>
            </a:r>
            <a:r>
              <a:rPr lang="en-US" sz="2400" baseline="-25000" dirty="0">
                <a:sym typeface="Wingdings" panose="05000000000000000000" pitchFamily="2" charset="2"/>
              </a:rPr>
              <a:t>k-1</a:t>
            </a:r>
            <a:r>
              <a:rPr lang="en-US" sz="2400" dirty="0">
                <a:sym typeface="Wingdings" panose="05000000000000000000" pitchFamily="2" charset="2"/>
              </a:rPr>
              <a:t>,...,Y</a:t>
            </a:r>
            <a:r>
              <a:rPr lang="en-US" sz="2400" baseline="-25000" dirty="0">
                <a:sym typeface="Wingdings" panose="05000000000000000000" pitchFamily="2" charset="2"/>
              </a:rPr>
              <a:t>1 </a:t>
            </a:r>
            <a:r>
              <a:rPr lang="en-US" sz="2400" dirty="0">
                <a:sym typeface="Wingdings" panose="05000000000000000000" pitchFamily="2" charset="2"/>
              </a:rPr>
              <a:t>into the stack.</a:t>
            </a:r>
          </a:p>
          <a:p>
            <a:pPr marL="73152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ym typeface="Wingdings" panose="05000000000000000000" pitchFamily="2" charset="2"/>
              </a:rPr>
              <a:t>The parser also outputs the production rule X</a:t>
            </a:r>
            <a:r>
              <a:rPr lang="en-US" sz="2400" dirty="0">
                <a:sym typeface="Symbol" panose="05050102010706020507" pitchFamily="18" charset="2"/>
              </a:rPr>
              <a:t>Y</a:t>
            </a:r>
            <a:r>
              <a:rPr lang="en-US" sz="2400" baseline="-25000" dirty="0">
                <a:sym typeface="Symbol" panose="05050102010706020507" pitchFamily="18" charset="2"/>
              </a:rPr>
              <a:t>1</a:t>
            </a:r>
            <a:r>
              <a:rPr lang="en-US" sz="2400" dirty="0">
                <a:sym typeface="Symbol" panose="05050102010706020507" pitchFamily="18" charset="2"/>
              </a:rPr>
              <a:t>Y</a:t>
            </a:r>
            <a:r>
              <a:rPr lang="en-US" sz="2400" baseline="-25000" dirty="0">
                <a:sym typeface="Symbol" panose="05050102010706020507" pitchFamily="18" charset="2"/>
              </a:rPr>
              <a:t>2</a:t>
            </a:r>
            <a:r>
              <a:rPr lang="en-US" sz="2400" dirty="0">
                <a:sym typeface="Symbol" panose="05050102010706020507" pitchFamily="18" charset="2"/>
              </a:rPr>
              <a:t>...</a:t>
            </a:r>
            <a:r>
              <a:rPr lang="en-US" sz="2400" dirty="0" err="1">
                <a:sym typeface="Symbol" panose="05050102010706020507" pitchFamily="18" charset="2"/>
              </a:rPr>
              <a:t>Y</a:t>
            </a:r>
            <a:r>
              <a:rPr lang="en-US" sz="2400" baseline="-25000" dirty="0" err="1">
                <a:sym typeface="Symbol" panose="05050102010706020507" pitchFamily="18" charset="2"/>
              </a:rPr>
              <a:t>k</a:t>
            </a:r>
            <a:r>
              <a:rPr lang="en-US" sz="2400" dirty="0">
                <a:sym typeface="Symbol" panose="05050102010706020507" pitchFamily="18" charset="2"/>
              </a:rPr>
              <a:t> to represent a step of the derivation.</a:t>
            </a:r>
          </a:p>
          <a:p>
            <a:pPr marL="457200" indent="-457200">
              <a:lnSpc>
                <a:spcPct val="90000"/>
              </a:lnSpc>
              <a:buFontTx/>
              <a:buAutoNum type="arabicPeriod" startAt="4"/>
            </a:pPr>
            <a:r>
              <a:rPr lang="en-US" sz="2400" dirty="0">
                <a:sym typeface="Wingdings" panose="05000000000000000000" pitchFamily="2" charset="2"/>
              </a:rPr>
              <a:t>none of the above  :  error </a:t>
            </a:r>
          </a:p>
          <a:p>
            <a:pPr marL="800100" lvl="1" indent="-342900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  <a:sym typeface="Wingdings" panose="05000000000000000000" pitchFamily="2" charset="2"/>
              </a:rPr>
              <a:t>all empty entries in the parsing table are errors. </a:t>
            </a:r>
          </a:p>
          <a:p>
            <a:pPr marL="800100" lvl="1" indent="-342900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  <a:sym typeface="Wingdings" panose="05000000000000000000" pitchFamily="2" charset="2"/>
              </a:rPr>
              <a:t>If X is a terminal symbol different from a, this is also an error case.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LL(1) Parser – Example1</a:t>
            </a:r>
          </a:p>
        </p:txBody>
      </p:sp>
      <p:sp>
        <p:nvSpPr>
          <p:cNvPr id="43036" name="Date Placeholder 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B4634FE-073E-44C0-B17E-04E21A56F676}" type="datetime1">
              <a:rPr lang="en-US"/>
              <a:t>10/30/2025</a:t>
            </a:fld>
            <a:endParaRPr lang="en-US"/>
          </a:p>
        </p:txBody>
      </p:sp>
      <p:sp>
        <p:nvSpPr>
          <p:cNvPr id="43010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4301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525B45F2-23A3-4648-8E9F-93B60D965B93}" type="slidenum">
              <a:rPr lang="en-US"/>
              <a:t>49</a:t>
            </a:fld>
            <a:endParaRPr lang="en-US"/>
          </a:p>
        </p:txBody>
      </p:sp>
      <p:sp>
        <p:nvSpPr>
          <p:cNvPr id="4301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dirty="0"/>
              <a:t>S </a:t>
            </a:r>
            <a:r>
              <a:rPr lang="en-US" dirty="0">
                <a:sym typeface="Symbol" panose="05050102010706020507" pitchFamily="18" charset="2"/>
              </a:rPr>
              <a:t> </a:t>
            </a:r>
            <a:r>
              <a:rPr lang="en-US" dirty="0" err="1">
                <a:sym typeface="Symbol" panose="05050102010706020507" pitchFamily="18" charset="2"/>
              </a:rPr>
              <a:t>aBa</a:t>
            </a:r>
            <a:r>
              <a:rPr lang="en-US" dirty="0">
                <a:sym typeface="Symbol" panose="05050102010706020507" pitchFamily="18" charset="2"/>
              </a:rPr>
              <a:t> 						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B  </a:t>
            </a:r>
            <a:r>
              <a:rPr lang="en-US" dirty="0" err="1">
                <a:sym typeface="Symbol" panose="05050102010706020507" pitchFamily="18" charset="2"/>
              </a:rPr>
              <a:t>bB</a:t>
            </a:r>
            <a:r>
              <a:rPr lang="en-US" dirty="0">
                <a:sym typeface="Symbol" panose="05050102010706020507" pitchFamily="18" charset="2"/>
              </a:rPr>
              <a:t>  | 	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1" u="sng" dirty="0">
                <a:sym typeface="Symbol" panose="05050102010706020507" pitchFamily="18" charset="2"/>
              </a:rPr>
              <a:t>stack</a:t>
            </a:r>
            <a:r>
              <a:rPr lang="en-US" sz="2000" dirty="0">
                <a:sym typeface="Symbol" panose="05050102010706020507" pitchFamily="18" charset="2"/>
              </a:rPr>
              <a:t>		</a:t>
            </a:r>
            <a:r>
              <a:rPr lang="en-US" sz="2000" b="1" u="sng" dirty="0">
                <a:sym typeface="Symbol" panose="05050102010706020507" pitchFamily="18" charset="2"/>
              </a:rPr>
              <a:t>input</a:t>
            </a:r>
            <a:r>
              <a:rPr lang="en-US" sz="2000" dirty="0">
                <a:sym typeface="Symbol" panose="05050102010706020507" pitchFamily="18" charset="2"/>
              </a:rPr>
              <a:t>		</a:t>
            </a:r>
            <a:r>
              <a:rPr lang="en-US" sz="2000" b="1" u="sng" dirty="0">
                <a:sym typeface="Symbol" panose="05050102010706020507" pitchFamily="18" charset="2"/>
              </a:rPr>
              <a:t>output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$</a:t>
            </a:r>
            <a:r>
              <a:rPr lang="en-US" sz="1800" dirty="0">
                <a:solidFill>
                  <a:srgbClr val="FF0000"/>
                </a:solidFill>
                <a:sym typeface="Symbol" panose="05050102010706020507" pitchFamily="18" charset="2"/>
              </a:rPr>
              <a:t>S</a:t>
            </a:r>
            <a:r>
              <a:rPr lang="en-US" sz="1800" dirty="0">
                <a:sym typeface="Symbol" panose="05050102010706020507" pitchFamily="18" charset="2"/>
              </a:rPr>
              <a:t>			</a:t>
            </a:r>
            <a:r>
              <a:rPr lang="en-US" sz="1800" dirty="0" err="1">
                <a:solidFill>
                  <a:srgbClr val="FF0000"/>
                </a:solidFill>
                <a:sym typeface="Symbol" panose="05050102010706020507" pitchFamily="18" charset="2"/>
              </a:rPr>
              <a:t>a</a:t>
            </a:r>
            <a:r>
              <a:rPr lang="en-US" sz="1800" dirty="0" err="1">
                <a:sym typeface="Symbol" panose="05050102010706020507" pitchFamily="18" charset="2"/>
              </a:rPr>
              <a:t>bba</a:t>
            </a:r>
            <a:r>
              <a:rPr lang="en-US" sz="1800" dirty="0">
                <a:sym typeface="Symbol" panose="05050102010706020507" pitchFamily="18" charset="2"/>
              </a:rPr>
              <a:t>$		 </a:t>
            </a:r>
            <a:r>
              <a:rPr lang="en-US" sz="1800" dirty="0"/>
              <a:t>S </a:t>
            </a:r>
            <a:r>
              <a:rPr lang="en-US" sz="1800" dirty="0">
                <a:sym typeface="Symbol" panose="05050102010706020507" pitchFamily="18" charset="2"/>
              </a:rPr>
              <a:t> </a:t>
            </a:r>
            <a:r>
              <a:rPr lang="en-US" sz="1800" dirty="0" err="1">
                <a:sym typeface="Symbol" panose="05050102010706020507" pitchFamily="18" charset="2"/>
              </a:rPr>
              <a:t>aBa</a:t>
            </a:r>
            <a:endParaRPr lang="en-US" sz="18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$</a:t>
            </a:r>
            <a:r>
              <a:rPr lang="en-US" sz="1800" dirty="0" err="1">
                <a:sym typeface="Symbol" panose="05050102010706020507" pitchFamily="18" charset="2"/>
              </a:rPr>
              <a:t>aB</a:t>
            </a:r>
            <a:r>
              <a:rPr lang="en-US" sz="1800" dirty="0" err="1">
                <a:solidFill>
                  <a:srgbClr val="FF0000"/>
                </a:solidFill>
                <a:sym typeface="Symbol" panose="05050102010706020507" pitchFamily="18" charset="2"/>
              </a:rPr>
              <a:t>a</a:t>
            </a:r>
            <a:r>
              <a:rPr lang="en-US" sz="1800" dirty="0">
                <a:sym typeface="Symbol" panose="05050102010706020507" pitchFamily="18" charset="2"/>
              </a:rPr>
              <a:t>		</a:t>
            </a:r>
            <a:r>
              <a:rPr lang="en-US" sz="1800" dirty="0" err="1">
                <a:solidFill>
                  <a:srgbClr val="FF0000"/>
                </a:solidFill>
                <a:sym typeface="Symbol" panose="05050102010706020507" pitchFamily="18" charset="2"/>
              </a:rPr>
              <a:t>a</a:t>
            </a:r>
            <a:r>
              <a:rPr lang="en-US" sz="1800" dirty="0" err="1">
                <a:sym typeface="Symbol" panose="05050102010706020507" pitchFamily="18" charset="2"/>
              </a:rPr>
              <a:t>bba</a:t>
            </a:r>
            <a:r>
              <a:rPr lang="en-US" sz="1800" dirty="0">
                <a:sym typeface="Symbol" panose="05050102010706020507" pitchFamily="18" charset="2"/>
              </a:rPr>
              <a:t>$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$</a:t>
            </a:r>
            <a:r>
              <a:rPr lang="en-US" sz="1800" dirty="0" err="1">
                <a:sym typeface="Symbol" panose="05050102010706020507" pitchFamily="18" charset="2"/>
              </a:rPr>
              <a:t>a</a:t>
            </a:r>
            <a:r>
              <a:rPr lang="en-US" sz="1800" dirty="0" err="1">
                <a:solidFill>
                  <a:srgbClr val="FF0000"/>
                </a:solidFill>
                <a:sym typeface="Symbol" panose="05050102010706020507" pitchFamily="18" charset="2"/>
              </a:rPr>
              <a:t>B</a:t>
            </a:r>
            <a:r>
              <a:rPr lang="en-US" sz="1800" dirty="0">
                <a:sym typeface="Symbol" panose="05050102010706020507" pitchFamily="18" charset="2"/>
              </a:rPr>
              <a:t>		</a:t>
            </a:r>
            <a:r>
              <a:rPr lang="en-US" sz="1800" dirty="0" err="1">
                <a:solidFill>
                  <a:srgbClr val="FF0000"/>
                </a:solidFill>
                <a:sym typeface="Symbol" panose="05050102010706020507" pitchFamily="18" charset="2"/>
              </a:rPr>
              <a:t>b</a:t>
            </a:r>
            <a:r>
              <a:rPr lang="en-US" sz="1800" dirty="0" err="1">
                <a:sym typeface="Symbol" panose="05050102010706020507" pitchFamily="18" charset="2"/>
              </a:rPr>
              <a:t>ba</a:t>
            </a:r>
            <a:r>
              <a:rPr lang="en-US" sz="1800" dirty="0">
                <a:sym typeface="Symbol" panose="05050102010706020507" pitchFamily="18" charset="2"/>
              </a:rPr>
              <a:t>$		 B  </a:t>
            </a:r>
            <a:r>
              <a:rPr lang="en-US" sz="1800" dirty="0" err="1">
                <a:sym typeface="Symbol" panose="05050102010706020507" pitchFamily="18" charset="2"/>
              </a:rPr>
              <a:t>bB</a:t>
            </a:r>
            <a:r>
              <a:rPr lang="en-US" sz="1800" dirty="0">
                <a:sym typeface="Symbol" panose="05050102010706020507" pitchFamily="18" charset="2"/>
              </a:rPr>
              <a:t>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$</a:t>
            </a:r>
            <a:r>
              <a:rPr lang="en-US" sz="1800" dirty="0" err="1">
                <a:sym typeface="Symbol" panose="05050102010706020507" pitchFamily="18" charset="2"/>
              </a:rPr>
              <a:t>aB</a:t>
            </a:r>
            <a:r>
              <a:rPr lang="en-US" sz="1800" dirty="0" err="1">
                <a:solidFill>
                  <a:srgbClr val="FF0000"/>
                </a:solidFill>
                <a:sym typeface="Symbol" panose="05050102010706020507" pitchFamily="18" charset="2"/>
              </a:rPr>
              <a:t>b</a:t>
            </a:r>
            <a:r>
              <a:rPr lang="en-US" sz="1800" dirty="0">
                <a:sym typeface="Symbol" panose="05050102010706020507" pitchFamily="18" charset="2"/>
              </a:rPr>
              <a:t>		</a:t>
            </a:r>
            <a:r>
              <a:rPr lang="en-US" sz="1800" dirty="0" err="1">
                <a:solidFill>
                  <a:srgbClr val="FF0000"/>
                </a:solidFill>
                <a:sym typeface="Symbol" panose="05050102010706020507" pitchFamily="18" charset="2"/>
              </a:rPr>
              <a:t>b</a:t>
            </a:r>
            <a:r>
              <a:rPr lang="en-US" sz="1800" dirty="0" err="1">
                <a:sym typeface="Symbol" panose="05050102010706020507" pitchFamily="18" charset="2"/>
              </a:rPr>
              <a:t>ba</a:t>
            </a:r>
            <a:r>
              <a:rPr lang="en-US" sz="1800" dirty="0">
                <a:sym typeface="Symbol" panose="05050102010706020507" pitchFamily="18" charset="2"/>
              </a:rPr>
              <a:t>$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$</a:t>
            </a:r>
            <a:r>
              <a:rPr lang="en-US" sz="1800" dirty="0" err="1">
                <a:sym typeface="Symbol" panose="05050102010706020507" pitchFamily="18" charset="2"/>
              </a:rPr>
              <a:t>a</a:t>
            </a:r>
            <a:r>
              <a:rPr lang="en-US" sz="1800" dirty="0" err="1">
                <a:solidFill>
                  <a:srgbClr val="FF0000"/>
                </a:solidFill>
                <a:sym typeface="Symbol" panose="05050102010706020507" pitchFamily="18" charset="2"/>
              </a:rPr>
              <a:t>B</a:t>
            </a:r>
            <a:r>
              <a:rPr lang="en-US" sz="1800" dirty="0">
                <a:sym typeface="Symbol" panose="05050102010706020507" pitchFamily="18" charset="2"/>
              </a:rPr>
              <a:t>		</a:t>
            </a:r>
            <a:r>
              <a:rPr lang="en-US" sz="1800" dirty="0" err="1">
                <a:solidFill>
                  <a:srgbClr val="FF0000"/>
                </a:solidFill>
                <a:sym typeface="Symbol" panose="05050102010706020507" pitchFamily="18" charset="2"/>
              </a:rPr>
              <a:t>b</a:t>
            </a:r>
            <a:r>
              <a:rPr lang="en-US" sz="1800" dirty="0" err="1">
                <a:sym typeface="Symbol" panose="05050102010706020507" pitchFamily="18" charset="2"/>
              </a:rPr>
              <a:t>a</a:t>
            </a:r>
            <a:r>
              <a:rPr lang="en-US" sz="1800" dirty="0">
                <a:sym typeface="Symbol" panose="05050102010706020507" pitchFamily="18" charset="2"/>
              </a:rPr>
              <a:t>$		 B  </a:t>
            </a:r>
            <a:r>
              <a:rPr lang="en-US" sz="1800" dirty="0" err="1">
                <a:sym typeface="Symbol" panose="05050102010706020507" pitchFamily="18" charset="2"/>
              </a:rPr>
              <a:t>bB</a:t>
            </a:r>
            <a:r>
              <a:rPr lang="en-US" sz="1800" dirty="0">
                <a:sym typeface="Symbol" panose="05050102010706020507" pitchFamily="18" charset="2"/>
              </a:rPr>
              <a:t>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$</a:t>
            </a:r>
            <a:r>
              <a:rPr lang="en-US" sz="1800" dirty="0" err="1">
                <a:sym typeface="Symbol" panose="05050102010706020507" pitchFamily="18" charset="2"/>
              </a:rPr>
              <a:t>aB</a:t>
            </a:r>
            <a:r>
              <a:rPr lang="en-US" sz="1800" dirty="0" err="1">
                <a:solidFill>
                  <a:srgbClr val="FF0000"/>
                </a:solidFill>
                <a:sym typeface="Symbol" panose="05050102010706020507" pitchFamily="18" charset="2"/>
              </a:rPr>
              <a:t>b</a:t>
            </a:r>
            <a:r>
              <a:rPr lang="en-US" sz="1800" dirty="0">
                <a:sym typeface="Symbol" panose="05050102010706020507" pitchFamily="18" charset="2"/>
              </a:rPr>
              <a:t>		</a:t>
            </a:r>
            <a:r>
              <a:rPr lang="en-US" sz="1800" dirty="0" err="1">
                <a:solidFill>
                  <a:srgbClr val="FF0000"/>
                </a:solidFill>
                <a:sym typeface="Symbol" panose="05050102010706020507" pitchFamily="18" charset="2"/>
              </a:rPr>
              <a:t>b</a:t>
            </a:r>
            <a:r>
              <a:rPr lang="en-US" sz="1800" dirty="0" err="1">
                <a:sym typeface="Symbol" panose="05050102010706020507" pitchFamily="18" charset="2"/>
              </a:rPr>
              <a:t>a</a:t>
            </a:r>
            <a:r>
              <a:rPr lang="en-US" sz="1800" dirty="0">
                <a:sym typeface="Symbol" panose="05050102010706020507" pitchFamily="18" charset="2"/>
              </a:rPr>
              <a:t>$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$</a:t>
            </a:r>
            <a:r>
              <a:rPr lang="en-US" sz="1800" dirty="0" err="1">
                <a:sym typeface="Symbol" panose="05050102010706020507" pitchFamily="18" charset="2"/>
              </a:rPr>
              <a:t>a</a:t>
            </a:r>
            <a:r>
              <a:rPr lang="en-US" sz="1800" dirty="0" err="1">
                <a:solidFill>
                  <a:srgbClr val="FF0000"/>
                </a:solidFill>
                <a:sym typeface="Symbol" panose="05050102010706020507" pitchFamily="18" charset="2"/>
              </a:rPr>
              <a:t>B</a:t>
            </a:r>
            <a:r>
              <a:rPr lang="en-US" sz="1800" dirty="0">
                <a:sym typeface="Symbol" panose="05050102010706020507" pitchFamily="18" charset="2"/>
              </a:rPr>
              <a:t>		</a:t>
            </a:r>
            <a:r>
              <a:rPr lang="en-US" sz="1800" dirty="0">
                <a:solidFill>
                  <a:srgbClr val="FF0000"/>
                </a:solidFill>
                <a:sym typeface="Symbol" panose="05050102010706020507" pitchFamily="18" charset="2"/>
              </a:rPr>
              <a:t>a</a:t>
            </a:r>
            <a:r>
              <a:rPr lang="en-US" sz="1800" dirty="0">
                <a:sym typeface="Symbol" panose="05050102010706020507" pitchFamily="18" charset="2"/>
              </a:rPr>
              <a:t>$		 B  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$</a:t>
            </a:r>
            <a:r>
              <a:rPr lang="en-US" sz="1800" dirty="0">
                <a:solidFill>
                  <a:srgbClr val="FF0000"/>
                </a:solidFill>
                <a:sym typeface="Symbol" panose="05050102010706020507" pitchFamily="18" charset="2"/>
              </a:rPr>
              <a:t>a</a:t>
            </a:r>
            <a:r>
              <a:rPr lang="en-US" sz="1800" dirty="0">
                <a:sym typeface="Symbol" panose="05050102010706020507" pitchFamily="18" charset="2"/>
              </a:rPr>
              <a:t>			</a:t>
            </a:r>
            <a:r>
              <a:rPr lang="en-US" sz="1800" dirty="0" err="1">
                <a:solidFill>
                  <a:srgbClr val="FF0000"/>
                </a:solidFill>
                <a:sym typeface="Symbol" panose="05050102010706020507" pitchFamily="18" charset="2"/>
              </a:rPr>
              <a:t>a</a:t>
            </a:r>
            <a:r>
              <a:rPr lang="en-US" sz="1800" dirty="0">
                <a:sym typeface="Symbol" panose="05050102010706020507" pitchFamily="18" charset="2"/>
              </a:rPr>
              <a:t>$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dirty="0">
                <a:solidFill>
                  <a:srgbClr val="FF0000"/>
                </a:solidFill>
                <a:sym typeface="Symbol" panose="05050102010706020507" pitchFamily="18" charset="2"/>
              </a:rPr>
              <a:t>$</a:t>
            </a:r>
            <a:r>
              <a:rPr lang="en-US" sz="1800" dirty="0">
                <a:sym typeface="Symbol" panose="05050102010706020507" pitchFamily="18" charset="2"/>
              </a:rPr>
              <a:t>			</a:t>
            </a:r>
            <a:r>
              <a:rPr lang="en-US" sz="1800" dirty="0">
                <a:solidFill>
                  <a:srgbClr val="FF0000"/>
                </a:solidFill>
                <a:sym typeface="Symbol" panose="05050102010706020507" pitchFamily="18" charset="2"/>
              </a:rPr>
              <a:t>$</a:t>
            </a:r>
            <a:r>
              <a:rPr lang="en-US" sz="1800" dirty="0">
                <a:sym typeface="Symbol" panose="05050102010706020507" pitchFamily="18" charset="2"/>
              </a:rPr>
              <a:t>		accept, successful completion</a:t>
            </a:r>
          </a:p>
        </p:txBody>
      </p:sp>
      <p:graphicFrame>
        <p:nvGraphicFramePr>
          <p:cNvPr id="273440" name="Group 32"/>
          <p:cNvGraphicFramePr>
            <a:graphicFrameLocks noGrp="1"/>
          </p:cNvGraphicFramePr>
          <p:nvPr/>
        </p:nvGraphicFramePr>
        <p:xfrm>
          <a:off x="4695092" y="1477962"/>
          <a:ext cx="4220308" cy="1417638"/>
        </p:xfrm>
        <a:graphic>
          <a:graphicData uri="http://schemas.openxmlformats.org/drawingml/2006/table">
            <a:tbl>
              <a:tblPr/>
              <a:tblGrid>
                <a:gridCol w="4542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38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3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$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0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</a:t>
                      </a: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 aBa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B  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B  bB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LL(1) Parser – Example1 (cont.)</a:t>
            </a:r>
          </a:p>
        </p:txBody>
      </p:sp>
      <p:sp>
        <p:nvSpPr>
          <p:cNvPr id="44055" name="Date Placeholder 27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5731DB1-D8D9-4EEC-A767-D59256227D85}" type="datetime1">
              <a:rPr lang="en-US"/>
              <a:t>10/30/2025</a:t>
            </a:fld>
            <a:endParaRPr lang="en-US"/>
          </a:p>
        </p:txBody>
      </p:sp>
      <p:sp>
        <p:nvSpPr>
          <p:cNvPr id="44034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4403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B62CB28-4F3C-4707-B060-A8A74B7ADC08}" type="slidenum">
              <a:rPr lang="en-US"/>
              <a:t>50</a:t>
            </a:fld>
            <a:endParaRPr lang="en-US"/>
          </a:p>
        </p:txBody>
      </p:sp>
      <p:sp>
        <p:nvSpPr>
          <p:cNvPr id="44037" name="Text Box 3"/>
          <p:cNvSpPr txBox="1">
            <a:spLocks noChangeArrowheads="1"/>
          </p:cNvSpPr>
          <p:nvPr/>
        </p:nvSpPr>
        <p:spPr bwMode="auto">
          <a:xfrm>
            <a:off x="547688" y="1458912"/>
            <a:ext cx="480131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</a:rPr>
              <a:t>Outputs: S </a:t>
            </a:r>
            <a:r>
              <a:rPr lang="en-US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sz="2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aBa</a:t>
            </a:r>
            <a:r>
              <a:rPr lang="en-US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      B  </a:t>
            </a:r>
            <a:r>
              <a:rPr lang="en-US" sz="2000" err="1">
                <a:latin typeface="Times New Roman" panose="02020603050405020304" pitchFamily="18" charset="0"/>
                <a:sym typeface="Symbol" panose="05050102010706020507" pitchFamily="18" charset="2"/>
              </a:rPr>
              <a:t>bB</a:t>
            </a:r>
            <a:r>
              <a:rPr lang="en-US" sz="2000">
                <a:latin typeface="Times New Roman" panose="02020603050405020304" pitchFamily="18" charset="0"/>
                <a:sym typeface="Symbol" panose="05050102010706020507" pitchFamily="18" charset="2"/>
              </a:rPr>
              <a:t>       </a:t>
            </a:r>
            <a:r>
              <a:rPr lang="en-US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B   	</a:t>
            </a:r>
          </a:p>
        </p:txBody>
      </p:sp>
      <p:sp>
        <p:nvSpPr>
          <p:cNvPr id="44038" name="Text Box 4"/>
          <p:cNvSpPr txBox="1">
            <a:spLocks noChangeArrowheads="1"/>
          </p:cNvSpPr>
          <p:nvPr/>
        </p:nvSpPr>
        <p:spPr bwMode="auto">
          <a:xfrm>
            <a:off x="547688" y="1939925"/>
            <a:ext cx="5856090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</a:rPr>
              <a:t>Derivation(left-most):   </a:t>
            </a:r>
            <a:r>
              <a:rPr lang="en-US" sz="2000" dirty="0" err="1">
                <a:latin typeface="Times New Roman" panose="02020603050405020304" pitchFamily="18" charset="0"/>
              </a:rPr>
              <a:t>S</a:t>
            </a:r>
            <a:r>
              <a:rPr lang="en-US" sz="2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aBaabBaabbBaabba</a:t>
            </a:r>
            <a:endParaRPr lang="en-US" sz="2000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4039" name="Line 5"/>
          <p:cNvSpPr>
            <a:spLocks noChangeShapeType="1"/>
          </p:cNvSpPr>
          <p:nvPr/>
        </p:nvSpPr>
        <p:spPr bwMode="auto">
          <a:xfrm flipH="1">
            <a:off x="2552700" y="2881312"/>
            <a:ext cx="563563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4040" name="Line 6"/>
          <p:cNvSpPr>
            <a:spLocks noChangeShapeType="1"/>
          </p:cNvSpPr>
          <p:nvPr/>
        </p:nvSpPr>
        <p:spPr bwMode="auto">
          <a:xfrm>
            <a:off x="3116263" y="2881312"/>
            <a:ext cx="561975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4041" name="Line 7"/>
          <p:cNvSpPr>
            <a:spLocks noChangeShapeType="1"/>
          </p:cNvSpPr>
          <p:nvPr/>
        </p:nvSpPr>
        <p:spPr bwMode="auto">
          <a:xfrm>
            <a:off x="3116263" y="2881312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grpSp>
        <p:nvGrpSpPr>
          <p:cNvPr id="44042" name="Group 10"/>
          <p:cNvGrpSpPr/>
          <p:nvPr/>
        </p:nvGrpSpPr>
        <p:grpSpPr bwMode="auto">
          <a:xfrm>
            <a:off x="2763838" y="3795712"/>
            <a:ext cx="633412" cy="609600"/>
            <a:chOff x="1728" y="2544"/>
            <a:chExt cx="432" cy="384"/>
          </a:xfrm>
        </p:grpSpPr>
        <p:sp>
          <p:nvSpPr>
            <p:cNvPr id="44058" name="Line 8"/>
            <p:cNvSpPr>
              <a:spLocks noChangeShapeType="1"/>
            </p:cNvSpPr>
            <p:nvPr/>
          </p:nvSpPr>
          <p:spPr bwMode="auto">
            <a:xfrm flipH="1">
              <a:off x="1728" y="2544"/>
              <a:ext cx="24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059" name="Line 9"/>
            <p:cNvSpPr>
              <a:spLocks noChangeShapeType="1"/>
            </p:cNvSpPr>
            <p:nvPr/>
          </p:nvSpPr>
          <p:spPr bwMode="auto">
            <a:xfrm>
              <a:off x="1968" y="254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043" name="Group 11"/>
          <p:cNvGrpSpPr/>
          <p:nvPr/>
        </p:nvGrpSpPr>
        <p:grpSpPr bwMode="auto">
          <a:xfrm>
            <a:off x="3116263" y="4633912"/>
            <a:ext cx="631825" cy="609600"/>
            <a:chOff x="1728" y="2544"/>
            <a:chExt cx="432" cy="384"/>
          </a:xfrm>
        </p:grpSpPr>
        <p:sp>
          <p:nvSpPr>
            <p:cNvPr id="44056" name="Line 12"/>
            <p:cNvSpPr>
              <a:spLocks noChangeShapeType="1"/>
            </p:cNvSpPr>
            <p:nvPr/>
          </p:nvSpPr>
          <p:spPr bwMode="auto">
            <a:xfrm flipH="1">
              <a:off x="1728" y="2544"/>
              <a:ext cx="24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057" name="Line 13"/>
            <p:cNvSpPr>
              <a:spLocks noChangeShapeType="1"/>
            </p:cNvSpPr>
            <p:nvPr/>
          </p:nvSpPr>
          <p:spPr bwMode="auto">
            <a:xfrm>
              <a:off x="1968" y="254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4044" name="Line 14"/>
          <p:cNvSpPr>
            <a:spLocks noChangeShapeType="1"/>
          </p:cNvSpPr>
          <p:nvPr/>
        </p:nvSpPr>
        <p:spPr bwMode="auto">
          <a:xfrm>
            <a:off x="3748088" y="5472112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4045" name="Text Box 15"/>
          <p:cNvSpPr txBox="1">
            <a:spLocks noChangeArrowheads="1"/>
          </p:cNvSpPr>
          <p:nvPr/>
        </p:nvSpPr>
        <p:spPr bwMode="auto">
          <a:xfrm>
            <a:off x="2960688" y="2514600"/>
            <a:ext cx="327025" cy="400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200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44046" name="Text Box 17"/>
          <p:cNvSpPr txBox="1">
            <a:spLocks noChangeArrowheads="1"/>
          </p:cNvSpPr>
          <p:nvPr/>
        </p:nvSpPr>
        <p:spPr bwMode="auto">
          <a:xfrm>
            <a:off x="2974975" y="3414712"/>
            <a:ext cx="355600" cy="400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44047" name="Text Box 18"/>
          <p:cNvSpPr txBox="1">
            <a:spLocks noChangeArrowheads="1"/>
          </p:cNvSpPr>
          <p:nvPr/>
        </p:nvSpPr>
        <p:spPr bwMode="auto">
          <a:xfrm>
            <a:off x="2413000" y="3414712"/>
            <a:ext cx="298450" cy="400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20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44048" name="Text Box 19"/>
          <p:cNvSpPr txBox="1">
            <a:spLocks noChangeArrowheads="1"/>
          </p:cNvSpPr>
          <p:nvPr/>
        </p:nvSpPr>
        <p:spPr bwMode="auto">
          <a:xfrm>
            <a:off x="3536950" y="3414712"/>
            <a:ext cx="298450" cy="400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20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44049" name="Text Box 20"/>
          <p:cNvSpPr txBox="1">
            <a:spLocks noChangeArrowheads="1"/>
          </p:cNvSpPr>
          <p:nvPr/>
        </p:nvSpPr>
        <p:spPr bwMode="auto">
          <a:xfrm>
            <a:off x="3255963" y="4329112"/>
            <a:ext cx="357187" cy="400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20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44050" name="Text Box 21"/>
          <p:cNvSpPr txBox="1">
            <a:spLocks noChangeArrowheads="1"/>
          </p:cNvSpPr>
          <p:nvPr/>
        </p:nvSpPr>
        <p:spPr bwMode="auto">
          <a:xfrm>
            <a:off x="3608388" y="5167312"/>
            <a:ext cx="355600" cy="400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20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44051" name="Text Box 22"/>
          <p:cNvSpPr txBox="1">
            <a:spLocks noChangeArrowheads="1"/>
          </p:cNvSpPr>
          <p:nvPr/>
        </p:nvSpPr>
        <p:spPr bwMode="auto">
          <a:xfrm>
            <a:off x="2974975" y="5167312"/>
            <a:ext cx="312738" cy="400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20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44052" name="Text Box 23"/>
          <p:cNvSpPr txBox="1">
            <a:spLocks noChangeArrowheads="1"/>
          </p:cNvSpPr>
          <p:nvPr/>
        </p:nvSpPr>
        <p:spPr bwMode="auto">
          <a:xfrm>
            <a:off x="2622550" y="4329112"/>
            <a:ext cx="314325" cy="400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20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44053" name="Text Box 24"/>
          <p:cNvSpPr txBox="1">
            <a:spLocks noChangeArrowheads="1"/>
          </p:cNvSpPr>
          <p:nvPr/>
        </p:nvSpPr>
        <p:spPr bwMode="auto">
          <a:xfrm>
            <a:off x="3608388" y="5776912"/>
            <a:ext cx="285750" cy="369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44054" name="Text Box 25"/>
          <p:cNvSpPr txBox="1">
            <a:spLocks noChangeArrowheads="1"/>
          </p:cNvSpPr>
          <p:nvPr/>
        </p:nvSpPr>
        <p:spPr bwMode="auto">
          <a:xfrm>
            <a:off x="4030663" y="2805112"/>
            <a:ext cx="1074737" cy="369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>
                <a:latin typeface="Times New Roman" panose="02020603050405020304" pitchFamily="18" charset="0"/>
              </a:rPr>
              <a:t>parse tree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057400"/>
            <a:ext cx="8077200" cy="1219200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en-US" sz="4800" b="1" dirty="0">
                <a:solidFill>
                  <a:schemeClr val="tx1"/>
                </a:solidFill>
                <a:latin typeface="+mn-lt"/>
              </a:rPr>
              <a:t>Syntax Analysis</a:t>
            </a:r>
          </a:p>
        </p:txBody>
      </p:sp>
      <p:sp>
        <p:nvSpPr>
          <p:cNvPr id="307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026FD60-F092-4190-B331-9840380FBE71}" type="datetime1">
              <a:rPr lang="en-US">
                <a:latin typeface="Arial" panose="020B0604020202020204" pitchFamily="34" charset="0"/>
              </a:rPr>
              <a:t>10/30/2025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07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Arial" panose="020B0604020202020204" pitchFamily="34" charset="0"/>
              </a:rPr>
              <a:t>Md Zahim Hassan, BAUST</a:t>
            </a:r>
          </a:p>
        </p:txBody>
      </p:sp>
      <p:sp>
        <p:nvSpPr>
          <p:cNvPr id="307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E96DA8DC-BF72-4030-82CD-5BDDC1EA7C12}" type="slidenum">
              <a:rPr lang="en-US">
                <a:latin typeface="Arial" panose="020B0604020202020204" pitchFamily="34" charset="0"/>
              </a:rPr>
              <a:t>51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33600" y="3429000"/>
            <a:ext cx="487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Part II</a:t>
            </a:r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Constructing LL(1) Parsing Tables</a:t>
            </a:r>
          </a:p>
        </p:txBody>
      </p:sp>
      <p:sp>
        <p:nvSpPr>
          <p:cNvPr id="47112" name="Date Placeholder 8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65AC7C0-B4A7-4BCB-96A8-DADD98080937}" type="datetime1">
              <a:rPr lang="en-US"/>
              <a:t>10/30/2025</a:t>
            </a:fld>
            <a:endParaRPr lang="en-US"/>
          </a:p>
        </p:txBody>
      </p:sp>
      <p:sp>
        <p:nvSpPr>
          <p:cNvPr id="47106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4710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2636507-5BB3-43C4-9F71-E276E7D3E857}" type="slidenum">
              <a:rPr lang="en-US"/>
              <a:t>52</a:t>
            </a:fld>
            <a:endParaRPr lang="en-US"/>
          </a:p>
        </p:txBody>
      </p:sp>
      <p:sp>
        <p:nvSpPr>
          <p:cNvPr id="4710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</a:pPr>
            <a:r>
              <a:rPr lang="en-US" dirty="0"/>
              <a:t>Two functions are important in the construction of LL(1) parsing tables: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FIRST	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FOLLOW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b="1" dirty="0"/>
              <a:t>FIRST(</a:t>
            </a:r>
            <a:r>
              <a:rPr lang="en-US" b="1" dirty="0">
                <a:sym typeface="Symbol" panose="05050102010706020507" pitchFamily="18" charset="2"/>
              </a:rPr>
              <a:t>)</a:t>
            </a:r>
            <a:r>
              <a:rPr lang="en-US" dirty="0">
                <a:sym typeface="Symbol" panose="05050102010706020507" pitchFamily="18" charset="2"/>
              </a:rPr>
              <a:t>  is a set of </a:t>
            </a:r>
            <a:r>
              <a:rPr lang="en-US" b="1" dirty="0">
                <a:sym typeface="Symbol" panose="05050102010706020507" pitchFamily="18" charset="2"/>
              </a:rPr>
              <a:t>terminal </a:t>
            </a:r>
            <a:r>
              <a:rPr lang="en-US" dirty="0">
                <a:sym typeface="Symbol" panose="05050102010706020507" pitchFamily="18" charset="2"/>
              </a:rPr>
              <a:t>symbols which occur as first symbols in strings derived from . 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sym typeface="Symbol" panose="05050102010706020507" pitchFamily="18" charset="2"/>
              </a:rPr>
              <a:t>where  is any string of grammar symbols.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ym typeface="Symbol" panose="05050102010706020507" pitchFamily="18" charset="2"/>
              </a:rPr>
              <a:t>if  derives to , then  is also in </a:t>
            </a:r>
            <a:r>
              <a:rPr lang="en-US" dirty="0"/>
              <a:t>FIRST(</a:t>
            </a:r>
            <a:r>
              <a:rPr lang="en-US" dirty="0">
                <a:sym typeface="Symbol" panose="05050102010706020507" pitchFamily="18" charset="2"/>
              </a:rPr>
              <a:t>) .</a:t>
            </a:r>
          </a:p>
          <a:p>
            <a:pPr>
              <a:lnSpc>
                <a:spcPct val="90000"/>
              </a:lnSpc>
            </a:pPr>
            <a:endParaRPr 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r>
              <a:rPr lang="en-US" b="1" dirty="0">
                <a:sym typeface="Symbol" panose="05050102010706020507" pitchFamily="18" charset="2"/>
              </a:rPr>
              <a:t>FOLLOW(A)</a:t>
            </a:r>
            <a:r>
              <a:rPr lang="en-US" dirty="0">
                <a:sym typeface="Symbol" panose="05050102010706020507" pitchFamily="18" charset="2"/>
              </a:rPr>
              <a:t> is the set of </a:t>
            </a:r>
            <a:r>
              <a:rPr lang="en-US" b="1" dirty="0">
                <a:sym typeface="Symbol" panose="05050102010706020507" pitchFamily="18" charset="2"/>
              </a:rPr>
              <a:t>terminals </a:t>
            </a:r>
            <a:r>
              <a:rPr lang="en-US" dirty="0">
                <a:sym typeface="Symbol" panose="05050102010706020507" pitchFamily="18" charset="2"/>
              </a:rPr>
              <a:t>which occur immediately after the </a:t>
            </a:r>
            <a:r>
              <a:rPr lang="en-US" i="1" dirty="0">
                <a:sym typeface="Symbol" panose="05050102010706020507" pitchFamily="18" charset="2"/>
              </a:rPr>
              <a:t>non-terminal  A</a:t>
            </a:r>
            <a:r>
              <a:rPr lang="en-US" dirty="0">
                <a:sym typeface="Symbol" panose="05050102010706020507" pitchFamily="18" charset="2"/>
              </a:rPr>
              <a:t>  in the strings derived from the starting symbol.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terminal </a:t>
            </a:r>
            <a:r>
              <a:rPr lang="en-US" sz="2400" b="1" dirty="0">
                <a:solidFill>
                  <a:srgbClr val="FF0000"/>
                </a:solidFill>
                <a:sym typeface="Symbol" panose="05050102010706020507" pitchFamily="18" charset="2"/>
              </a:rPr>
              <a:t>a</a:t>
            </a:r>
            <a:r>
              <a:rPr 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 is in FOLLOW(A)   if   S  </a:t>
            </a:r>
            <a:r>
              <a:rPr lang="en-US" sz="2400" dirty="0" err="1">
                <a:solidFill>
                  <a:schemeClr val="tx1"/>
                </a:solidFill>
                <a:sym typeface="Symbol" panose="05050102010706020507" pitchFamily="18" charset="2"/>
              </a:rPr>
              <a:t>Aa</a:t>
            </a:r>
            <a:r>
              <a:rPr 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$ is in FOLLOW(A)  if   S  A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 </a:t>
            </a:r>
          </a:p>
        </p:txBody>
      </p:sp>
      <p:sp>
        <p:nvSpPr>
          <p:cNvPr id="47110" name="Text Box 4"/>
          <p:cNvSpPr txBox="1">
            <a:spLocks noChangeArrowheads="1"/>
          </p:cNvSpPr>
          <p:nvPr/>
        </p:nvSpPr>
        <p:spPr bwMode="auto">
          <a:xfrm>
            <a:off x="3762375" y="5298370"/>
            <a:ext cx="276225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</a:rPr>
              <a:t>*</a:t>
            </a:r>
          </a:p>
        </p:txBody>
      </p:sp>
      <p:sp>
        <p:nvSpPr>
          <p:cNvPr id="47111" name="Text Box 5"/>
          <p:cNvSpPr txBox="1">
            <a:spLocks noChangeArrowheads="1"/>
          </p:cNvSpPr>
          <p:nvPr/>
        </p:nvSpPr>
        <p:spPr bwMode="auto">
          <a:xfrm>
            <a:off x="4832132" y="4993014"/>
            <a:ext cx="300038" cy="369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</a:rPr>
              <a:t>*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Computing </a:t>
            </a:r>
            <a:r>
              <a:rPr lang="en-US" dirty="0">
                <a:solidFill>
                  <a:schemeClr val="tx1"/>
                </a:solidFill>
              </a:rPr>
              <a:t>FIRST for Any String X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E6BBE3-C0A4-428F-9EBC-4C99FFE6CD45}" type="datetime1">
              <a:rPr lang="en-US"/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Md Zahim Hassan, BAUST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3E84DD-8F10-4A46-8A7D-909DFC9ACC0C}" type="slidenum">
              <a:rPr lang="en-US"/>
              <a:t>53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sz="2800" dirty="0"/>
              <a:t>If X is a terminal </a:t>
            </a:r>
            <a:r>
              <a:rPr lang="en-US" sz="2800" b="1" dirty="0"/>
              <a:t>then</a:t>
            </a:r>
            <a:r>
              <a:rPr lang="en-US" sz="2800" dirty="0"/>
              <a:t> First(X) ={X} </a:t>
            </a:r>
            <a:endParaRPr lang="en-US" sz="2400" dirty="0"/>
          </a:p>
          <a:p>
            <a:pPr lvl="0"/>
            <a:r>
              <a:rPr lang="en-US" sz="2800" dirty="0"/>
              <a:t>If there is a Production X → ε </a:t>
            </a:r>
            <a:r>
              <a:rPr lang="en-US" sz="2800" b="1" dirty="0"/>
              <a:t>then</a:t>
            </a:r>
            <a:r>
              <a:rPr lang="en-US" sz="2800" dirty="0"/>
              <a:t> add ε to first(X) </a:t>
            </a:r>
            <a:endParaRPr lang="en-US" sz="2400" dirty="0"/>
          </a:p>
          <a:p>
            <a:pPr lvl="0"/>
            <a:r>
              <a:rPr lang="en-US" sz="2800" dirty="0"/>
              <a:t>If there is a Production X → Y</a:t>
            </a:r>
            <a:r>
              <a:rPr lang="en-US" sz="2800" baseline="-25000" dirty="0"/>
              <a:t>1</a:t>
            </a:r>
            <a:r>
              <a:rPr lang="en-US" sz="2800" dirty="0"/>
              <a:t>Y</a:t>
            </a:r>
            <a:r>
              <a:rPr lang="en-US" sz="2800" baseline="-25000" dirty="0"/>
              <a:t>2</a:t>
            </a:r>
            <a:r>
              <a:rPr lang="en-US" sz="2800" dirty="0"/>
              <a:t>…</a:t>
            </a:r>
            <a:r>
              <a:rPr lang="en-US" sz="2800" dirty="0" err="1"/>
              <a:t>Y</a:t>
            </a:r>
            <a:r>
              <a:rPr lang="en-US" sz="2800" baseline="-25000" dirty="0" err="1"/>
              <a:t>k</a:t>
            </a:r>
            <a:r>
              <a:rPr lang="en-US" sz="2800" b="1" dirty="0"/>
              <a:t> then</a:t>
            </a:r>
            <a:r>
              <a:rPr lang="en-US" sz="2800" dirty="0"/>
              <a:t> add first(Y</a:t>
            </a:r>
            <a:r>
              <a:rPr lang="en-US" sz="2800" baseline="-25000" dirty="0"/>
              <a:t>1</a:t>
            </a:r>
            <a:r>
              <a:rPr lang="en-US" sz="2800" dirty="0"/>
              <a:t>Y</a:t>
            </a:r>
            <a:r>
              <a:rPr lang="en-US" sz="2800" baseline="-25000" dirty="0"/>
              <a:t>2</a:t>
            </a:r>
            <a:r>
              <a:rPr lang="en-US" sz="2800" dirty="0"/>
              <a:t>…</a:t>
            </a:r>
            <a:r>
              <a:rPr lang="en-US" sz="2800" dirty="0" err="1"/>
              <a:t>Yk</a:t>
            </a:r>
            <a:r>
              <a:rPr lang="en-US" sz="2800" dirty="0"/>
              <a:t>) to first(X) </a:t>
            </a:r>
            <a:endParaRPr lang="en-US" sz="2400" dirty="0"/>
          </a:p>
          <a:p>
            <a:pPr lvl="1"/>
            <a:r>
              <a:rPr lang="en-US" sz="2300" dirty="0">
                <a:solidFill>
                  <a:schemeClr val="tx1"/>
                </a:solidFill>
              </a:rPr>
              <a:t>First(Y1Y2...</a:t>
            </a:r>
            <a:r>
              <a:rPr lang="en-US" sz="2300" dirty="0" err="1">
                <a:solidFill>
                  <a:schemeClr val="tx1"/>
                </a:solidFill>
              </a:rPr>
              <a:t>Y</a:t>
            </a:r>
            <a:r>
              <a:rPr lang="en-US" sz="2300" baseline="-25000" dirty="0" err="1">
                <a:solidFill>
                  <a:schemeClr val="tx1"/>
                </a:solidFill>
              </a:rPr>
              <a:t>k</a:t>
            </a:r>
            <a:r>
              <a:rPr lang="en-US" sz="2300" dirty="0">
                <a:solidFill>
                  <a:schemeClr val="tx1"/>
                </a:solidFill>
              </a:rPr>
              <a:t>) is </a:t>
            </a:r>
            <a:r>
              <a:rPr lang="en-US" sz="2300" b="1" dirty="0">
                <a:solidFill>
                  <a:schemeClr val="tx1"/>
                </a:solidFill>
              </a:rPr>
              <a:t>either</a:t>
            </a:r>
            <a:r>
              <a:rPr lang="en-US" sz="2300" dirty="0">
                <a:solidFill>
                  <a:schemeClr val="tx1"/>
                </a:solidFill>
              </a:rPr>
              <a:t> </a:t>
            </a:r>
            <a:endParaRPr lang="en-US" sz="1900" dirty="0">
              <a:solidFill>
                <a:schemeClr val="tx1"/>
              </a:solidFill>
            </a:endParaRPr>
          </a:p>
          <a:p>
            <a:pPr lvl="2"/>
            <a:r>
              <a:rPr lang="en-US" dirty="0">
                <a:solidFill>
                  <a:schemeClr val="tx1"/>
                </a:solidFill>
              </a:rPr>
              <a:t>First(Y1) (if  Y1 doesn't derive to ε) </a:t>
            </a:r>
            <a:endParaRPr lang="en-US" sz="1800" dirty="0">
              <a:solidFill>
                <a:schemeClr val="tx1"/>
              </a:solidFill>
            </a:endParaRPr>
          </a:p>
          <a:p>
            <a:pPr lvl="2"/>
            <a:r>
              <a:rPr lang="en-US" dirty="0"/>
              <a:t>Or if  Y1  derive to ε</a:t>
            </a:r>
          </a:p>
          <a:p>
            <a:pPr lvl="3"/>
            <a:r>
              <a:rPr lang="en-US" dirty="0">
                <a:solidFill>
                  <a:schemeClr val="tx1"/>
                </a:solidFill>
              </a:rPr>
              <a:t>Add First (Y1) &lt;except for ε &gt; as well as everything in First(</a:t>
            </a:r>
            <a:r>
              <a:rPr lang="en-US" b="1" dirty="0">
                <a:solidFill>
                  <a:schemeClr val="tx1"/>
                </a:solidFill>
              </a:rPr>
              <a:t>Y2…</a:t>
            </a:r>
            <a:r>
              <a:rPr lang="en-US" b="1" dirty="0" err="1">
                <a:solidFill>
                  <a:schemeClr val="tx1"/>
                </a:solidFill>
              </a:rPr>
              <a:t>Yk</a:t>
            </a:r>
            <a:r>
              <a:rPr lang="en-US" dirty="0">
                <a:solidFill>
                  <a:schemeClr val="tx1"/>
                </a:solidFill>
              </a:rPr>
              <a:t>) . And so on…</a:t>
            </a:r>
            <a:endParaRPr lang="en-US" sz="1800" dirty="0">
              <a:solidFill>
                <a:schemeClr val="tx1"/>
              </a:solidFill>
            </a:endParaRPr>
          </a:p>
          <a:p>
            <a:pPr lvl="2"/>
            <a:r>
              <a:rPr lang="en-US" dirty="0">
                <a:solidFill>
                  <a:schemeClr val="tx1"/>
                </a:solidFill>
              </a:rPr>
              <a:t>If First(Y1) First(Y2)...First(</a:t>
            </a:r>
            <a:r>
              <a:rPr lang="en-US" dirty="0" err="1">
                <a:solidFill>
                  <a:schemeClr val="tx1"/>
                </a:solidFill>
              </a:rPr>
              <a:t>Yk</a:t>
            </a:r>
            <a:r>
              <a:rPr lang="en-US" dirty="0">
                <a:solidFill>
                  <a:schemeClr val="tx1"/>
                </a:solidFill>
              </a:rPr>
              <a:t>) all contain ε </a:t>
            </a:r>
            <a:r>
              <a:rPr lang="en-US" b="1" dirty="0">
                <a:solidFill>
                  <a:schemeClr val="tx1"/>
                </a:solidFill>
              </a:rPr>
              <a:t>then</a:t>
            </a:r>
            <a:r>
              <a:rPr lang="en-US" dirty="0">
                <a:solidFill>
                  <a:schemeClr val="tx1"/>
                </a:solidFill>
              </a:rPr>
              <a:t> add ε to First(Y1Y2..</a:t>
            </a:r>
            <a:r>
              <a:rPr lang="en-US" dirty="0" err="1">
                <a:solidFill>
                  <a:schemeClr val="tx1"/>
                </a:solidFill>
              </a:rPr>
              <a:t>Yk</a:t>
            </a:r>
            <a:r>
              <a:rPr lang="en-US" dirty="0">
                <a:solidFill>
                  <a:schemeClr val="tx1"/>
                </a:solidFill>
              </a:rPr>
              <a:t>) as well.</a:t>
            </a:r>
            <a:endParaRPr lang="en-US"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FIRST Example(1)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158" name="Date Placeholder 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37E3149-5AA6-4FB4-98CA-9FF67F78296D}" type="datetime1">
              <a:rPr lang="en-US"/>
              <a:t>10/30/2025</a:t>
            </a:fld>
            <a:endParaRPr lang="en-US"/>
          </a:p>
        </p:txBody>
      </p:sp>
      <p:sp>
        <p:nvSpPr>
          <p:cNvPr id="49154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4915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C5626CB-FC82-486B-92F2-A5889DEB6004}" type="slidenum">
              <a:rPr lang="en-US"/>
              <a:t>54</a:t>
            </a:fld>
            <a:endParaRPr lang="en-US"/>
          </a:p>
        </p:txBody>
      </p:sp>
      <p:sp>
        <p:nvSpPr>
          <p:cNvPr id="4915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dirty="0"/>
              <a:t>E </a:t>
            </a:r>
            <a:r>
              <a:rPr lang="en-US" dirty="0">
                <a:sym typeface="Symbol" panose="05050102010706020507" pitchFamily="18" charset="2"/>
              </a:rPr>
              <a:t> TE</a:t>
            </a:r>
            <a:r>
              <a:rPr lang="en-US" baseline="30000" dirty="0">
                <a:sym typeface="Symbol" panose="05050102010706020507" pitchFamily="18" charset="2"/>
              </a:rPr>
              <a:t>’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E</a:t>
            </a:r>
            <a:r>
              <a:rPr lang="en-US" baseline="30000" dirty="0">
                <a:sym typeface="Symbol" panose="05050102010706020507" pitchFamily="18" charset="2"/>
              </a:rPr>
              <a:t>’</a:t>
            </a:r>
            <a:r>
              <a:rPr lang="en-US" dirty="0">
                <a:sym typeface="Symbol" panose="05050102010706020507" pitchFamily="18" charset="2"/>
              </a:rPr>
              <a:t>  +TE</a:t>
            </a:r>
            <a:r>
              <a:rPr lang="en-US" baseline="30000" dirty="0">
                <a:sym typeface="Symbol" panose="05050102010706020507" pitchFamily="18" charset="2"/>
              </a:rPr>
              <a:t>’  </a:t>
            </a:r>
            <a:r>
              <a:rPr lang="en-US" baseline="-25000" dirty="0">
                <a:sym typeface="Symbol" panose="05050102010706020507" pitchFamily="18" charset="2"/>
              </a:rPr>
              <a:t> </a:t>
            </a:r>
            <a:r>
              <a:rPr lang="en-US" dirty="0">
                <a:sym typeface="Symbol" panose="05050102010706020507" pitchFamily="18" charset="2"/>
              </a:rPr>
              <a:t>|   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dirty="0"/>
              <a:t>T </a:t>
            </a:r>
            <a:r>
              <a:rPr lang="en-US" dirty="0">
                <a:sym typeface="Symbol" panose="05050102010706020507" pitchFamily="18" charset="2"/>
              </a:rPr>
              <a:t> FT</a:t>
            </a:r>
            <a:r>
              <a:rPr lang="en-US" baseline="30000" dirty="0">
                <a:sym typeface="Symbol" panose="05050102010706020507" pitchFamily="18" charset="2"/>
              </a:rPr>
              <a:t>’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T</a:t>
            </a:r>
            <a:r>
              <a:rPr lang="en-US" baseline="30000" dirty="0">
                <a:sym typeface="Symbol" panose="05050102010706020507" pitchFamily="18" charset="2"/>
              </a:rPr>
              <a:t>’</a:t>
            </a:r>
            <a:r>
              <a:rPr lang="en-US" dirty="0">
                <a:sym typeface="Symbol" panose="05050102010706020507" pitchFamily="18" charset="2"/>
              </a:rPr>
              <a:t>  *FT</a:t>
            </a:r>
            <a:r>
              <a:rPr lang="en-US" baseline="30000" dirty="0">
                <a:sym typeface="Symbol" panose="05050102010706020507" pitchFamily="18" charset="2"/>
              </a:rPr>
              <a:t>’  </a:t>
            </a:r>
            <a:r>
              <a:rPr lang="en-US" baseline="-25000" dirty="0">
                <a:sym typeface="Symbol" panose="05050102010706020507" pitchFamily="18" charset="2"/>
              </a:rPr>
              <a:t> </a:t>
            </a:r>
            <a:r>
              <a:rPr lang="en-US" dirty="0">
                <a:sym typeface="Symbol" panose="05050102010706020507" pitchFamily="18" charset="2"/>
              </a:rPr>
              <a:t>|   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dirty="0"/>
              <a:t>F </a:t>
            </a:r>
            <a:r>
              <a:rPr lang="en-US" dirty="0">
                <a:sym typeface="Symbol" panose="05050102010706020507" pitchFamily="18" charset="2"/>
              </a:rPr>
              <a:t> (E)   |   id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FIRST(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F</a:t>
            </a:r>
            <a:r>
              <a:rPr lang="en-US" dirty="0">
                <a:sym typeface="Symbol" panose="05050102010706020507" pitchFamily="18" charset="2"/>
              </a:rPr>
              <a:t>) =   {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(</a:t>
            </a:r>
            <a:r>
              <a:rPr lang="en-US" dirty="0">
                <a:sym typeface="Symbol" panose="05050102010706020507" pitchFamily="18" charset="2"/>
              </a:rPr>
              <a:t>,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id</a:t>
            </a:r>
            <a:r>
              <a:rPr lang="en-US" dirty="0">
                <a:sym typeface="Symbol" panose="05050102010706020507" pitchFamily="18" charset="2"/>
              </a:rPr>
              <a:t>}		FIRST(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TE</a:t>
            </a:r>
            <a:r>
              <a:rPr lang="en-US" baseline="30000" dirty="0">
                <a:latin typeface="Courier New" panose="02070309020205020404" pitchFamily="49" charset="0"/>
                <a:sym typeface="Symbol" panose="05050102010706020507" pitchFamily="18" charset="2"/>
              </a:rPr>
              <a:t>’</a:t>
            </a:r>
            <a:r>
              <a:rPr lang="en-US" dirty="0">
                <a:sym typeface="Symbol" panose="05050102010706020507" pitchFamily="18" charset="2"/>
              </a:rPr>
              <a:t>) = {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(</a:t>
            </a:r>
            <a:r>
              <a:rPr lang="en-US" dirty="0">
                <a:sym typeface="Symbol" panose="05050102010706020507" pitchFamily="18" charset="2"/>
              </a:rPr>
              <a:t>,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id</a:t>
            </a:r>
            <a:r>
              <a:rPr lang="en-US" dirty="0">
                <a:sym typeface="Symbol" panose="05050102010706020507" pitchFamily="18" charset="2"/>
              </a:rPr>
              <a:t>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FIRST(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T</a:t>
            </a:r>
            <a:r>
              <a:rPr lang="en-US" baseline="30000" dirty="0">
                <a:latin typeface="Courier New" panose="02070309020205020404" pitchFamily="49" charset="0"/>
                <a:sym typeface="Symbol" panose="05050102010706020507" pitchFamily="18" charset="2"/>
              </a:rPr>
              <a:t>’</a:t>
            </a:r>
            <a:r>
              <a:rPr lang="en-US" dirty="0">
                <a:sym typeface="Symbol" panose="05050102010706020507" pitchFamily="18" charset="2"/>
              </a:rPr>
              <a:t>) = {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*</a:t>
            </a:r>
            <a:r>
              <a:rPr lang="en-US" dirty="0">
                <a:sym typeface="Symbol" panose="05050102010706020507" pitchFamily="18" charset="2"/>
              </a:rPr>
              <a:t>, 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</a:t>
            </a:r>
            <a:r>
              <a:rPr lang="en-US" dirty="0">
                <a:sym typeface="Symbol" panose="05050102010706020507" pitchFamily="18" charset="2"/>
              </a:rPr>
              <a:t>}			FIRST(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+TE</a:t>
            </a:r>
            <a:r>
              <a:rPr lang="en-US" baseline="30000" dirty="0">
                <a:latin typeface="Courier New" panose="02070309020205020404" pitchFamily="49" charset="0"/>
                <a:sym typeface="Symbol" panose="05050102010706020507" pitchFamily="18" charset="2"/>
              </a:rPr>
              <a:t>’</a:t>
            </a:r>
            <a:r>
              <a:rPr lang="en-US" baseline="30000" dirty="0">
                <a:sym typeface="Symbol" panose="05050102010706020507" pitchFamily="18" charset="2"/>
              </a:rPr>
              <a:t> </a:t>
            </a:r>
            <a:r>
              <a:rPr lang="en-US" dirty="0">
                <a:sym typeface="Symbol" panose="05050102010706020507" pitchFamily="18" charset="2"/>
              </a:rPr>
              <a:t>) = {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+</a:t>
            </a:r>
            <a:r>
              <a:rPr lang="en-US" dirty="0">
                <a:sym typeface="Symbol" panose="05050102010706020507" pitchFamily="18" charset="2"/>
              </a:rPr>
              <a:t>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FIRST(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T</a:t>
            </a:r>
            <a:r>
              <a:rPr lang="en-US" dirty="0">
                <a:sym typeface="Symbol" panose="05050102010706020507" pitchFamily="18" charset="2"/>
              </a:rPr>
              <a:t>) =  {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(</a:t>
            </a:r>
            <a:r>
              <a:rPr lang="en-US" dirty="0">
                <a:sym typeface="Symbol" panose="05050102010706020507" pitchFamily="18" charset="2"/>
              </a:rPr>
              <a:t>,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id</a:t>
            </a:r>
            <a:r>
              <a:rPr lang="en-US" dirty="0">
                <a:sym typeface="Symbol" panose="05050102010706020507" pitchFamily="18" charset="2"/>
              </a:rPr>
              <a:t>}			FIRST(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</a:t>
            </a:r>
            <a:r>
              <a:rPr lang="en-US" dirty="0">
                <a:sym typeface="Symbol" panose="05050102010706020507" pitchFamily="18" charset="2"/>
              </a:rPr>
              <a:t>) = {}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FIRST(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E</a:t>
            </a:r>
            <a:r>
              <a:rPr lang="en-US" baseline="30000" dirty="0">
                <a:latin typeface="Courier New" panose="02070309020205020404" pitchFamily="49" charset="0"/>
                <a:sym typeface="Symbol" panose="05050102010706020507" pitchFamily="18" charset="2"/>
              </a:rPr>
              <a:t>’</a:t>
            </a:r>
            <a:r>
              <a:rPr lang="en-US" dirty="0">
                <a:sym typeface="Symbol" panose="05050102010706020507" pitchFamily="18" charset="2"/>
              </a:rPr>
              <a:t>) = {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+</a:t>
            </a:r>
            <a:r>
              <a:rPr lang="en-US" dirty="0">
                <a:sym typeface="Symbol" panose="05050102010706020507" pitchFamily="18" charset="2"/>
              </a:rPr>
              <a:t>, 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</a:t>
            </a:r>
            <a:r>
              <a:rPr lang="en-US" dirty="0">
                <a:sym typeface="Symbol" panose="05050102010706020507" pitchFamily="18" charset="2"/>
              </a:rPr>
              <a:t>}			FIRST(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FT</a:t>
            </a:r>
            <a:r>
              <a:rPr lang="en-US" baseline="30000" dirty="0">
                <a:latin typeface="Courier New" panose="02070309020205020404" pitchFamily="49" charset="0"/>
                <a:sym typeface="Symbol" panose="05050102010706020507" pitchFamily="18" charset="2"/>
              </a:rPr>
              <a:t>’</a:t>
            </a:r>
            <a:r>
              <a:rPr lang="en-US" dirty="0">
                <a:sym typeface="Symbol" panose="05050102010706020507" pitchFamily="18" charset="2"/>
              </a:rPr>
              <a:t>) = {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(</a:t>
            </a:r>
            <a:r>
              <a:rPr lang="en-US" dirty="0">
                <a:sym typeface="Symbol" panose="05050102010706020507" pitchFamily="18" charset="2"/>
              </a:rPr>
              <a:t>,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id</a:t>
            </a:r>
            <a:r>
              <a:rPr lang="en-US" dirty="0">
                <a:sym typeface="Symbol" panose="05050102010706020507" pitchFamily="18" charset="2"/>
              </a:rPr>
              <a:t>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FIRST(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E</a:t>
            </a:r>
            <a:r>
              <a:rPr lang="en-US" dirty="0">
                <a:sym typeface="Symbol" panose="05050102010706020507" pitchFamily="18" charset="2"/>
              </a:rPr>
              <a:t>) =  {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(</a:t>
            </a:r>
            <a:r>
              <a:rPr lang="en-US" dirty="0">
                <a:sym typeface="Symbol" panose="05050102010706020507" pitchFamily="18" charset="2"/>
              </a:rPr>
              <a:t>,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id</a:t>
            </a:r>
            <a:r>
              <a:rPr lang="en-US" dirty="0">
                <a:sym typeface="Symbol" panose="05050102010706020507" pitchFamily="18" charset="2"/>
              </a:rPr>
              <a:t>}			FIRST(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*FT</a:t>
            </a:r>
            <a:r>
              <a:rPr lang="en-US" baseline="30000" dirty="0">
                <a:latin typeface="Courier New" panose="02070309020205020404" pitchFamily="49" charset="0"/>
                <a:sym typeface="Symbol" panose="05050102010706020507" pitchFamily="18" charset="2"/>
              </a:rPr>
              <a:t>’</a:t>
            </a:r>
            <a:r>
              <a:rPr lang="en-US" dirty="0">
                <a:sym typeface="Symbol" panose="05050102010706020507" pitchFamily="18" charset="2"/>
              </a:rPr>
              <a:t>) = {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*</a:t>
            </a:r>
            <a:r>
              <a:rPr lang="en-US" dirty="0">
                <a:sym typeface="Symbol" panose="05050102010706020507" pitchFamily="18" charset="2"/>
              </a:rPr>
              <a:t>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					</a:t>
            </a:r>
            <a:r>
              <a:rPr lang="en-US">
                <a:sym typeface="Symbol" panose="05050102010706020507" pitchFamily="18" charset="2"/>
              </a:rPr>
              <a:t>	FIRST</a:t>
            </a:r>
            <a:r>
              <a:rPr lang="en-US" dirty="0">
                <a:sym typeface="Symbol" panose="05050102010706020507" pitchFamily="18" charset="2"/>
              </a:rPr>
              <a:t>(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(E)</a:t>
            </a:r>
            <a:r>
              <a:rPr lang="en-US" dirty="0">
                <a:sym typeface="Symbol" panose="05050102010706020507" pitchFamily="18" charset="2"/>
              </a:rPr>
              <a:t>) = {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(</a:t>
            </a:r>
            <a:r>
              <a:rPr lang="en-US" dirty="0">
                <a:sym typeface="Symbol" panose="05050102010706020507" pitchFamily="18" charset="2"/>
              </a:rPr>
              <a:t>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						FIRST(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id</a:t>
            </a:r>
            <a:r>
              <a:rPr lang="en-US" dirty="0">
                <a:sym typeface="Symbol" panose="05050102010706020507" pitchFamily="18" charset="2"/>
              </a:rPr>
              <a:t>) = {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id</a:t>
            </a:r>
            <a:r>
              <a:rPr lang="en-US" dirty="0">
                <a:sym typeface="Symbol" panose="05050102010706020507" pitchFamily="18" charset="2"/>
              </a:rPr>
              <a:t>}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FIRST Example(2)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E6BBE3-C0A4-428F-9EBC-4C99FFE6CD45}" type="datetime1">
              <a:rPr lang="en-US"/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Md Zahim Hassan, BAUST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3E84DD-8F10-4A46-8A7D-909DFC9ACC0C}" type="slidenum">
              <a:rPr lang="en-US"/>
              <a:t>55</a:t>
            </a:fld>
            <a:endParaRPr lang="en-US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sz="quarter" idx="1"/>
          </p:nvPr>
        </p:nvGraphicFramePr>
        <p:xfrm>
          <a:off x="301625" y="2225040"/>
          <a:ext cx="8504238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7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7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0"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FIRST(E) = {}</a:t>
                      </a:r>
                    </a:p>
                    <a:p>
                      <a:r>
                        <a:rPr kumimoji="0"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FIRST(E') = {}</a:t>
                      </a:r>
                    </a:p>
                    <a:p>
                      <a:r>
                        <a:rPr kumimoji="0"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FIRST(T) = {}</a:t>
                      </a:r>
                    </a:p>
                    <a:p>
                      <a:r>
                        <a:rPr kumimoji="0"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FIRST(T') = {}</a:t>
                      </a:r>
                    </a:p>
                    <a:p>
                      <a:r>
                        <a:rPr kumimoji="0"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FIRST(F) = {}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FIRST(E) = {}</a:t>
                      </a:r>
                    </a:p>
                    <a:p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FIRST(E') = {+,ε}</a:t>
                      </a:r>
                    </a:p>
                    <a:p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FIRST(T) = {}</a:t>
                      </a:r>
                    </a:p>
                    <a:p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FIRST(T') = {*,ε}</a:t>
                      </a:r>
                    </a:p>
                    <a:p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FIRST(F) = {}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apply rule 3 to T → FT‘ First(F)</a:t>
                      </a:r>
                    </a:p>
                    <a:p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FIRST(E) = {}</a:t>
                      </a:r>
                    </a:p>
                    <a:p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FIRST(E') = {+,ε}</a:t>
                      </a:r>
                    </a:p>
                    <a:p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FIRST(T) = {'(',id}</a:t>
                      </a:r>
                    </a:p>
                    <a:p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FIRST(T') = {*,ε}</a:t>
                      </a:r>
                    </a:p>
                    <a:p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FIRST(F) = {'(',id}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FIRST(E) = {}</a:t>
                      </a:r>
                    </a:p>
                    <a:p>
                      <a:r>
                        <a:rPr kumimoji="0"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FIRST(E') = {ε}</a:t>
                      </a:r>
                    </a:p>
                    <a:p>
                      <a:r>
                        <a:rPr kumimoji="0"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FIRST(T) = {}</a:t>
                      </a:r>
                    </a:p>
                    <a:p>
                      <a:r>
                        <a:rPr kumimoji="0"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FIRST(T') = {ε}</a:t>
                      </a:r>
                    </a:p>
                    <a:p>
                      <a:r>
                        <a:rPr kumimoji="0"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FIRST(F) = {}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FIRST(E) = {}</a:t>
                      </a:r>
                    </a:p>
                    <a:p>
                      <a:r>
                        <a:rPr kumimoji="0"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FIRST(E') = {+,ε}</a:t>
                      </a:r>
                    </a:p>
                    <a:p>
                      <a:r>
                        <a:rPr kumimoji="0"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FIRST(T) = {}</a:t>
                      </a:r>
                    </a:p>
                    <a:p>
                      <a:r>
                        <a:rPr kumimoji="0"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FIRST(T') = {*,ε}</a:t>
                      </a:r>
                    </a:p>
                    <a:p>
                      <a:r>
                        <a:rPr kumimoji="0"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FIRST(F) = {'(',id}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FIRST(E) = {'(',id}</a:t>
                      </a:r>
                    </a:p>
                    <a:p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FIRST(E') = {+,ε}</a:t>
                      </a:r>
                    </a:p>
                    <a:p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FIRST(T) = {'(',id}</a:t>
                      </a:r>
                    </a:p>
                    <a:p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FIRST(T') = {*,ε}</a:t>
                      </a:r>
                    </a:p>
                    <a:p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FIRST(F) = {'(',id}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28600" y="794772"/>
            <a:ext cx="2133600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b="1" dirty="0"/>
              <a:t>E </a:t>
            </a:r>
            <a:r>
              <a:rPr lang="en-US" b="1" dirty="0">
                <a:sym typeface="Symbol" panose="05050102010706020507" pitchFamily="18" charset="2"/>
              </a:rPr>
              <a:t> TE</a:t>
            </a:r>
            <a:r>
              <a:rPr lang="en-US" b="1" baseline="30000" dirty="0">
                <a:sym typeface="Symbol" panose="05050102010706020507" pitchFamily="18" charset="2"/>
              </a:rPr>
              <a:t>’</a:t>
            </a:r>
          </a:p>
          <a:p>
            <a:pPr>
              <a:lnSpc>
                <a:spcPct val="90000"/>
              </a:lnSpc>
            </a:pPr>
            <a:r>
              <a:rPr lang="en-US" b="1" dirty="0">
                <a:sym typeface="Symbol" panose="05050102010706020507" pitchFamily="18" charset="2"/>
              </a:rPr>
              <a:t>E</a:t>
            </a:r>
            <a:r>
              <a:rPr lang="en-US" b="1" baseline="30000" dirty="0">
                <a:sym typeface="Symbol" panose="05050102010706020507" pitchFamily="18" charset="2"/>
              </a:rPr>
              <a:t>’</a:t>
            </a:r>
            <a:r>
              <a:rPr lang="en-US" b="1" dirty="0">
                <a:sym typeface="Symbol" panose="05050102010706020507" pitchFamily="18" charset="2"/>
              </a:rPr>
              <a:t>  +TE</a:t>
            </a:r>
            <a:r>
              <a:rPr lang="en-US" b="1" baseline="30000" dirty="0">
                <a:sym typeface="Symbol" panose="05050102010706020507" pitchFamily="18" charset="2"/>
              </a:rPr>
              <a:t>’  </a:t>
            </a:r>
            <a:r>
              <a:rPr lang="en-US" b="1" baseline="-25000" dirty="0">
                <a:sym typeface="Symbol" panose="05050102010706020507" pitchFamily="18" charset="2"/>
              </a:rPr>
              <a:t> </a:t>
            </a:r>
            <a:r>
              <a:rPr lang="en-US" b="1" dirty="0">
                <a:sym typeface="Symbol" panose="05050102010706020507" pitchFamily="18" charset="2"/>
              </a:rPr>
              <a:t>|   </a:t>
            </a:r>
          </a:p>
          <a:p>
            <a:pPr>
              <a:lnSpc>
                <a:spcPct val="90000"/>
              </a:lnSpc>
            </a:pPr>
            <a:r>
              <a:rPr lang="en-US" b="1" dirty="0"/>
              <a:t>T </a:t>
            </a:r>
            <a:r>
              <a:rPr lang="en-US" b="1" dirty="0">
                <a:sym typeface="Symbol" panose="05050102010706020507" pitchFamily="18" charset="2"/>
              </a:rPr>
              <a:t> FT</a:t>
            </a:r>
            <a:r>
              <a:rPr lang="en-US" b="1" baseline="30000" dirty="0">
                <a:sym typeface="Symbol" panose="05050102010706020507" pitchFamily="18" charset="2"/>
              </a:rPr>
              <a:t>’</a:t>
            </a:r>
          </a:p>
          <a:p>
            <a:pPr>
              <a:lnSpc>
                <a:spcPct val="90000"/>
              </a:lnSpc>
            </a:pPr>
            <a:r>
              <a:rPr lang="en-US" b="1" dirty="0">
                <a:sym typeface="Symbol" panose="05050102010706020507" pitchFamily="18" charset="2"/>
              </a:rPr>
              <a:t>T</a:t>
            </a:r>
            <a:r>
              <a:rPr lang="en-US" b="1" baseline="30000" dirty="0">
                <a:sym typeface="Symbol" panose="05050102010706020507" pitchFamily="18" charset="2"/>
              </a:rPr>
              <a:t>’</a:t>
            </a:r>
            <a:r>
              <a:rPr lang="en-US" b="1" dirty="0">
                <a:sym typeface="Symbol" panose="05050102010706020507" pitchFamily="18" charset="2"/>
              </a:rPr>
              <a:t>  *FT</a:t>
            </a:r>
            <a:r>
              <a:rPr lang="en-US" b="1" baseline="30000" dirty="0">
                <a:sym typeface="Symbol" panose="05050102010706020507" pitchFamily="18" charset="2"/>
              </a:rPr>
              <a:t>’  </a:t>
            </a:r>
            <a:r>
              <a:rPr lang="en-US" b="1" baseline="-25000" dirty="0">
                <a:sym typeface="Symbol" panose="05050102010706020507" pitchFamily="18" charset="2"/>
              </a:rPr>
              <a:t> </a:t>
            </a:r>
            <a:r>
              <a:rPr lang="en-US" b="1" dirty="0">
                <a:sym typeface="Symbol" panose="05050102010706020507" pitchFamily="18" charset="2"/>
              </a:rPr>
              <a:t>|   </a:t>
            </a:r>
          </a:p>
          <a:p>
            <a:pPr>
              <a:lnSpc>
                <a:spcPct val="90000"/>
              </a:lnSpc>
            </a:pPr>
            <a:r>
              <a:rPr lang="en-US" b="1" dirty="0"/>
              <a:t>F </a:t>
            </a:r>
            <a:r>
              <a:rPr lang="en-US" b="1" dirty="0">
                <a:sym typeface="Symbol" panose="05050102010706020507" pitchFamily="18" charset="2"/>
              </a:rPr>
              <a:t> (E)   |   id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Computing FOLLOW for non-terminals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E6BBE3-C0A4-428F-9EBC-4C99FFE6CD45}" type="datetime1">
              <a:rPr lang="en-US"/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Md Zahim Hassan, BAUST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3E84DD-8F10-4A46-8A7D-909DFC9ACC0C}" type="slidenum">
              <a:rPr lang="en-US"/>
              <a:t>56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514350" lvl="0" indent="-514350">
              <a:buAutoNum type="arabicPeriod"/>
            </a:pPr>
            <a:r>
              <a:rPr lang="en-US" dirty="0"/>
              <a:t>First put $ in Follow(S) (S is the start symbol) </a:t>
            </a:r>
          </a:p>
          <a:p>
            <a:pPr marL="514350" lvl="0" indent="-514350">
              <a:buAutoNum type="arabicPeriod"/>
            </a:pPr>
            <a:r>
              <a:rPr lang="en-US" dirty="0"/>
              <a:t>If there is a production  A →</a:t>
            </a:r>
            <a:r>
              <a:rPr lang="en-US" dirty="0">
                <a:sym typeface="Symbol" panose="05050102010706020507" pitchFamily="18" charset="2"/>
              </a:rPr>
              <a:t> B</a:t>
            </a:r>
            <a:r>
              <a:rPr lang="en-US" dirty="0"/>
              <a:t>, </a:t>
            </a:r>
            <a:r>
              <a:rPr lang="en-US" b="1" dirty="0"/>
              <a:t>then</a:t>
            </a:r>
            <a:r>
              <a:rPr lang="en-US" dirty="0"/>
              <a:t> everything in FIRST(</a:t>
            </a:r>
            <a:r>
              <a:rPr lang="en-US" dirty="0">
                <a:sym typeface="Symbol" panose="05050102010706020507" pitchFamily="18" charset="2"/>
              </a:rPr>
              <a:t> </a:t>
            </a:r>
            <a:r>
              <a:rPr lang="en-US" dirty="0"/>
              <a:t>) except for ε is placed in FOLLOW(B). </a:t>
            </a:r>
          </a:p>
          <a:p>
            <a:pPr marL="514350" lvl="0" indent="-514350">
              <a:buAutoNum type="arabicPeriod"/>
            </a:pPr>
            <a:r>
              <a:rPr lang="en-US" dirty="0"/>
              <a:t>If there is a production  A → </a:t>
            </a:r>
            <a:r>
              <a:rPr lang="en-US" dirty="0">
                <a:sym typeface="Symbol" panose="05050102010706020507" pitchFamily="18" charset="2"/>
              </a:rPr>
              <a:t>B</a:t>
            </a:r>
            <a:r>
              <a:rPr lang="en-US" dirty="0"/>
              <a:t>, </a:t>
            </a:r>
            <a:r>
              <a:rPr lang="en-US" b="1" dirty="0"/>
              <a:t>then</a:t>
            </a:r>
            <a:r>
              <a:rPr lang="en-US" dirty="0"/>
              <a:t> everything in FOLLOW(A) is in FOLLOW(B) </a:t>
            </a:r>
          </a:p>
          <a:p>
            <a:pPr marL="514350" lvl="0" indent="-514350">
              <a:buAutoNum type="arabicPeriod"/>
            </a:pPr>
            <a:r>
              <a:rPr lang="en-US" dirty="0"/>
              <a:t>If there is a production A → </a:t>
            </a:r>
            <a:r>
              <a:rPr lang="en-US" dirty="0">
                <a:sym typeface="Symbol" panose="05050102010706020507" pitchFamily="18" charset="2"/>
              </a:rPr>
              <a:t>B</a:t>
            </a:r>
            <a:r>
              <a:rPr lang="en-US" dirty="0"/>
              <a:t>, where FIRST(</a:t>
            </a:r>
            <a:r>
              <a:rPr lang="en-US" dirty="0">
                <a:sym typeface="Symbol" panose="05050102010706020507" pitchFamily="18" charset="2"/>
              </a:rPr>
              <a:t></a:t>
            </a:r>
            <a:r>
              <a:rPr lang="en-US" dirty="0"/>
              <a:t>) contains ε, </a:t>
            </a:r>
            <a:r>
              <a:rPr lang="en-US" b="1" dirty="0"/>
              <a:t>then</a:t>
            </a:r>
            <a:r>
              <a:rPr lang="en-US" dirty="0"/>
              <a:t> everything in FOLLOW(A) is in FOLLOW(B)</a:t>
            </a:r>
          </a:p>
          <a:p>
            <a:pPr lvl="0"/>
            <a:endParaRPr lang="en-US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FOLLOW Example</a:t>
            </a:r>
          </a:p>
        </p:txBody>
      </p:sp>
      <p:sp>
        <p:nvSpPr>
          <p:cNvPr id="51206" name="Date Placeholder 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7D08832-FF50-4FB5-BFA1-F699470C4396}" type="datetime1">
              <a:rPr lang="en-US"/>
              <a:t>10/30/2025</a:t>
            </a:fld>
            <a:endParaRPr lang="en-US"/>
          </a:p>
        </p:txBody>
      </p:sp>
      <p:sp>
        <p:nvSpPr>
          <p:cNvPr id="51202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5120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EFFCB510-29AF-4DCF-9E41-FF17400CF299}" type="slidenum">
              <a:rPr lang="en-US"/>
              <a:t>57</a:t>
            </a:fld>
            <a:endParaRPr lang="en-US"/>
          </a:p>
        </p:txBody>
      </p:sp>
      <p:sp>
        <p:nvSpPr>
          <p:cNvPr id="51205" name="Rectangle 1027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dirty="0"/>
              <a:t>E </a:t>
            </a:r>
            <a:r>
              <a:rPr lang="en-US" dirty="0">
                <a:sym typeface="Symbol" panose="05050102010706020507" pitchFamily="18" charset="2"/>
              </a:rPr>
              <a:t> TE</a:t>
            </a:r>
            <a:r>
              <a:rPr lang="en-US" baseline="30000" dirty="0">
                <a:sym typeface="Symbol" panose="05050102010706020507" pitchFamily="18" charset="2"/>
              </a:rPr>
              <a:t>’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E</a:t>
            </a:r>
            <a:r>
              <a:rPr lang="en-US" baseline="30000" dirty="0">
                <a:sym typeface="Symbol" panose="05050102010706020507" pitchFamily="18" charset="2"/>
              </a:rPr>
              <a:t>’</a:t>
            </a:r>
            <a:r>
              <a:rPr lang="en-US" dirty="0">
                <a:sym typeface="Symbol" panose="05050102010706020507" pitchFamily="18" charset="2"/>
              </a:rPr>
              <a:t>  +TE</a:t>
            </a:r>
            <a:r>
              <a:rPr lang="en-US" baseline="30000" dirty="0">
                <a:sym typeface="Symbol" panose="05050102010706020507" pitchFamily="18" charset="2"/>
              </a:rPr>
              <a:t>’  </a:t>
            </a:r>
            <a:r>
              <a:rPr lang="en-US" baseline="-25000" dirty="0">
                <a:sym typeface="Symbol" panose="05050102010706020507" pitchFamily="18" charset="2"/>
              </a:rPr>
              <a:t> </a:t>
            </a:r>
            <a:r>
              <a:rPr lang="en-US" dirty="0">
                <a:sym typeface="Symbol" panose="05050102010706020507" pitchFamily="18" charset="2"/>
              </a:rPr>
              <a:t>|   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dirty="0"/>
              <a:t>T </a:t>
            </a:r>
            <a:r>
              <a:rPr lang="en-US" dirty="0">
                <a:sym typeface="Symbol" panose="05050102010706020507" pitchFamily="18" charset="2"/>
              </a:rPr>
              <a:t> FT</a:t>
            </a:r>
            <a:r>
              <a:rPr lang="en-US" baseline="30000" dirty="0">
                <a:sym typeface="Symbol" panose="05050102010706020507" pitchFamily="18" charset="2"/>
              </a:rPr>
              <a:t>’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T</a:t>
            </a:r>
            <a:r>
              <a:rPr lang="en-US" baseline="30000" dirty="0">
                <a:sym typeface="Symbol" panose="05050102010706020507" pitchFamily="18" charset="2"/>
              </a:rPr>
              <a:t>’</a:t>
            </a:r>
            <a:r>
              <a:rPr lang="en-US" dirty="0">
                <a:sym typeface="Symbol" panose="05050102010706020507" pitchFamily="18" charset="2"/>
              </a:rPr>
              <a:t>  *FT</a:t>
            </a:r>
            <a:r>
              <a:rPr lang="en-US" baseline="30000" dirty="0">
                <a:sym typeface="Symbol" panose="05050102010706020507" pitchFamily="18" charset="2"/>
              </a:rPr>
              <a:t>’  </a:t>
            </a:r>
            <a:r>
              <a:rPr lang="en-US" baseline="-25000" dirty="0">
                <a:sym typeface="Symbol" panose="05050102010706020507" pitchFamily="18" charset="2"/>
              </a:rPr>
              <a:t> </a:t>
            </a:r>
            <a:r>
              <a:rPr lang="en-US" dirty="0">
                <a:sym typeface="Symbol" panose="05050102010706020507" pitchFamily="18" charset="2"/>
              </a:rPr>
              <a:t>|   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dirty="0"/>
              <a:t>F </a:t>
            </a:r>
            <a:r>
              <a:rPr lang="en-US" dirty="0">
                <a:sym typeface="Symbol" panose="05050102010706020507" pitchFamily="18" charset="2"/>
              </a:rPr>
              <a:t> (E)   |   id</a:t>
            </a:r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r>
              <a:rPr lang="en-US" dirty="0"/>
              <a:t>FOLLOW(E) =  { $, ) }</a:t>
            </a:r>
          </a:p>
          <a:p>
            <a:pPr>
              <a:buFontTx/>
              <a:buNone/>
            </a:pPr>
            <a:r>
              <a:rPr lang="en-US" dirty="0"/>
              <a:t>FOLLOW(E</a:t>
            </a:r>
            <a:r>
              <a:rPr lang="en-US" baseline="30000" dirty="0"/>
              <a:t>’</a:t>
            </a:r>
            <a:r>
              <a:rPr lang="en-US" dirty="0"/>
              <a:t>) = { $, ) }</a:t>
            </a:r>
          </a:p>
          <a:p>
            <a:pPr>
              <a:buFontTx/>
              <a:buNone/>
            </a:pPr>
            <a:r>
              <a:rPr lang="en-US" dirty="0"/>
              <a:t>FOLLOW(T) =  { +, ), $ }</a:t>
            </a:r>
          </a:p>
          <a:p>
            <a:pPr>
              <a:buFontTx/>
              <a:buNone/>
            </a:pPr>
            <a:r>
              <a:rPr lang="en-US" dirty="0"/>
              <a:t>FOLLOW(T</a:t>
            </a:r>
            <a:r>
              <a:rPr lang="en-US" baseline="30000" dirty="0"/>
              <a:t>’</a:t>
            </a:r>
            <a:r>
              <a:rPr lang="en-US" dirty="0"/>
              <a:t>) = { +, ), $ }</a:t>
            </a:r>
          </a:p>
          <a:p>
            <a:pPr>
              <a:buFontTx/>
              <a:buNone/>
            </a:pPr>
            <a:r>
              <a:rPr lang="en-US" dirty="0"/>
              <a:t>FOLLOW(F)  =  {+, *, ), $ }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534400" cy="530352"/>
          </a:xfrm>
        </p:spPr>
        <p:txBody>
          <a:bodyPr>
            <a:normAutofit fontScale="90000"/>
          </a:bodyPr>
          <a:lstStyle/>
          <a:p>
            <a:r>
              <a:rPr lang="en-US" dirty="0"/>
              <a:t>FOLLOW Example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E6BBE3-C0A4-428F-9EBC-4C99FFE6CD45}" type="datetime1">
              <a:rPr lang="en-US"/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Md Zahim Hassan, BAUST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3E84DD-8F10-4A46-8A7D-909DFC9ACC0C}" type="slidenum">
              <a:rPr lang="en-US"/>
              <a:t>58</a:t>
            </a:fld>
            <a:endParaRPr lang="en-US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quarter" idx="1"/>
          </p:nvPr>
        </p:nvGraphicFramePr>
        <p:xfrm>
          <a:off x="304800" y="1524000"/>
          <a:ext cx="8504238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2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7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0" lang="en-US" sz="16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List the sets we need</a:t>
                      </a:r>
                    </a:p>
                    <a:p>
                      <a:r>
                        <a:rPr kumimoji="0" lang="en-US" sz="16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FOLLOW(E) = {}</a:t>
                      </a:r>
                    </a:p>
                    <a:p>
                      <a:r>
                        <a:rPr kumimoji="0" lang="en-US" sz="16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FOLLOW(E') = {}</a:t>
                      </a:r>
                    </a:p>
                    <a:p>
                      <a:r>
                        <a:rPr kumimoji="0" lang="en-US" sz="16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FOLLOW(T) ={}</a:t>
                      </a:r>
                    </a:p>
                    <a:p>
                      <a:r>
                        <a:rPr kumimoji="0" lang="en-US" sz="16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FOLLOW(T') = {}</a:t>
                      </a:r>
                    </a:p>
                    <a:p>
                      <a:r>
                        <a:rPr kumimoji="0" lang="en-US" sz="16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FOLLOW(F) = {}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6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Apply rule 2 to E' →+TE‘</a:t>
                      </a:r>
                      <a:r>
                        <a:rPr kumimoji="0" lang="en-US" sz="1600" b="0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6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“Everything in First(E') except  ε  be in Follow(T)”</a:t>
                      </a:r>
                    </a:p>
                    <a:p>
                      <a:r>
                        <a:rPr kumimoji="0" lang="en-US" sz="16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FOLLOW(E) = {$}</a:t>
                      </a:r>
                    </a:p>
                    <a:p>
                      <a:r>
                        <a:rPr kumimoji="0" lang="en-US" sz="16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FOLLOW(E') = {}</a:t>
                      </a:r>
                    </a:p>
                    <a:p>
                      <a:r>
                        <a:rPr kumimoji="0" lang="en-US" sz="16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FOLLOW(T) ={+}</a:t>
                      </a:r>
                    </a:p>
                    <a:p>
                      <a:r>
                        <a:rPr kumimoji="0" lang="en-US" sz="16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FOLLOW(T') = {}</a:t>
                      </a:r>
                    </a:p>
                    <a:p>
                      <a:r>
                        <a:rPr kumimoji="0" lang="en-US" sz="16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FOLLOW(F) = {}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600" b="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Apply rule  </a:t>
                      </a:r>
                      <a:r>
                        <a:rPr kumimoji="0" lang="en-US" sz="1600" b="0" kern="1200" baseline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3 </a:t>
                      </a:r>
                      <a:r>
                        <a:rPr kumimoji="0" lang="en-US" sz="16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 T </a:t>
                      </a:r>
                      <a:r>
                        <a:rPr kumimoji="0" lang="en-US" sz="1600" b="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→ FT‘ “add </a:t>
                      </a:r>
                      <a:r>
                        <a:rPr kumimoji="0" lang="en-US" sz="16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everything in Follow(T) into </a:t>
                      </a:r>
                      <a:r>
                        <a:rPr kumimoji="0" lang="en-US" sz="1600" b="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Follow(T')”</a:t>
                      </a:r>
                    </a:p>
                    <a:p>
                      <a:endParaRPr kumimoji="0" lang="en-US" sz="1600" b="0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6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FOLLOW(E) = {$}</a:t>
                      </a:r>
                    </a:p>
                    <a:p>
                      <a:r>
                        <a:rPr kumimoji="0" lang="en-US" sz="16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FOLLOW(E') = {$}</a:t>
                      </a:r>
                    </a:p>
                    <a:p>
                      <a:r>
                        <a:rPr kumimoji="0" lang="en-US" sz="16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FOLLOW(T) ={+}</a:t>
                      </a:r>
                    </a:p>
                    <a:p>
                      <a:r>
                        <a:rPr kumimoji="0" lang="en-US" sz="16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FOLLOW(T') = {+}</a:t>
                      </a:r>
                    </a:p>
                    <a:p>
                      <a:r>
                        <a:rPr kumimoji="0" lang="en-US" sz="16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FOLLOW(F) </a:t>
                      </a:r>
                      <a:r>
                        <a:rPr kumimoji="0" lang="en-US" sz="1600" b="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= {}</a:t>
                      </a:r>
                      <a:endParaRPr kumimoji="0" lang="en-US" sz="1600" b="0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apply rule 2 to T' →*FT‘ add everything in First(T') except for ε  in Follow(F)</a:t>
                      </a:r>
                    </a:p>
                    <a:p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FOLLOW(E) = {$}</a:t>
                      </a:r>
                    </a:p>
                    <a:p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FOLLOW(E') = {$}</a:t>
                      </a:r>
                    </a:p>
                    <a:p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FOLLOW(T) ={+}</a:t>
                      </a:r>
                    </a:p>
                    <a:p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FOLLOW(T') = {+}</a:t>
                      </a:r>
                    </a:p>
                    <a:p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FOLLOW(F) = {*}</a:t>
                      </a:r>
                    </a:p>
                    <a:p>
                      <a:endParaRPr kumimoji="0"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apply rule 2 to F → (E).  add everything in First(')')  in Follow(E)</a:t>
                      </a:r>
                    </a:p>
                    <a:p>
                      <a:r>
                        <a:rPr kumimoji="0" lang="en-US" sz="1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FOLLOW(E) = {$,)}</a:t>
                      </a:r>
                    </a:p>
                    <a:p>
                      <a:r>
                        <a:rPr kumimoji="0" lang="en-US" sz="1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FOLLOW(E') = {$}</a:t>
                      </a:r>
                    </a:p>
                    <a:p>
                      <a:r>
                        <a:rPr kumimoji="0" lang="en-US" sz="1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FOLLOW(T) ={+}</a:t>
                      </a:r>
                    </a:p>
                    <a:p>
                      <a:r>
                        <a:rPr kumimoji="0" lang="en-US" sz="1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FOLLOW(T') = {+}</a:t>
                      </a:r>
                    </a:p>
                    <a:p>
                      <a:r>
                        <a:rPr kumimoji="0" lang="en-US" sz="1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FOLLOW(F) = {*}</a:t>
                      </a:r>
                    </a:p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apply rule 4 to E' → +TE‘.   add everything in Follow(E') into Follow(T) (because First(E') contains ε) </a:t>
                      </a:r>
                    </a:p>
                    <a:p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FOLLOW(E) = {$,)}</a:t>
                      </a:r>
                    </a:p>
                    <a:p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FOLLOW(E') = {$,)}</a:t>
                      </a:r>
                    </a:p>
                    <a:p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FOLLOW(T) = {+,$,)}</a:t>
                      </a:r>
                    </a:p>
                    <a:p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FOLLOW(T') = {+}</a:t>
                      </a:r>
                    </a:p>
                    <a:p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FOLLOW(F) = {*}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60248"/>
            <a:ext cx="8534400" cy="454152"/>
          </a:xfrm>
        </p:spPr>
        <p:txBody>
          <a:bodyPr>
            <a:normAutofit fontScale="90000"/>
          </a:bodyPr>
          <a:lstStyle/>
          <a:p>
            <a:r>
              <a:rPr lang="en-US" dirty="0"/>
              <a:t>FOLLOW Example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E6BBE3-C0A4-428F-9EBC-4C99FFE6CD45}" type="datetime1">
              <a:rPr lang="en-US"/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Md Zahim Hassan, BAUST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3E84DD-8F10-4A46-8A7D-909DFC9ACC0C}" type="slidenum">
              <a:rPr lang="en-US"/>
              <a:t>59</a:t>
            </a:fld>
            <a:endParaRPr lang="en-US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quarter" idx="1"/>
          </p:nvPr>
        </p:nvGraphicFramePr>
        <p:xfrm>
          <a:off x="228600" y="2514600"/>
          <a:ext cx="8504238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7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7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0" lang="en-US" sz="16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apply rule 3 to E → TE‘.  add everything in Follow(E) into Follow(E')</a:t>
                      </a:r>
                    </a:p>
                    <a:p>
                      <a:r>
                        <a:rPr kumimoji="0" lang="en-US" sz="16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FOLLOW(E) = {$,)}</a:t>
                      </a:r>
                    </a:p>
                    <a:p>
                      <a:r>
                        <a:rPr kumimoji="0" lang="en-US" sz="16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FOLLOW(E') = {$,)}</a:t>
                      </a:r>
                    </a:p>
                    <a:p>
                      <a:r>
                        <a:rPr kumimoji="0" lang="en-US" sz="16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FOLLOW(T) = {+}</a:t>
                      </a:r>
                    </a:p>
                    <a:p>
                      <a:r>
                        <a:rPr kumimoji="0" lang="en-US" sz="16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FOLLOW(T') = {+}</a:t>
                      </a:r>
                    </a:p>
                    <a:p>
                      <a:r>
                        <a:rPr kumimoji="0" lang="en-US" sz="16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FOLLOW(F) = {*}</a:t>
                      </a:r>
                      <a:endParaRPr kumimoji="0" lang="en-US" sz="1600" b="0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6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apply rule 3 to T → FTadd everything in Follow(T) into Follow(T')</a:t>
                      </a:r>
                    </a:p>
                    <a:p>
                      <a:r>
                        <a:rPr kumimoji="0" lang="en-US" sz="16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FOLLOW(E) = {$,)}</a:t>
                      </a:r>
                    </a:p>
                    <a:p>
                      <a:r>
                        <a:rPr kumimoji="0" lang="en-US" sz="16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FOLLOW(E') = {$,)}</a:t>
                      </a:r>
                    </a:p>
                    <a:p>
                      <a:r>
                        <a:rPr kumimoji="0" lang="en-US" sz="16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FOLLOW(T) = {+,$,)}</a:t>
                      </a:r>
                    </a:p>
                    <a:p>
                      <a:r>
                        <a:rPr kumimoji="0" lang="en-US" sz="16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FOLLOW(T') = {+,$,)}</a:t>
                      </a:r>
                    </a:p>
                    <a:p>
                      <a:r>
                        <a:rPr kumimoji="0" lang="en-US" sz="16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FOLLOW(F) = {*}</a:t>
                      </a:r>
                      <a:endParaRPr kumimoji="0" lang="en-US" sz="1600" b="0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Finaly we apply rule 4 to T' → *FT‘. add everything in Follow(T') into Follow(F)</a:t>
                      </a:r>
                    </a:p>
                    <a:p>
                      <a:r>
                        <a:rPr kumimoji="0" lang="en-US" sz="1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FOLLOW(E) = {$,)}</a:t>
                      </a:r>
                    </a:p>
                    <a:p>
                      <a:r>
                        <a:rPr kumimoji="0" lang="en-US" sz="1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FOLLOW(E') = {$,)}</a:t>
                      </a:r>
                    </a:p>
                    <a:p>
                      <a:r>
                        <a:rPr kumimoji="0" lang="en-US" sz="1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FOLLOW(T) = {+,$,)}</a:t>
                      </a:r>
                    </a:p>
                    <a:p>
                      <a:r>
                        <a:rPr kumimoji="0" lang="en-US" sz="1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FOLLOW(T') = {+,$,)}</a:t>
                      </a:r>
                    </a:p>
                    <a:p>
                      <a:r>
                        <a:rPr kumimoji="0" lang="en-US" sz="1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FOLLOW(F) = {*,+,$,)}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Constructing LL(1) Parsing Table -- Algorithm</a:t>
            </a:r>
          </a:p>
        </p:txBody>
      </p:sp>
      <p:sp>
        <p:nvSpPr>
          <p:cNvPr id="52230" name="Date Placeholder 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71D12B-4540-46C9-A76C-5CEE5D6350AB}" type="datetime1">
              <a:rPr lang="en-US"/>
              <a:t>10/30/2025</a:t>
            </a:fld>
            <a:endParaRPr lang="en-US"/>
          </a:p>
        </p:txBody>
      </p:sp>
      <p:sp>
        <p:nvSpPr>
          <p:cNvPr id="52226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5222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59F56231-0A78-4B93-933A-D0A8D8B02A7A}" type="slidenum">
              <a:rPr lang="en-US"/>
              <a:t>60</a:t>
            </a:fld>
            <a:endParaRPr lang="en-US"/>
          </a:p>
        </p:txBody>
      </p:sp>
      <p:sp>
        <p:nvSpPr>
          <p:cNvPr id="5222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for each production rule </a:t>
            </a:r>
            <a:r>
              <a:rPr lang="en-US" dirty="0">
                <a:sym typeface="Wingdings" panose="05000000000000000000" pitchFamily="2" charset="2"/>
              </a:rPr>
              <a:t>A </a:t>
            </a:r>
            <a:r>
              <a:rPr lang="en-US" dirty="0">
                <a:sym typeface="Symbol" panose="05050102010706020507" pitchFamily="18" charset="2"/>
              </a:rPr>
              <a:t>   of a grammar G</a:t>
            </a:r>
          </a:p>
          <a:p>
            <a:pPr lvl="1"/>
            <a:r>
              <a:rPr lang="en-US" sz="2400" dirty="0"/>
              <a:t>for each terminal a in FIRST(</a:t>
            </a:r>
            <a:r>
              <a:rPr lang="en-US" sz="2400" dirty="0">
                <a:sym typeface="Symbol" panose="05050102010706020507" pitchFamily="18" charset="2"/>
              </a:rPr>
              <a:t>)                                                        </a:t>
            </a:r>
            <a:r>
              <a:rPr lang="en-US" sz="2400" dirty="0">
                <a:sym typeface="Wingdings" panose="05000000000000000000" pitchFamily="2" charset="2"/>
              </a:rPr>
              <a:t>  add A </a:t>
            </a:r>
            <a:r>
              <a:rPr lang="en-US" sz="2400" dirty="0">
                <a:sym typeface="Symbol" panose="05050102010706020507" pitchFamily="18" charset="2"/>
              </a:rPr>
              <a:t>   to M[</a:t>
            </a:r>
            <a:r>
              <a:rPr lang="en-US" sz="2400" dirty="0" err="1">
                <a:sym typeface="Symbol" panose="05050102010706020507" pitchFamily="18" charset="2"/>
              </a:rPr>
              <a:t>A,a</a:t>
            </a:r>
            <a:r>
              <a:rPr lang="en-US" sz="2400" dirty="0">
                <a:sym typeface="Symbol" panose="05050102010706020507" pitchFamily="18" charset="2"/>
              </a:rPr>
              <a:t>]</a:t>
            </a:r>
          </a:p>
          <a:p>
            <a:pPr lvl="1"/>
            <a:r>
              <a:rPr lang="en-US" sz="2400" dirty="0">
                <a:sym typeface="Symbol" panose="05050102010706020507" pitchFamily="18" charset="2"/>
              </a:rPr>
              <a:t>If  in FIRST()                                                                                </a:t>
            </a:r>
            <a:r>
              <a:rPr lang="en-US" sz="2400" dirty="0">
                <a:sym typeface="Wingdings" panose="05000000000000000000" pitchFamily="2" charset="2"/>
              </a:rPr>
              <a:t>  for each terminal a in FOLLOW(A)  add A </a:t>
            </a:r>
            <a:r>
              <a:rPr lang="en-US" sz="2400" dirty="0">
                <a:sym typeface="Symbol" panose="05050102010706020507" pitchFamily="18" charset="2"/>
              </a:rPr>
              <a:t>   to M[</a:t>
            </a:r>
            <a:r>
              <a:rPr lang="en-US" sz="2400" dirty="0" err="1">
                <a:sym typeface="Symbol" panose="05050102010706020507" pitchFamily="18" charset="2"/>
              </a:rPr>
              <a:t>A,a</a:t>
            </a:r>
            <a:r>
              <a:rPr lang="en-US" sz="2400" dirty="0">
                <a:sym typeface="Symbol" panose="05050102010706020507" pitchFamily="18" charset="2"/>
              </a:rPr>
              <a:t>]</a:t>
            </a:r>
          </a:p>
          <a:p>
            <a:pPr lvl="1"/>
            <a:r>
              <a:rPr lang="en-US" sz="2400" dirty="0">
                <a:sym typeface="Symbol" panose="05050102010706020507" pitchFamily="18" charset="2"/>
              </a:rPr>
              <a:t>If  in FIRST() and $ in FOLLOW(A)                                           </a:t>
            </a:r>
            <a:r>
              <a:rPr lang="en-US" sz="2400" dirty="0">
                <a:sym typeface="Wingdings" panose="05000000000000000000" pitchFamily="2" charset="2"/>
              </a:rPr>
              <a:t>  add A </a:t>
            </a:r>
            <a:r>
              <a:rPr lang="en-US" sz="2400" dirty="0">
                <a:sym typeface="Symbol" panose="05050102010706020507" pitchFamily="18" charset="2"/>
              </a:rPr>
              <a:t>   to M[A,$]</a:t>
            </a:r>
          </a:p>
          <a:p>
            <a:pPr lvl="1"/>
            <a:endParaRPr lang="en-US" sz="2400" dirty="0">
              <a:sym typeface="Symbol" panose="05050102010706020507" pitchFamily="18" charset="2"/>
            </a:endParaRPr>
          </a:p>
          <a:p>
            <a:r>
              <a:rPr lang="en-US" dirty="0">
                <a:sym typeface="Symbol" panose="05050102010706020507" pitchFamily="18" charset="2"/>
              </a:rPr>
              <a:t>All other undefined entries of the parsing table are error entries.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Constructing LL(1) Parsing Table -- Example</a:t>
            </a:r>
          </a:p>
        </p:txBody>
      </p:sp>
      <p:sp>
        <p:nvSpPr>
          <p:cNvPr id="53254" name="Date Placeholder 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81A2660-BCCB-4577-A7E9-B16C42E70A93}" type="datetime1">
              <a:rPr lang="en-US"/>
              <a:t>10/30/2025</a:t>
            </a:fld>
            <a:endParaRPr lang="en-US"/>
          </a:p>
        </p:txBody>
      </p:sp>
      <p:sp>
        <p:nvSpPr>
          <p:cNvPr id="53250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5325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B1468E3-3607-4D84-A578-0EF28A834D67}" type="slidenum">
              <a:rPr lang="en-US"/>
              <a:t>61</a:t>
            </a:fld>
            <a:endParaRPr lang="en-US" dirty="0"/>
          </a:p>
        </p:txBody>
      </p:sp>
      <p:sp>
        <p:nvSpPr>
          <p:cNvPr id="5325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52425" y="1371600"/>
            <a:ext cx="8650288" cy="51054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000" dirty="0"/>
              <a:t>E </a:t>
            </a:r>
            <a:r>
              <a:rPr lang="en-US" sz="2000" dirty="0">
                <a:sym typeface="Symbol" panose="05050102010706020507" pitchFamily="18" charset="2"/>
              </a:rPr>
              <a:t> TE</a:t>
            </a:r>
            <a:r>
              <a:rPr lang="en-US" sz="2000" baseline="30000" dirty="0">
                <a:sym typeface="Symbol" panose="05050102010706020507" pitchFamily="18" charset="2"/>
              </a:rPr>
              <a:t>’		</a:t>
            </a:r>
            <a:r>
              <a:rPr lang="en-US" sz="2000" dirty="0">
                <a:sym typeface="Symbol" panose="05050102010706020507" pitchFamily="18" charset="2"/>
              </a:rPr>
              <a:t>FIRST(TE</a:t>
            </a:r>
            <a:r>
              <a:rPr lang="en-US" sz="2000" baseline="30000" dirty="0">
                <a:sym typeface="Symbol" panose="05050102010706020507" pitchFamily="18" charset="2"/>
              </a:rPr>
              <a:t>’</a:t>
            </a:r>
            <a:r>
              <a:rPr lang="en-US" sz="2000" dirty="0">
                <a:sym typeface="Symbol" panose="05050102010706020507" pitchFamily="18" charset="2"/>
              </a:rPr>
              <a:t>)={(,id}	</a:t>
            </a:r>
            <a:r>
              <a:rPr lang="en-US" sz="2000" dirty="0">
                <a:sym typeface="Wingdings" panose="05000000000000000000" pitchFamily="2" charset="2"/>
              </a:rPr>
              <a:t> </a:t>
            </a:r>
            <a:r>
              <a:rPr lang="en-US" sz="2000" dirty="0"/>
              <a:t>E </a:t>
            </a:r>
            <a:r>
              <a:rPr lang="en-US" sz="2000" dirty="0">
                <a:sym typeface="Symbol" panose="05050102010706020507" pitchFamily="18" charset="2"/>
              </a:rPr>
              <a:t> TE</a:t>
            </a:r>
            <a:r>
              <a:rPr lang="en-US" sz="2000" baseline="30000" dirty="0">
                <a:sym typeface="Symbol" panose="05050102010706020507" pitchFamily="18" charset="2"/>
              </a:rPr>
              <a:t>’</a:t>
            </a:r>
            <a:r>
              <a:rPr lang="en-US" sz="2000" dirty="0">
                <a:sym typeface="Wingdings" panose="05000000000000000000" pitchFamily="2" charset="2"/>
              </a:rPr>
              <a:t>  into M[E,(] and M[</a:t>
            </a:r>
            <a:r>
              <a:rPr lang="en-US" sz="2000" dirty="0" err="1">
                <a:sym typeface="Wingdings" panose="05000000000000000000" pitchFamily="2" charset="2"/>
              </a:rPr>
              <a:t>E,id</a:t>
            </a:r>
            <a:r>
              <a:rPr lang="en-US" sz="2000" dirty="0">
                <a:sym typeface="Wingdings" panose="05000000000000000000" pitchFamily="2" charset="2"/>
              </a:rPr>
              <a:t>]	</a:t>
            </a:r>
            <a:endParaRPr lang="en-US" sz="2000" baseline="300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sz="2000" baseline="300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000" dirty="0">
                <a:sym typeface="Symbol" panose="05050102010706020507" pitchFamily="18" charset="2"/>
              </a:rPr>
              <a:t>E</a:t>
            </a:r>
            <a:r>
              <a:rPr lang="en-US" sz="2000" baseline="30000" dirty="0">
                <a:sym typeface="Symbol" panose="05050102010706020507" pitchFamily="18" charset="2"/>
              </a:rPr>
              <a:t>’</a:t>
            </a:r>
            <a:r>
              <a:rPr lang="en-US" sz="2000" dirty="0">
                <a:sym typeface="Symbol" panose="05050102010706020507" pitchFamily="18" charset="2"/>
              </a:rPr>
              <a:t>  +TE</a:t>
            </a:r>
            <a:r>
              <a:rPr lang="en-US" sz="2000" baseline="30000" dirty="0">
                <a:sym typeface="Symbol" panose="05050102010706020507" pitchFamily="18" charset="2"/>
              </a:rPr>
              <a:t>’  </a:t>
            </a:r>
            <a:r>
              <a:rPr lang="en-US" sz="2000" baseline="-25000" dirty="0">
                <a:sym typeface="Symbol" panose="05050102010706020507" pitchFamily="18" charset="2"/>
              </a:rPr>
              <a:t> 	</a:t>
            </a:r>
            <a:r>
              <a:rPr lang="en-US" sz="2000" dirty="0">
                <a:sym typeface="Symbol" panose="05050102010706020507" pitchFamily="18" charset="2"/>
              </a:rPr>
              <a:t>FIRST(+TE</a:t>
            </a:r>
            <a:r>
              <a:rPr lang="en-US" sz="2000" baseline="30000" dirty="0">
                <a:sym typeface="Symbol" panose="05050102010706020507" pitchFamily="18" charset="2"/>
              </a:rPr>
              <a:t>’ </a:t>
            </a:r>
            <a:r>
              <a:rPr lang="en-US" sz="2000" dirty="0">
                <a:sym typeface="Symbol" panose="05050102010706020507" pitchFamily="18" charset="2"/>
              </a:rPr>
              <a:t>)={+}	</a:t>
            </a:r>
            <a:r>
              <a:rPr lang="en-US" sz="2000" dirty="0">
                <a:sym typeface="Wingdings" panose="05000000000000000000" pitchFamily="2" charset="2"/>
              </a:rPr>
              <a:t> </a:t>
            </a:r>
            <a:r>
              <a:rPr lang="en-US" sz="2000" dirty="0">
                <a:sym typeface="Symbol" panose="05050102010706020507" pitchFamily="18" charset="2"/>
              </a:rPr>
              <a:t>E</a:t>
            </a:r>
            <a:r>
              <a:rPr lang="en-US" sz="2000" baseline="30000" dirty="0">
                <a:sym typeface="Symbol" panose="05050102010706020507" pitchFamily="18" charset="2"/>
              </a:rPr>
              <a:t>’</a:t>
            </a:r>
            <a:r>
              <a:rPr lang="en-US" sz="2000" dirty="0">
                <a:sym typeface="Symbol" panose="05050102010706020507" pitchFamily="18" charset="2"/>
              </a:rPr>
              <a:t>  +TE</a:t>
            </a:r>
            <a:r>
              <a:rPr lang="en-US" sz="2000" baseline="30000" dirty="0">
                <a:sym typeface="Symbol" panose="05050102010706020507" pitchFamily="18" charset="2"/>
              </a:rPr>
              <a:t>’  </a:t>
            </a:r>
            <a:r>
              <a:rPr lang="en-US" sz="2000" dirty="0">
                <a:sym typeface="Symbol" panose="05050102010706020507" pitchFamily="18" charset="2"/>
              </a:rPr>
              <a:t>into M[E</a:t>
            </a:r>
            <a:r>
              <a:rPr lang="en-US" sz="2000" baseline="30000" dirty="0">
                <a:sym typeface="Symbol" panose="05050102010706020507" pitchFamily="18" charset="2"/>
              </a:rPr>
              <a:t>’</a:t>
            </a:r>
            <a:r>
              <a:rPr lang="en-US" sz="2000" dirty="0">
                <a:sym typeface="Symbol" panose="05050102010706020507" pitchFamily="18" charset="2"/>
              </a:rPr>
              <a:t>,+]</a:t>
            </a:r>
            <a:endParaRPr lang="en-US" sz="2000" baseline="-250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000" dirty="0">
                <a:sym typeface="Symbol" panose="05050102010706020507" pitchFamily="18" charset="2"/>
              </a:rPr>
              <a:t>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000" dirty="0">
                <a:sym typeface="Symbol" panose="05050102010706020507" pitchFamily="18" charset="2"/>
              </a:rPr>
              <a:t>E</a:t>
            </a:r>
            <a:r>
              <a:rPr lang="en-US" sz="2000" baseline="30000" dirty="0">
                <a:sym typeface="Symbol" panose="05050102010706020507" pitchFamily="18" charset="2"/>
              </a:rPr>
              <a:t>’</a:t>
            </a:r>
            <a:r>
              <a:rPr lang="en-US" sz="2000" dirty="0">
                <a:sym typeface="Symbol" panose="05050102010706020507" pitchFamily="18" charset="2"/>
              </a:rPr>
              <a:t>  		FIRST()={}		</a:t>
            </a:r>
            <a:r>
              <a:rPr lang="en-US" sz="2000" dirty="0">
                <a:sym typeface="Wingdings" panose="05000000000000000000" pitchFamily="2" charset="2"/>
              </a:rPr>
              <a:t> none</a:t>
            </a:r>
            <a:endParaRPr lang="en-US" sz="20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000" dirty="0">
                <a:sym typeface="Symbol" panose="05050102010706020507" pitchFamily="18" charset="2"/>
              </a:rPr>
              <a:t>			but since  in FIRST()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000" dirty="0">
                <a:sym typeface="Symbol" panose="05050102010706020507" pitchFamily="18" charset="2"/>
              </a:rPr>
              <a:t>			and FOLLOW(E</a:t>
            </a:r>
            <a:r>
              <a:rPr lang="en-US" sz="2000" baseline="30000" dirty="0">
                <a:sym typeface="Symbol" panose="05050102010706020507" pitchFamily="18" charset="2"/>
              </a:rPr>
              <a:t>’</a:t>
            </a:r>
            <a:r>
              <a:rPr lang="en-US" sz="2000" dirty="0">
                <a:sym typeface="Symbol" panose="05050102010706020507" pitchFamily="18" charset="2"/>
              </a:rPr>
              <a:t>)={$,)} 	</a:t>
            </a:r>
            <a:r>
              <a:rPr lang="en-US" sz="2000" dirty="0">
                <a:sym typeface="Wingdings" panose="05000000000000000000" pitchFamily="2" charset="2"/>
              </a:rPr>
              <a:t> </a:t>
            </a:r>
            <a:r>
              <a:rPr lang="en-US" sz="2000" dirty="0">
                <a:sym typeface="Symbol" panose="05050102010706020507" pitchFamily="18" charset="2"/>
              </a:rPr>
              <a:t>E</a:t>
            </a:r>
            <a:r>
              <a:rPr lang="en-US" sz="2000" baseline="30000" dirty="0">
                <a:sym typeface="Symbol" panose="05050102010706020507" pitchFamily="18" charset="2"/>
              </a:rPr>
              <a:t>’</a:t>
            </a:r>
            <a:r>
              <a:rPr lang="en-US" sz="2000" dirty="0">
                <a:sym typeface="Symbol" panose="05050102010706020507" pitchFamily="18" charset="2"/>
              </a:rPr>
              <a:t>     into M[E</a:t>
            </a:r>
            <a:r>
              <a:rPr lang="en-US" sz="2000" baseline="30000" dirty="0">
                <a:sym typeface="Symbol" panose="05050102010706020507" pitchFamily="18" charset="2"/>
              </a:rPr>
              <a:t>’</a:t>
            </a:r>
            <a:r>
              <a:rPr lang="en-US" sz="2000" dirty="0">
                <a:sym typeface="Symbol" panose="05050102010706020507" pitchFamily="18" charset="2"/>
              </a:rPr>
              <a:t>,$]  and M[E</a:t>
            </a:r>
            <a:r>
              <a:rPr lang="en-US" sz="2000" baseline="30000" dirty="0">
                <a:sym typeface="Symbol" panose="05050102010706020507" pitchFamily="18" charset="2"/>
              </a:rPr>
              <a:t>’</a:t>
            </a:r>
            <a:r>
              <a:rPr lang="en-US" sz="2000" dirty="0">
                <a:sym typeface="Symbol" panose="05050102010706020507" pitchFamily="18" charset="2"/>
              </a:rPr>
              <a:t>,)] 	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endParaRPr lang="en-US" sz="20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sz="2000" dirty="0"/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000" dirty="0"/>
              <a:t>T </a:t>
            </a:r>
            <a:r>
              <a:rPr lang="en-US" sz="2000" dirty="0">
                <a:sym typeface="Symbol" panose="05050102010706020507" pitchFamily="18" charset="2"/>
              </a:rPr>
              <a:t> FT</a:t>
            </a:r>
            <a:r>
              <a:rPr lang="en-US" sz="2000" baseline="30000" dirty="0">
                <a:sym typeface="Symbol" panose="05050102010706020507" pitchFamily="18" charset="2"/>
              </a:rPr>
              <a:t>’		</a:t>
            </a:r>
            <a:r>
              <a:rPr lang="en-US" sz="2000" dirty="0">
                <a:sym typeface="Symbol" panose="05050102010706020507" pitchFamily="18" charset="2"/>
              </a:rPr>
              <a:t>FIRST(FT</a:t>
            </a:r>
            <a:r>
              <a:rPr lang="en-US" sz="2000" baseline="30000" dirty="0">
                <a:sym typeface="Symbol" panose="05050102010706020507" pitchFamily="18" charset="2"/>
              </a:rPr>
              <a:t>’</a:t>
            </a:r>
            <a:r>
              <a:rPr lang="en-US" sz="2000" dirty="0">
                <a:sym typeface="Symbol" panose="05050102010706020507" pitchFamily="18" charset="2"/>
              </a:rPr>
              <a:t>)={(,id}	</a:t>
            </a:r>
            <a:r>
              <a:rPr lang="en-US" sz="2000" dirty="0">
                <a:sym typeface="Wingdings" panose="05000000000000000000" pitchFamily="2" charset="2"/>
              </a:rPr>
              <a:t> </a:t>
            </a:r>
            <a:r>
              <a:rPr lang="en-US" sz="2000" dirty="0"/>
              <a:t>T </a:t>
            </a:r>
            <a:r>
              <a:rPr lang="en-US" sz="2000" dirty="0">
                <a:sym typeface="Symbol" panose="05050102010706020507" pitchFamily="18" charset="2"/>
              </a:rPr>
              <a:t> FT</a:t>
            </a:r>
            <a:r>
              <a:rPr lang="en-US" sz="2000" baseline="30000" dirty="0">
                <a:sym typeface="Symbol" panose="05050102010706020507" pitchFamily="18" charset="2"/>
              </a:rPr>
              <a:t>’  </a:t>
            </a:r>
            <a:r>
              <a:rPr lang="en-US" sz="2000" dirty="0">
                <a:sym typeface="Wingdings" panose="05000000000000000000" pitchFamily="2" charset="2"/>
              </a:rPr>
              <a:t>into M[T,(] and M[</a:t>
            </a:r>
            <a:r>
              <a:rPr lang="en-US" sz="2000" dirty="0" err="1">
                <a:sym typeface="Wingdings" panose="05000000000000000000" pitchFamily="2" charset="2"/>
              </a:rPr>
              <a:t>T,id</a:t>
            </a:r>
            <a:r>
              <a:rPr lang="en-US" sz="2000" dirty="0">
                <a:sym typeface="Wingdings" panose="05000000000000000000" pitchFamily="2" charset="2"/>
              </a:rPr>
              <a:t>]</a:t>
            </a:r>
            <a:r>
              <a:rPr lang="en-US" sz="2000" baseline="30000" dirty="0">
                <a:sym typeface="Symbol" panose="05050102010706020507" pitchFamily="18" charset="2"/>
              </a:rPr>
              <a:t> 	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sz="2000" baseline="300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000" dirty="0">
                <a:sym typeface="Symbol" panose="05050102010706020507" pitchFamily="18" charset="2"/>
              </a:rPr>
              <a:t>T</a:t>
            </a:r>
            <a:r>
              <a:rPr lang="en-US" sz="2000" baseline="30000" dirty="0">
                <a:sym typeface="Symbol" panose="05050102010706020507" pitchFamily="18" charset="2"/>
              </a:rPr>
              <a:t>’</a:t>
            </a:r>
            <a:r>
              <a:rPr lang="en-US" sz="2000" dirty="0">
                <a:sym typeface="Symbol" panose="05050102010706020507" pitchFamily="18" charset="2"/>
              </a:rPr>
              <a:t>  *FT</a:t>
            </a:r>
            <a:r>
              <a:rPr lang="en-US" sz="2000" baseline="30000" dirty="0">
                <a:sym typeface="Symbol" panose="05050102010706020507" pitchFamily="18" charset="2"/>
              </a:rPr>
              <a:t>’  	</a:t>
            </a:r>
            <a:r>
              <a:rPr lang="en-US" sz="2000" dirty="0">
                <a:sym typeface="Symbol" panose="05050102010706020507" pitchFamily="18" charset="2"/>
              </a:rPr>
              <a:t>FIRST(*FT</a:t>
            </a:r>
            <a:r>
              <a:rPr lang="en-US" sz="2000" baseline="30000" dirty="0">
                <a:sym typeface="Symbol" panose="05050102010706020507" pitchFamily="18" charset="2"/>
              </a:rPr>
              <a:t>’ </a:t>
            </a:r>
            <a:r>
              <a:rPr lang="en-US" sz="2000" dirty="0">
                <a:sym typeface="Symbol" panose="05050102010706020507" pitchFamily="18" charset="2"/>
              </a:rPr>
              <a:t>)={*}	</a:t>
            </a:r>
            <a:r>
              <a:rPr lang="en-US" sz="2000" dirty="0">
                <a:sym typeface="Wingdings" panose="05000000000000000000" pitchFamily="2" charset="2"/>
              </a:rPr>
              <a:t> </a:t>
            </a:r>
            <a:r>
              <a:rPr lang="en-US" sz="2000" dirty="0">
                <a:sym typeface="Symbol" panose="05050102010706020507" pitchFamily="18" charset="2"/>
              </a:rPr>
              <a:t>T</a:t>
            </a:r>
            <a:r>
              <a:rPr lang="en-US" sz="2000" baseline="30000" dirty="0">
                <a:sym typeface="Symbol" panose="05050102010706020507" pitchFamily="18" charset="2"/>
              </a:rPr>
              <a:t>’</a:t>
            </a:r>
            <a:r>
              <a:rPr lang="en-US" sz="2000" dirty="0">
                <a:sym typeface="Symbol" panose="05050102010706020507" pitchFamily="18" charset="2"/>
              </a:rPr>
              <a:t>  *FT</a:t>
            </a:r>
            <a:r>
              <a:rPr lang="en-US" sz="2000" baseline="30000" dirty="0">
                <a:sym typeface="Symbol" panose="05050102010706020507" pitchFamily="18" charset="2"/>
              </a:rPr>
              <a:t>’ </a:t>
            </a:r>
            <a:r>
              <a:rPr lang="en-US" sz="2000" dirty="0">
                <a:sym typeface="Symbol" panose="05050102010706020507" pitchFamily="18" charset="2"/>
              </a:rPr>
              <a:t>into M[T</a:t>
            </a:r>
            <a:r>
              <a:rPr lang="en-US" sz="2000" baseline="30000" dirty="0">
                <a:sym typeface="Symbol" panose="05050102010706020507" pitchFamily="18" charset="2"/>
              </a:rPr>
              <a:t>’</a:t>
            </a:r>
            <a:r>
              <a:rPr lang="en-US" sz="2000" dirty="0">
                <a:sym typeface="Symbol" panose="05050102010706020507" pitchFamily="18" charset="2"/>
              </a:rPr>
              <a:t>,*]</a:t>
            </a:r>
            <a:endParaRPr lang="en-US" sz="2000" baseline="300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000" baseline="-25000" dirty="0">
                <a:sym typeface="Symbol" panose="05050102010706020507" pitchFamily="18" charset="2"/>
              </a:rPr>
              <a:t> </a:t>
            </a:r>
            <a:r>
              <a:rPr lang="en-US" sz="2000" dirty="0">
                <a:sym typeface="Symbol" panose="05050102010706020507" pitchFamily="18" charset="2"/>
              </a:rPr>
              <a:t>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000" dirty="0">
                <a:sym typeface="Symbol" panose="05050102010706020507" pitchFamily="18" charset="2"/>
              </a:rPr>
              <a:t>T</a:t>
            </a:r>
            <a:r>
              <a:rPr lang="en-US" sz="2000" baseline="30000" dirty="0">
                <a:sym typeface="Symbol" panose="05050102010706020507" pitchFamily="18" charset="2"/>
              </a:rPr>
              <a:t>’</a:t>
            </a:r>
            <a:r>
              <a:rPr lang="en-US" sz="2000" dirty="0">
                <a:sym typeface="Symbol" panose="05050102010706020507" pitchFamily="18" charset="2"/>
              </a:rPr>
              <a:t>   		FIRST()={}		</a:t>
            </a:r>
            <a:r>
              <a:rPr lang="en-US" sz="2000" dirty="0">
                <a:sym typeface="Wingdings" panose="05000000000000000000" pitchFamily="2" charset="2"/>
              </a:rPr>
              <a:t> none</a:t>
            </a:r>
            <a:endParaRPr lang="en-US" sz="20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000" dirty="0">
                <a:sym typeface="Symbol" panose="05050102010706020507" pitchFamily="18" charset="2"/>
              </a:rPr>
              <a:t>			but since  in FIRST()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000" dirty="0">
                <a:sym typeface="Symbol" panose="05050102010706020507" pitchFamily="18" charset="2"/>
              </a:rPr>
              <a:t>			and FOLLOW(T</a:t>
            </a:r>
            <a:r>
              <a:rPr lang="en-US" sz="2000" baseline="30000" dirty="0">
                <a:sym typeface="Symbol" panose="05050102010706020507" pitchFamily="18" charset="2"/>
              </a:rPr>
              <a:t>’</a:t>
            </a:r>
            <a:r>
              <a:rPr lang="en-US" sz="2000" dirty="0">
                <a:sym typeface="Symbol" panose="05050102010706020507" pitchFamily="18" charset="2"/>
              </a:rPr>
              <a:t>)={$,),+}</a:t>
            </a:r>
            <a:r>
              <a:rPr lang="en-US" sz="2000" dirty="0">
                <a:sym typeface="Wingdings" panose="05000000000000000000" pitchFamily="2" charset="2"/>
              </a:rPr>
              <a:t> </a:t>
            </a:r>
            <a:r>
              <a:rPr lang="en-US" sz="2000" dirty="0">
                <a:sym typeface="Symbol" panose="05050102010706020507" pitchFamily="18" charset="2"/>
              </a:rPr>
              <a:t>T</a:t>
            </a:r>
            <a:r>
              <a:rPr lang="en-US" sz="2000" baseline="30000" dirty="0">
                <a:sym typeface="Symbol" panose="05050102010706020507" pitchFamily="18" charset="2"/>
              </a:rPr>
              <a:t>’</a:t>
            </a:r>
            <a:r>
              <a:rPr lang="en-US" sz="2000" dirty="0">
                <a:sym typeface="Symbol" panose="05050102010706020507" pitchFamily="18" charset="2"/>
              </a:rPr>
              <a:t>    into M[T</a:t>
            </a:r>
            <a:r>
              <a:rPr lang="en-US" sz="2000" baseline="30000" dirty="0">
                <a:sym typeface="Symbol" panose="05050102010706020507" pitchFamily="18" charset="2"/>
              </a:rPr>
              <a:t>’</a:t>
            </a:r>
            <a:r>
              <a:rPr lang="en-US" sz="2000" dirty="0">
                <a:sym typeface="Symbol" panose="05050102010706020507" pitchFamily="18" charset="2"/>
              </a:rPr>
              <a:t>,$], M[T</a:t>
            </a:r>
            <a:r>
              <a:rPr lang="en-US" sz="2000" baseline="30000" dirty="0">
                <a:sym typeface="Symbol" panose="05050102010706020507" pitchFamily="18" charset="2"/>
              </a:rPr>
              <a:t>’</a:t>
            </a:r>
            <a:r>
              <a:rPr lang="en-US" sz="2000" dirty="0">
                <a:sym typeface="Symbol" panose="05050102010706020507" pitchFamily="18" charset="2"/>
              </a:rPr>
              <a:t>,)] and 						M[T</a:t>
            </a:r>
            <a:r>
              <a:rPr lang="en-US" sz="2000" baseline="30000" dirty="0">
                <a:sym typeface="Symbol" panose="05050102010706020507" pitchFamily="18" charset="2"/>
              </a:rPr>
              <a:t>’</a:t>
            </a:r>
            <a:r>
              <a:rPr lang="en-US" sz="2000" dirty="0">
                <a:sym typeface="Symbol" panose="05050102010706020507" pitchFamily="18" charset="2"/>
              </a:rPr>
              <a:t>,+]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sz="20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000" dirty="0"/>
              <a:t>F </a:t>
            </a:r>
            <a:r>
              <a:rPr lang="en-US" sz="2000" dirty="0">
                <a:sym typeface="Symbol" panose="05050102010706020507" pitchFamily="18" charset="2"/>
              </a:rPr>
              <a:t> (E) 		FIRST((E) )={(}		</a:t>
            </a:r>
            <a:r>
              <a:rPr lang="en-US" sz="2000" dirty="0">
                <a:sym typeface="Wingdings" panose="05000000000000000000" pitchFamily="2" charset="2"/>
              </a:rPr>
              <a:t> </a:t>
            </a:r>
            <a:r>
              <a:rPr lang="en-US" sz="2000" dirty="0"/>
              <a:t>F </a:t>
            </a:r>
            <a:r>
              <a:rPr lang="en-US" sz="2000" dirty="0">
                <a:sym typeface="Symbol" panose="05050102010706020507" pitchFamily="18" charset="2"/>
              </a:rPr>
              <a:t> (E) into M[F,(]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sz="20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000" dirty="0"/>
              <a:t>F </a:t>
            </a:r>
            <a:r>
              <a:rPr lang="en-US" sz="2000" dirty="0">
                <a:sym typeface="Symbol" panose="05050102010706020507" pitchFamily="18" charset="2"/>
              </a:rPr>
              <a:t> id		FIRST(id)={id}		</a:t>
            </a:r>
            <a:r>
              <a:rPr lang="en-US" sz="2000" dirty="0">
                <a:sym typeface="Wingdings" panose="05000000000000000000" pitchFamily="2" charset="2"/>
              </a:rPr>
              <a:t> </a:t>
            </a:r>
            <a:r>
              <a:rPr lang="en-US" sz="2000" dirty="0"/>
              <a:t>F </a:t>
            </a:r>
            <a:r>
              <a:rPr lang="en-US" sz="2000" dirty="0">
                <a:sym typeface="Symbol" panose="05050102010706020507" pitchFamily="18" charset="2"/>
              </a:rPr>
              <a:t> id  into M[</a:t>
            </a:r>
            <a:r>
              <a:rPr lang="en-US" sz="2000" dirty="0" err="1">
                <a:sym typeface="Symbol" panose="05050102010706020507" pitchFamily="18" charset="2"/>
              </a:rPr>
              <a:t>F,id</a:t>
            </a:r>
            <a:r>
              <a:rPr lang="en-US" sz="2000" dirty="0">
                <a:sym typeface="Symbol" panose="05050102010706020507" pitchFamily="18" charset="2"/>
              </a:rPr>
              <a:t>]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LL(1) Grammars</a:t>
            </a:r>
          </a:p>
        </p:txBody>
      </p:sp>
      <p:sp>
        <p:nvSpPr>
          <p:cNvPr id="54282" name="Date Placeholder 10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E134DE5-2214-4AD9-B5FA-37D07E60E46C}" type="datetime1">
              <a:rPr lang="en-US"/>
              <a:t>10/30/2025</a:t>
            </a:fld>
            <a:endParaRPr lang="en-US"/>
          </a:p>
        </p:txBody>
      </p:sp>
      <p:sp>
        <p:nvSpPr>
          <p:cNvPr id="54274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5427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40CA5DE-5D66-4522-9356-E8CF8EFE879A}" type="slidenum">
              <a:rPr lang="en-US"/>
              <a:t>62</a:t>
            </a:fld>
            <a:endParaRPr lang="en-US"/>
          </a:p>
        </p:txBody>
      </p:sp>
      <p:sp>
        <p:nvSpPr>
          <p:cNvPr id="5427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parsing table of a grammar may contain more than one production rule i.e. multiple defined. This is possible if G is left recursive or ambiguous.</a:t>
            </a:r>
          </a:p>
          <a:p>
            <a:r>
              <a:rPr lang="en-US" dirty="0"/>
              <a:t>In this case, we say that it is not a LL(1) grammar.</a:t>
            </a:r>
          </a:p>
          <a:p>
            <a:r>
              <a:rPr lang="en-US" dirty="0"/>
              <a:t>A grammar whose parsing table has no multiply-defined entries is said to be LL(1) grammar. </a:t>
            </a:r>
          </a:p>
          <a:p>
            <a:pPr>
              <a:buFontTx/>
              <a:buNone/>
            </a:pPr>
            <a:endParaRPr lang="en-US" sz="1000" dirty="0"/>
          </a:p>
          <a:p>
            <a:pPr>
              <a:buFontTx/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LL(1) Parser – Example2</a:t>
            </a:r>
          </a:p>
        </p:txBody>
      </p:sp>
      <p:sp>
        <p:nvSpPr>
          <p:cNvPr id="45120" name="Date Placeholder 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DBD8BB1-F367-4A2D-B8E0-A6A50F4F1757}" type="datetime1">
              <a:rPr lang="en-US"/>
              <a:t>10/30/2025</a:t>
            </a:fld>
            <a:endParaRPr lang="en-US"/>
          </a:p>
        </p:txBody>
      </p:sp>
      <p:sp>
        <p:nvSpPr>
          <p:cNvPr id="45058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4505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944B385-1261-4140-80A6-3FE65BD9C50D}" type="slidenum">
              <a:rPr lang="en-US"/>
              <a:t>63</a:t>
            </a:fld>
            <a:endParaRPr lang="en-US"/>
          </a:p>
        </p:txBody>
      </p:sp>
      <p:sp>
        <p:nvSpPr>
          <p:cNvPr id="45061" name="Text Box 3"/>
          <p:cNvSpPr txBox="1">
            <a:spLocks noChangeArrowheads="1"/>
          </p:cNvSpPr>
          <p:nvPr/>
        </p:nvSpPr>
        <p:spPr bwMode="auto">
          <a:xfrm>
            <a:off x="688975" y="1417637"/>
            <a:ext cx="1634230" cy="14773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</a:rPr>
              <a:t>E </a:t>
            </a:r>
            <a:r>
              <a:rPr 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 TE′</a:t>
            </a:r>
            <a:endParaRPr lang="en-US" baseline="3000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’</a:t>
            </a:r>
            <a:r>
              <a:rPr 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 +TE′</a:t>
            </a:r>
            <a:r>
              <a:rPr lang="en-US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|   </a:t>
            </a:r>
          </a:p>
          <a:p>
            <a:r>
              <a:rPr lang="en-US" dirty="0">
                <a:latin typeface="Times New Roman" panose="02020603050405020304" pitchFamily="18" charset="0"/>
              </a:rPr>
              <a:t>T </a:t>
            </a:r>
            <a:r>
              <a:rPr 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 FT′</a:t>
            </a:r>
            <a:endParaRPr lang="en-US" baseline="3000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’</a:t>
            </a:r>
            <a:r>
              <a:rPr 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 *FT′</a:t>
            </a:r>
            <a:r>
              <a:rPr lang="en-US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|   </a:t>
            </a:r>
          </a:p>
          <a:p>
            <a:r>
              <a:rPr lang="en-US" dirty="0">
                <a:latin typeface="Times New Roman" panose="02020603050405020304" pitchFamily="18" charset="0"/>
              </a:rPr>
              <a:t>F </a:t>
            </a:r>
            <a:r>
              <a:rPr 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 (E)   |   id</a:t>
            </a:r>
          </a:p>
        </p:txBody>
      </p:sp>
      <p:graphicFrame>
        <p:nvGraphicFramePr>
          <p:cNvPr id="275566" name="Group 110"/>
          <p:cNvGraphicFramePr>
            <a:graphicFrameLocks noGrp="1"/>
          </p:cNvGraphicFramePr>
          <p:nvPr/>
        </p:nvGraphicFramePr>
        <p:xfrm>
          <a:off x="304800" y="3593465"/>
          <a:ext cx="8440615" cy="2502535"/>
        </p:xfrm>
        <a:graphic>
          <a:graphicData uri="http://schemas.openxmlformats.org/drawingml/2006/table">
            <a:tbl>
              <a:tblPr/>
              <a:tblGrid>
                <a:gridCol w="542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2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9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71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71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54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507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id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+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*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(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$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E</a:t>
                      </a: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E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 TE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’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E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 TE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’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E</a:t>
                      </a:r>
                      <a:r>
                        <a:rPr kumimoji="0" lang="en-US" sz="20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’</a:t>
                      </a: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E</a:t>
                      </a:r>
                      <a:r>
                        <a:rPr kumimoji="0" 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’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  +TE</a:t>
                      </a:r>
                      <a:r>
                        <a:rPr kumimoji="0" 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’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E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’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  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E</a:t>
                      </a:r>
                      <a:r>
                        <a:rPr kumimoji="0" 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’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  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5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</a:t>
                      </a: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 FT</a:t>
                      </a:r>
                      <a:r>
                        <a:rPr kumimoji="0" 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’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 FT</a:t>
                      </a:r>
                      <a:r>
                        <a:rPr kumimoji="0" 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’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T</a:t>
                      </a:r>
                      <a:r>
                        <a:rPr kumimoji="0" lang="en-US" sz="20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’</a:t>
                      </a: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T</a:t>
                      </a:r>
                      <a:r>
                        <a:rPr kumimoji="0" 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’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  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T</a:t>
                      </a:r>
                      <a:r>
                        <a:rPr kumimoji="0" 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’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  *FT</a:t>
                      </a:r>
                      <a:r>
                        <a:rPr kumimoji="0" 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’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T</a:t>
                      </a:r>
                      <a:r>
                        <a:rPr kumimoji="0" 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’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  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T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’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  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1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</a:t>
                      </a: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 id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 (E)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LL(1) Parser – Example2</a:t>
            </a:r>
          </a:p>
        </p:txBody>
      </p:sp>
      <p:sp>
        <p:nvSpPr>
          <p:cNvPr id="46086" name="Date Placeholder 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F573783-483E-4DC2-A876-F18C6DC8F084}" type="datetime1">
              <a:rPr lang="en-US"/>
              <a:t>10/30/2025</a:t>
            </a:fld>
            <a:endParaRPr lang="en-US"/>
          </a:p>
        </p:txBody>
      </p:sp>
      <p:sp>
        <p:nvSpPr>
          <p:cNvPr id="46082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4608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79809DA-3908-40AB-A333-53724A931561}" type="slidenum">
              <a:rPr lang="en-US"/>
              <a:t>64</a:t>
            </a:fld>
            <a:endParaRPr lang="en-US"/>
          </a:p>
        </p:txBody>
      </p:sp>
      <p:sp>
        <p:nvSpPr>
          <p:cNvPr id="4608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1600200"/>
            <a:ext cx="4876800" cy="4572000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en-US" sz="1800" b="1" u="sng" dirty="0">
                <a:sym typeface="Symbol" panose="05050102010706020507" pitchFamily="18" charset="2"/>
              </a:rPr>
              <a:t>stack</a:t>
            </a:r>
            <a:r>
              <a:rPr lang="en-US" sz="1800" dirty="0">
                <a:sym typeface="Symbol" panose="05050102010706020507" pitchFamily="18" charset="2"/>
              </a:rPr>
              <a:t>		</a:t>
            </a:r>
            <a:r>
              <a:rPr lang="en-US" sz="1800" b="1" u="sng" dirty="0">
                <a:sym typeface="Symbol" panose="05050102010706020507" pitchFamily="18" charset="2"/>
              </a:rPr>
              <a:t>input</a:t>
            </a:r>
            <a:r>
              <a:rPr lang="en-US" sz="1800" dirty="0">
                <a:sym typeface="Symbol" panose="05050102010706020507" pitchFamily="18" charset="2"/>
              </a:rPr>
              <a:t>		</a:t>
            </a:r>
            <a:r>
              <a:rPr lang="en-US" sz="1800" b="1" u="sng" dirty="0">
                <a:sym typeface="Symbol" panose="05050102010706020507" pitchFamily="18" charset="2"/>
              </a:rPr>
              <a:t>output</a:t>
            </a:r>
          </a:p>
          <a:p>
            <a:pPr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$</a:t>
            </a:r>
            <a:r>
              <a:rPr lang="en-US" sz="1800" dirty="0">
                <a:solidFill>
                  <a:srgbClr val="FF0000"/>
                </a:solidFill>
                <a:sym typeface="Symbol" panose="05050102010706020507" pitchFamily="18" charset="2"/>
              </a:rPr>
              <a:t>E</a:t>
            </a:r>
            <a:r>
              <a:rPr lang="en-US" sz="1800" dirty="0">
                <a:sym typeface="Symbol" panose="05050102010706020507" pitchFamily="18" charset="2"/>
              </a:rPr>
              <a:t>		</a:t>
            </a:r>
            <a:r>
              <a:rPr lang="en-US" sz="1800" dirty="0" err="1">
                <a:solidFill>
                  <a:srgbClr val="FF0000"/>
                </a:solidFill>
                <a:sym typeface="Symbol" panose="05050102010706020507" pitchFamily="18" charset="2"/>
              </a:rPr>
              <a:t>id</a:t>
            </a:r>
            <a:r>
              <a:rPr lang="en-US" sz="1800" dirty="0" err="1">
                <a:sym typeface="Symbol" panose="05050102010706020507" pitchFamily="18" charset="2"/>
              </a:rPr>
              <a:t>+id</a:t>
            </a:r>
            <a:r>
              <a:rPr lang="en-US" sz="1800" dirty="0">
                <a:sym typeface="Symbol" panose="05050102010706020507" pitchFamily="18" charset="2"/>
              </a:rPr>
              <a:t>$		</a:t>
            </a:r>
            <a:r>
              <a:rPr lang="en-US" sz="1800" dirty="0"/>
              <a:t>E </a:t>
            </a:r>
            <a:r>
              <a:rPr lang="en-US" sz="1800" dirty="0">
                <a:sym typeface="Symbol" panose="05050102010706020507" pitchFamily="18" charset="2"/>
              </a:rPr>
              <a:t> TE</a:t>
            </a:r>
            <a:r>
              <a:rPr lang="en-US" sz="1800" baseline="30000" dirty="0">
                <a:sym typeface="Symbol" panose="05050102010706020507" pitchFamily="18" charset="2"/>
              </a:rPr>
              <a:t>’</a:t>
            </a:r>
            <a:endParaRPr lang="en-US" sz="1800" dirty="0"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sz="1800" dirty="0"/>
              <a:t>$E</a:t>
            </a:r>
            <a:r>
              <a:rPr lang="en-US" sz="1800" baseline="30000" dirty="0"/>
              <a:t>’</a:t>
            </a:r>
            <a:r>
              <a:rPr lang="en-US" sz="1800" dirty="0">
                <a:solidFill>
                  <a:srgbClr val="FF0000"/>
                </a:solidFill>
              </a:rPr>
              <a:t>T</a:t>
            </a:r>
            <a:r>
              <a:rPr lang="en-US" sz="1800" dirty="0"/>
              <a:t>		</a:t>
            </a:r>
            <a:r>
              <a:rPr lang="en-US" sz="1800" dirty="0" err="1">
                <a:solidFill>
                  <a:srgbClr val="FF0000"/>
                </a:solidFill>
              </a:rPr>
              <a:t>id</a:t>
            </a:r>
            <a:r>
              <a:rPr lang="en-US" sz="1800" dirty="0" err="1"/>
              <a:t>+id</a:t>
            </a:r>
            <a:r>
              <a:rPr lang="en-US" sz="1800" dirty="0"/>
              <a:t>$		T </a:t>
            </a:r>
            <a:r>
              <a:rPr lang="en-US" sz="1800" dirty="0">
                <a:sym typeface="Symbol" panose="05050102010706020507" pitchFamily="18" charset="2"/>
              </a:rPr>
              <a:t> FT</a:t>
            </a:r>
            <a:r>
              <a:rPr lang="en-US" sz="1800" baseline="30000" dirty="0">
                <a:sym typeface="Symbol" panose="05050102010706020507" pitchFamily="18" charset="2"/>
              </a:rPr>
              <a:t>’</a:t>
            </a:r>
          </a:p>
          <a:p>
            <a:pPr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$</a:t>
            </a:r>
            <a:r>
              <a:rPr lang="en-US" sz="1800" dirty="0"/>
              <a:t>E</a:t>
            </a:r>
            <a:r>
              <a:rPr lang="en-US" sz="1800" baseline="30000" dirty="0"/>
              <a:t>’ </a:t>
            </a:r>
            <a:r>
              <a:rPr lang="en-US" sz="1800" dirty="0"/>
              <a:t>T</a:t>
            </a:r>
            <a:r>
              <a:rPr lang="en-US" sz="1800" baseline="30000" dirty="0">
                <a:solidFill>
                  <a:srgbClr val="FF0000"/>
                </a:solidFill>
              </a:rPr>
              <a:t>’</a:t>
            </a:r>
            <a:r>
              <a:rPr lang="en-US" sz="1800" dirty="0">
                <a:solidFill>
                  <a:srgbClr val="FF0000"/>
                </a:solidFill>
              </a:rPr>
              <a:t>F</a:t>
            </a:r>
            <a:r>
              <a:rPr lang="en-US" sz="1800" dirty="0"/>
              <a:t>		</a:t>
            </a:r>
            <a:r>
              <a:rPr lang="en-US" sz="1800" dirty="0" err="1">
                <a:solidFill>
                  <a:srgbClr val="FF0000"/>
                </a:solidFill>
              </a:rPr>
              <a:t>id</a:t>
            </a:r>
            <a:r>
              <a:rPr lang="en-US" sz="1800" dirty="0" err="1"/>
              <a:t>+id</a:t>
            </a:r>
            <a:r>
              <a:rPr lang="en-US" sz="1800" dirty="0"/>
              <a:t>$		F </a:t>
            </a:r>
            <a:r>
              <a:rPr lang="en-US" sz="1800" dirty="0">
                <a:sym typeface="Symbol" panose="05050102010706020507" pitchFamily="18" charset="2"/>
              </a:rPr>
              <a:t> id</a:t>
            </a:r>
          </a:p>
          <a:p>
            <a:pPr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$ </a:t>
            </a:r>
            <a:r>
              <a:rPr lang="en-US" sz="1800" dirty="0"/>
              <a:t>E</a:t>
            </a:r>
            <a:r>
              <a:rPr lang="en-US" sz="1800" baseline="30000" dirty="0"/>
              <a:t>’ </a:t>
            </a:r>
            <a:r>
              <a:rPr lang="en-US" sz="1800" dirty="0" err="1"/>
              <a:t>T</a:t>
            </a:r>
            <a:r>
              <a:rPr lang="en-US" sz="1800" baseline="30000" dirty="0" err="1"/>
              <a:t>’</a:t>
            </a:r>
            <a:r>
              <a:rPr lang="en-US" sz="1800" dirty="0" err="1">
                <a:solidFill>
                  <a:srgbClr val="FF0000"/>
                </a:solidFill>
              </a:rPr>
              <a:t>id</a:t>
            </a:r>
            <a:r>
              <a:rPr lang="en-US" sz="1800" dirty="0"/>
              <a:t>		</a:t>
            </a:r>
            <a:r>
              <a:rPr lang="en-US" sz="1800" dirty="0" err="1">
                <a:solidFill>
                  <a:srgbClr val="FF0000"/>
                </a:solidFill>
              </a:rPr>
              <a:t>id</a:t>
            </a:r>
            <a:r>
              <a:rPr lang="en-US" sz="1800" dirty="0" err="1"/>
              <a:t>+id</a:t>
            </a:r>
            <a:r>
              <a:rPr lang="en-US" sz="1800" dirty="0"/>
              <a:t>$</a:t>
            </a:r>
          </a:p>
          <a:p>
            <a:pPr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$ </a:t>
            </a:r>
            <a:r>
              <a:rPr lang="en-US" sz="1800" dirty="0"/>
              <a:t>E</a:t>
            </a:r>
            <a:r>
              <a:rPr lang="en-US" sz="1800" baseline="30000" dirty="0"/>
              <a:t>’ </a:t>
            </a:r>
            <a:r>
              <a:rPr lang="en-US" sz="1800" dirty="0">
                <a:solidFill>
                  <a:srgbClr val="FF0000"/>
                </a:solidFill>
              </a:rPr>
              <a:t>T</a:t>
            </a:r>
            <a:r>
              <a:rPr lang="en-US" sz="1800" baseline="30000" dirty="0">
                <a:solidFill>
                  <a:srgbClr val="FF0000"/>
                </a:solidFill>
              </a:rPr>
              <a:t>’</a:t>
            </a:r>
            <a:r>
              <a:rPr lang="en-US" sz="1800" dirty="0"/>
              <a:t>		</a:t>
            </a:r>
            <a:r>
              <a:rPr lang="en-US" sz="1800" dirty="0">
                <a:solidFill>
                  <a:srgbClr val="FF0000"/>
                </a:solidFill>
              </a:rPr>
              <a:t>+</a:t>
            </a:r>
            <a:r>
              <a:rPr lang="en-US" sz="1800" dirty="0"/>
              <a:t>id$		</a:t>
            </a:r>
            <a:r>
              <a:rPr lang="en-US" sz="1800" dirty="0">
                <a:sym typeface="Symbol" panose="05050102010706020507" pitchFamily="18" charset="2"/>
              </a:rPr>
              <a:t>T</a:t>
            </a:r>
            <a:r>
              <a:rPr lang="en-US" sz="1800" baseline="30000" dirty="0">
                <a:sym typeface="Symbol" panose="05050102010706020507" pitchFamily="18" charset="2"/>
              </a:rPr>
              <a:t>’</a:t>
            </a:r>
            <a:r>
              <a:rPr lang="en-US" sz="1800" dirty="0">
                <a:sym typeface="Symbol" panose="05050102010706020507" pitchFamily="18" charset="2"/>
              </a:rPr>
              <a:t>  </a:t>
            </a:r>
            <a:endParaRPr lang="en-US" sz="1800" dirty="0"/>
          </a:p>
          <a:p>
            <a:pPr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$ </a:t>
            </a:r>
            <a:r>
              <a:rPr lang="en-US" sz="1800" dirty="0">
                <a:solidFill>
                  <a:srgbClr val="FF0000"/>
                </a:solidFill>
              </a:rPr>
              <a:t>E</a:t>
            </a:r>
            <a:r>
              <a:rPr lang="en-US" sz="1800" baseline="30000" dirty="0">
                <a:solidFill>
                  <a:srgbClr val="FF0000"/>
                </a:solidFill>
              </a:rPr>
              <a:t>’</a:t>
            </a:r>
            <a:r>
              <a:rPr lang="en-US" sz="1800" baseline="30000" dirty="0"/>
              <a:t> </a:t>
            </a:r>
            <a:r>
              <a:rPr lang="en-US" sz="1800" dirty="0"/>
              <a:t>		</a:t>
            </a:r>
            <a:r>
              <a:rPr lang="en-US" sz="1800" dirty="0">
                <a:solidFill>
                  <a:srgbClr val="FF0000"/>
                </a:solidFill>
              </a:rPr>
              <a:t>+</a:t>
            </a:r>
            <a:r>
              <a:rPr lang="en-US" sz="1800" dirty="0"/>
              <a:t>id$		</a:t>
            </a:r>
            <a:r>
              <a:rPr lang="en-US" sz="1800" dirty="0">
                <a:sym typeface="Symbol" panose="05050102010706020507" pitchFamily="18" charset="2"/>
              </a:rPr>
              <a:t>E</a:t>
            </a:r>
            <a:r>
              <a:rPr lang="en-US" sz="1800" baseline="30000" dirty="0">
                <a:sym typeface="Symbol" panose="05050102010706020507" pitchFamily="18" charset="2"/>
              </a:rPr>
              <a:t>’</a:t>
            </a:r>
            <a:r>
              <a:rPr lang="en-US" sz="1800" dirty="0">
                <a:sym typeface="Symbol" panose="05050102010706020507" pitchFamily="18" charset="2"/>
              </a:rPr>
              <a:t>  +TE</a:t>
            </a:r>
            <a:r>
              <a:rPr lang="en-US" sz="1800" baseline="30000" dirty="0">
                <a:sym typeface="Symbol" panose="05050102010706020507" pitchFamily="18" charset="2"/>
              </a:rPr>
              <a:t>’</a:t>
            </a:r>
          </a:p>
          <a:p>
            <a:pPr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$ </a:t>
            </a:r>
            <a:r>
              <a:rPr lang="en-US" sz="1800" dirty="0"/>
              <a:t>E</a:t>
            </a:r>
            <a:r>
              <a:rPr lang="en-US" sz="1800" baseline="30000" dirty="0"/>
              <a:t>’ </a:t>
            </a:r>
            <a:r>
              <a:rPr lang="en-US" sz="1800" dirty="0"/>
              <a:t>T</a:t>
            </a:r>
            <a:r>
              <a:rPr lang="en-US" sz="1800" dirty="0">
                <a:solidFill>
                  <a:srgbClr val="FF0000"/>
                </a:solidFill>
              </a:rPr>
              <a:t>+</a:t>
            </a:r>
            <a:r>
              <a:rPr lang="en-US" sz="1800" dirty="0"/>
              <a:t>		</a:t>
            </a:r>
            <a:r>
              <a:rPr lang="en-US" sz="1800" dirty="0">
                <a:solidFill>
                  <a:srgbClr val="FF0000"/>
                </a:solidFill>
              </a:rPr>
              <a:t>+</a:t>
            </a:r>
            <a:r>
              <a:rPr lang="en-US" sz="1800" dirty="0"/>
              <a:t>id$</a:t>
            </a:r>
          </a:p>
          <a:p>
            <a:pPr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$ </a:t>
            </a:r>
            <a:r>
              <a:rPr lang="en-US" sz="1800" dirty="0"/>
              <a:t>E</a:t>
            </a:r>
            <a:r>
              <a:rPr lang="en-US" sz="1800" baseline="30000" dirty="0"/>
              <a:t>’ </a:t>
            </a:r>
            <a:r>
              <a:rPr lang="en-US" sz="1800" dirty="0">
                <a:solidFill>
                  <a:srgbClr val="FF0000"/>
                </a:solidFill>
              </a:rPr>
              <a:t>T</a:t>
            </a:r>
            <a:r>
              <a:rPr lang="en-US" sz="1800" dirty="0"/>
              <a:t>		</a:t>
            </a:r>
            <a:r>
              <a:rPr lang="en-US" sz="1800" dirty="0">
                <a:solidFill>
                  <a:srgbClr val="FF0000"/>
                </a:solidFill>
              </a:rPr>
              <a:t>id</a:t>
            </a:r>
            <a:r>
              <a:rPr lang="en-US" sz="1800" dirty="0"/>
              <a:t>$		T </a:t>
            </a:r>
            <a:r>
              <a:rPr lang="en-US" sz="1800" dirty="0">
                <a:sym typeface="Symbol" panose="05050102010706020507" pitchFamily="18" charset="2"/>
              </a:rPr>
              <a:t> FT</a:t>
            </a:r>
            <a:r>
              <a:rPr lang="en-US" sz="1800" baseline="30000" dirty="0">
                <a:sym typeface="Symbol" panose="05050102010706020507" pitchFamily="18" charset="2"/>
              </a:rPr>
              <a:t>’</a:t>
            </a:r>
          </a:p>
          <a:p>
            <a:pPr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$ </a:t>
            </a:r>
            <a:r>
              <a:rPr lang="en-US" sz="1800" dirty="0"/>
              <a:t>E</a:t>
            </a:r>
            <a:r>
              <a:rPr lang="en-US" sz="1800" baseline="30000" dirty="0"/>
              <a:t>’ </a:t>
            </a:r>
            <a:r>
              <a:rPr lang="en-US" sz="1800" dirty="0">
                <a:sym typeface="Symbol" panose="05050102010706020507" pitchFamily="18" charset="2"/>
              </a:rPr>
              <a:t>T</a:t>
            </a:r>
            <a:r>
              <a:rPr lang="en-US" sz="1800" baseline="30000" dirty="0">
                <a:sym typeface="Symbol" panose="05050102010706020507" pitchFamily="18" charset="2"/>
              </a:rPr>
              <a:t>’ </a:t>
            </a:r>
            <a:r>
              <a:rPr lang="en-US" sz="1800" dirty="0">
                <a:solidFill>
                  <a:srgbClr val="FF0000"/>
                </a:solidFill>
                <a:sym typeface="Symbol" panose="05050102010706020507" pitchFamily="18" charset="2"/>
              </a:rPr>
              <a:t>F</a:t>
            </a:r>
            <a:r>
              <a:rPr lang="en-US" sz="1800" dirty="0">
                <a:sym typeface="Symbol" panose="05050102010706020507" pitchFamily="18" charset="2"/>
              </a:rPr>
              <a:t>		</a:t>
            </a:r>
            <a:r>
              <a:rPr lang="en-US" sz="1800" dirty="0">
                <a:solidFill>
                  <a:srgbClr val="FF0000"/>
                </a:solidFill>
              </a:rPr>
              <a:t>id</a:t>
            </a:r>
            <a:r>
              <a:rPr lang="en-US" sz="1800" dirty="0"/>
              <a:t>$		F </a:t>
            </a:r>
            <a:r>
              <a:rPr lang="en-US" sz="1800" dirty="0">
                <a:sym typeface="Symbol" panose="05050102010706020507" pitchFamily="18" charset="2"/>
              </a:rPr>
              <a:t> id</a:t>
            </a:r>
          </a:p>
          <a:p>
            <a:pPr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$ </a:t>
            </a:r>
            <a:r>
              <a:rPr lang="en-US" sz="1800" dirty="0"/>
              <a:t>E</a:t>
            </a:r>
            <a:r>
              <a:rPr lang="en-US" sz="1800" baseline="30000" dirty="0"/>
              <a:t>’ </a:t>
            </a:r>
            <a:r>
              <a:rPr lang="en-US" sz="1800" dirty="0" err="1">
                <a:sym typeface="Symbol" panose="05050102010706020507" pitchFamily="18" charset="2"/>
              </a:rPr>
              <a:t>T</a:t>
            </a:r>
            <a:r>
              <a:rPr lang="en-US" sz="1800" baseline="30000" dirty="0" err="1">
                <a:sym typeface="Symbol" panose="05050102010706020507" pitchFamily="18" charset="2"/>
              </a:rPr>
              <a:t>’</a:t>
            </a:r>
            <a:r>
              <a:rPr lang="en-US" sz="1800" dirty="0" err="1">
                <a:solidFill>
                  <a:srgbClr val="FF0000"/>
                </a:solidFill>
                <a:sym typeface="Symbol" panose="05050102010706020507" pitchFamily="18" charset="2"/>
              </a:rPr>
              <a:t>id</a:t>
            </a:r>
            <a:r>
              <a:rPr lang="en-US" sz="1800" dirty="0">
                <a:sym typeface="Symbol" panose="05050102010706020507" pitchFamily="18" charset="2"/>
              </a:rPr>
              <a:t>		</a:t>
            </a:r>
            <a:r>
              <a:rPr lang="en-US" sz="1800" dirty="0">
                <a:solidFill>
                  <a:srgbClr val="FF0000"/>
                </a:solidFill>
              </a:rPr>
              <a:t>id</a:t>
            </a:r>
            <a:r>
              <a:rPr lang="en-US" sz="1800" dirty="0"/>
              <a:t>$</a:t>
            </a:r>
          </a:p>
          <a:p>
            <a:pPr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$ </a:t>
            </a:r>
            <a:r>
              <a:rPr lang="en-US" sz="1800" dirty="0"/>
              <a:t>E</a:t>
            </a:r>
            <a:r>
              <a:rPr lang="en-US" sz="1800" baseline="30000" dirty="0"/>
              <a:t>’ </a:t>
            </a:r>
            <a:r>
              <a:rPr lang="en-US" sz="1800" dirty="0">
                <a:solidFill>
                  <a:srgbClr val="FF0000"/>
                </a:solidFill>
                <a:sym typeface="Symbol" panose="05050102010706020507" pitchFamily="18" charset="2"/>
              </a:rPr>
              <a:t>T</a:t>
            </a:r>
            <a:r>
              <a:rPr lang="en-US" sz="1800" baseline="30000" dirty="0">
                <a:solidFill>
                  <a:srgbClr val="FF0000"/>
                </a:solidFill>
                <a:sym typeface="Symbol" panose="05050102010706020507" pitchFamily="18" charset="2"/>
              </a:rPr>
              <a:t>’</a:t>
            </a:r>
            <a:r>
              <a:rPr lang="en-US" sz="1800" dirty="0">
                <a:sym typeface="Symbol" panose="05050102010706020507" pitchFamily="18" charset="2"/>
              </a:rPr>
              <a:t>		</a:t>
            </a:r>
            <a:r>
              <a:rPr lang="en-US" sz="1800" dirty="0">
                <a:solidFill>
                  <a:srgbClr val="FF0000"/>
                </a:solidFill>
                <a:sym typeface="Symbol" panose="05050102010706020507" pitchFamily="18" charset="2"/>
              </a:rPr>
              <a:t>$</a:t>
            </a:r>
            <a:r>
              <a:rPr lang="en-US" sz="1800" dirty="0">
                <a:sym typeface="Symbol" panose="05050102010706020507" pitchFamily="18" charset="2"/>
              </a:rPr>
              <a:t>		T</a:t>
            </a:r>
            <a:r>
              <a:rPr lang="en-US" sz="1800" baseline="30000" dirty="0">
                <a:sym typeface="Symbol" panose="05050102010706020507" pitchFamily="18" charset="2"/>
              </a:rPr>
              <a:t>’</a:t>
            </a:r>
            <a:r>
              <a:rPr lang="en-US" sz="1800" dirty="0">
                <a:sym typeface="Symbol" panose="05050102010706020507" pitchFamily="18" charset="2"/>
              </a:rPr>
              <a:t>  </a:t>
            </a:r>
          </a:p>
          <a:p>
            <a:pPr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$ </a:t>
            </a:r>
            <a:r>
              <a:rPr lang="en-US" sz="1800" dirty="0">
                <a:solidFill>
                  <a:srgbClr val="FF0000"/>
                </a:solidFill>
              </a:rPr>
              <a:t>E</a:t>
            </a:r>
            <a:r>
              <a:rPr lang="en-US" sz="1800" baseline="30000" dirty="0">
                <a:solidFill>
                  <a:srgbClr val="FF0000"/>
                </a:solidFill>
              </a:rPr>
              <a:t>’</a:t>
            </a:r>
            <a:r>
              <a:rPr lang="en-US" sz="1800" baseline="30000" dirty="0"/>
              <a:t>		</a:t>
            </a:r>
            <a:r>
              <a:rPr lang="en-US" sz="1800" dirty="0">
                <a:solidFill>
                  <a:srgbClr val="FF0000"/>
                </a:solidFill>
              </a:rPr>
              <a:t>$</a:t>
            </a:r>
            <a:r>
              <a:rPr lang="en-US" sz="1800" dirty="0"/>
              <a:t>		</a:t>
            </a:r>
            <a:r>
              <a:rPr lang="en-US" sz="1800" dirty="0">
                <a:sym typeface="Symbol" panose="05050102010706020507" pitchFamily="18" charset="2"/>
              </a:rPr>
              <a:t>E</a:t>
            </a:r>
            <a:r>
              <a:rPr lang="en-US" sz="1800" baseline="30000" dirty="0">
                <a:sym typeface="Symbol" panose="05050102010706020507" pitchFamily="18" charset="2"/>
              </a:rPr>
              <a:t>’</a:t>
            </a:r>
            <a:r>
              <a:rPr lang="en-US" sz="1800" dirty="0">
                <a:sym typeface="Symbol" panose="05050102010706020507" pitchFamily="18" charset="2"/>
              </a:rPr>
              <a:t>  </a:t>
            </a:r>
            <a:endParaRPr lang="en-US" sz="1800" baseline="30000" dirty="0"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sz="1800" dirty="0">
                <a:solidFill>
                  <a:srgbClr val="FF0000"/>
                </a:solidFill>
                <a:sym typeface="Symbol" panose="05050102010706020507" pitchFamily="18" charset="2"/>
              </a:rPr>
              <a:t>$</a:t>
            </a:r>
            <a:r>
              <a:rPr lang="en-US" sz="1800" dirty="0">
                <a:sym typeface="Symbol" panose="05050102010706020507" pitchFamily="18" charset="2"/>
              </a:rPr>
              <a:t>			</a:t>
            </a:r>
            <a:r>
              <a:rPr lang="en-US" sz="1800" dirty="0">
                <a:solidFill>
                  <a:srgbClr val="FF0000"/>
                </a:solidFill>
                <a:sym typeface="Symbol" panose="05050102010706020507" pitchFamily="18" charset="2"/>
              </a:rPr>
              <a:t>$</a:t>
            </a:r>
            <a:r>
              <a:rPr lang="en-US" sz="1800" dirty="0">
                <a:sym typeface="Symbol" panose="05050102010706020507" pitchFamily="18" charset="2"/>
              </a:rPr>
              <a:t>		accept</a:t>
            </a:r>
          </a:p>
          <a:p>
            <a:pPr>
              <a:buFontTx/>
              <a:buNone/>
            </a:pPr>
            <a:endParaRPr lang="en-US" sz="1800" baseline="30000" dirty="0">
              <a:sym typeface="Symbol" panose="05050102010706020507" pitchFamily="18" charset="2"/>
            </a:endParaRPr>
          </a:p>
          <a:p>
            <a:pPr>
              <a:buFontTx/>
              <a:buNone/>
            </a:pPr>
            <a:endParaRPr lang="en-US" sz="1800" baseline="30000" dirty="0">
              <a:sym typeface="Symbol" panose="05050102010706020507" pitchFamily="18" charset="2"/>
            </a:endParaRPr>
          </a:p>
          <a:p>
            <a:pPr>
              <a:buFontTx/>
              <a:buNone/>
            </a:pPr>
            <a:endParaRPr lang="en-US" sz="1800" baseline="30000" dirty="0">
              <a:sym typeface="Symbol" panose="05050102010706020507" pitchFamily="18" charset="2"/>
            </a:endParaRPr>
          </a:p>
          <a:p>
            <a:pPr>
              <a:buFontTx/>
              <a:buNone/>
            </a:pPr>
            <a:endParaRPr lang="en-US" sz="1800" baseline="30000" dirty="0">
              <a:sym typeface="Symbol" panose="05050102010706020507" pitchFamily="18" charset="2"/>
            </a:endParaRPr>
          </a:p>
          <a:p>
            <a:pPr>
              <a:buFontTx/>
              <a:buNone/>
            </a:pPr>
            <a:endParaRPr lang="en-US" sz="1800" baseline="30000" dirty="0">
              <a:sym typeface="Symbol" panose="05050102010706020507" pitchFamily="18" charset="2"/>
            </a:endParaRPr>
          </a:p>
        </p:txBody>
      </p:sp>
      <p:pic>
        <p:nvPicPr>
          <p:cNvPr id="8" name="Picture 7" descr="tb.png"/>
          <p:cNvPicPr>
            <a:picLocks noChangeAspect="1"/>
          </p:cNvPicPr>
          <p:nvPr/>
        </p:nvPicPr>
        <p:blipFill>
          <a:blip r:embed="rId2"/>
          <a:srcRect b="37904"/>
          <a:stretch>
            <a:fillRect/>
          </a:stretch>
        </p:blipFill>
        <p:spPr>
          <a:xfrm>
            <a:off x="5029200" y="2869475"/>
            <a:ext cx="3877280" cy="3074125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534400" cy="685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LL(1) Parser -</a:t>
            </a:r>
            <a:r>
              <a:rPr lang="en-US" altLang="zh-TW" dirty="0">
                <a:solidFill>
                  <a:schemeClr val="tx1"/>
                </a:solidFill>
              </a:rPr>
              <a:t>Example3</a:t>
            </a:r>
          </a:p>
        </p:txBody>
      </p:sp>
      <p:sp>
        <p:nvSpPr>
          <p:cNvPr id="69635" name="Text Box 3"/>
          <p:cNvSpPr txBox="1">
            <a:spLocks noChangeArrowheads="1"/>
          </p:cNvSpPr>
          <p:nvPr/>
        </p:nvSpPr>
        <p:spPr bwMode="auto">
          <a:xfrm>
            <a:off x="457200" y="1225689"/>
            <a:ext cx="5867400" cy="56323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defTabSz="762000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               Input                    Output</a:t>
            </a:r>
          </a:p>
          <a:p>
            <a:pPr defTabSz="762000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$E                 id + id * id$              </a:t>
            </a:r>
          </a:p>
          <a:p>
            <a:pPr defTabSz="762000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$E'T              id + id * id$              E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TE' </a:t>
            </a:r>
          </a:p>
          <a:p>
            <a:pPr defTabSz="762000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$E'T'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id + id * id$              T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FT' </a:t>
            </a:r>
          </a:p>
          <a:p>
            <a:pPr defTabSz="762000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E'T'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id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id + id * id$              F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</a:t>
            </a:r>
          </a:p>
          <a:p>
            <a:pPr defTabSz="762000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$E'T'                 + id * id$</a:t>
            </a:r>
          </a:p>
          <a:p>
            <a:pPr defTabSz="762000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$E'                    + id * id$               T'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762000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$E'T+               + id * id$               E'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+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TE' </a:t>
            </a:r>
          </a:p>
          <a:p>
            <a:pPr defTabSz="762000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$E'T                     id * id$</a:t>
            </a:r>
          </a:p>
          <a:p>
            <a:pPr defTabSz="762000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$E'T'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                 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 * id$               T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FT' </a:t>
            </a:r>
          </a:p>
          <a:p>
            <a:pPr defTabSz="762000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E'T'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id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  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 * id$               F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</a:t>
            </a:r>
          </a:p>
          <a:p>
            <a:pPr defTabSz="762000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$E'T'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* id$</a:t>
            </a:r>
          </a:p>
          <a:p>
            <a:pPr defTabSz="762000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$E'T'F*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* id$               T'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* FT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762000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$E'T'F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id$</a:t>
            </a:r>
          </a:p>
          <a:p>
            <a:pPr defTabSz="762000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E'T'id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id$                F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</a:t>
            </a:r>
          </a:p>
          <a:p>
            <a:pPr defTabSz="762000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$E'T'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$</a:t>
            </a:r>
          </a:p>
          <a:p>
            <a:pPr defTabSz="762000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$E'                                 $                T'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 defTabSz="762000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                                   $                E'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TW" sz="2000" i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pic>
        <p:nvPicPr>
          <p:cNvPr id="4" name="Picture 3" descr="tb.png"/>
          <p:cNvPicPr>
            <a:picLocks noChangeAspect="1"/>
          </p:cNvPicPr>
          <p:nvPr/>
        </p:nvPicPr>
        <p:blipFill>
          <a:blip r:embed="rId3"/>
          <a:srcRect b="37904"/>
          <a:stretch>
            <a:fillRect/>
          </a:stretch>
        </p:blipFill>
        <p:spPr>
          <a:xfrm>
            <a:off x="5266720" y="1676400"/>
            <a:ext cx="3877280" cy="3074125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769BE4A-9773-4FA3-A948-966EEB5C37EC}" type="datetime1">
              <a:rPr lang="en-US"/>
              <a:t>10/30/2025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51F66F0-BF42-4185-990A-1FDB79CB886A}" type="slidenum">
              <a:rPr lang="en-US"/>
              <a:t>65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Md Zahim Hassan, BAUST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057400"/>
            <a:ext cx="8077200" cy="1219200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en-US" sz="4800" b="1" dirty="0">
                <a:solidFill>
                  <a:schemeClr val="tx1"/>
                </a:solidFill>
                <a:latin typeface="+mn-lt"/>
              </a:rPr>
              <a:t>Syntax Analysis</a:t>
            </a:r>
          </a:p>
        </p:txBody>
      </p:sp>
      <p:sp>
        <p:nvSpPr>
          <p:cNvPr id="307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026FD60-F092-4190-B331-9840380FBE71}" type="datetime1">
              <a:rPr lang="en-US">
                <a:latin typeface="Arial" panose="020B0604020202020204" pitchFamily="34" charset="0"/>
              </a:rPr>
              <a:t>10/30/2025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07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E96DA8DC-BF72-4030-82CD-5BDDC1EA7C12}" type="slidenum">
              <a:rPr lang="en-US">
                <a:latin typeface="Arial" panose="020B0604020202020204" pitchFamily="34" charset="0"/>
              </a:rPr>
              <a:t>66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33600" y="3429000"/>
            <a:ext cx="487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Part II</a:t>
            </a:r>
          </a:p>
        </p:txBody>
      </p:sp>
    </p:spTree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LL(1) Grammars</a:t>
            </a:r>
          </a:p>
        </p:txBody>
      </p:sp>
      <p:sp>
        <p:nvSpPr>
          <p:cNvPr id="54282" name="Date Placeholder 10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E134DE5-2214-4AD9-B5FA-37D07E60E46C}" type="datetime1">
              <a:rPr lang="en-US"/>
              <a:t>10/30/2025</a:t>
            </a:fld>
            <a:endParaRPr lang="en-US"/>
          </a:p>
        </p:txBody>
      </p:sp>
      <p:sp>
        <p:nvSpPr>
          <p:cNvPr id="5427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40CA5DE-5D66-4522-9356-E8CF8EFE879A}" type="slidenum">
              <a:rPr lang="en-US"/>
              <a:t>67</a:t>
            </a:fld>
            <a:endParaRPr lang="en-US"/>
          </a:p>
        </p:txBody>
      </p:sp>
      <p:sp>
        <p:nvSpPr>
          <p:cNvPr id="5427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parsing table of a grammar may contain more than one production rule i.e. multiple defined. This is possible if G is left recursive or ambiguous.</a:t>
            </a:r>
          </a:p>
          <a:p>
            <a:r>
              <a:rPr lang="en-US" dirty="0"/>
              <a:t>In this case, we say that it is not a LL(1) grammar.</a:t>
            </a:r>
          </a:p>
          <a:p>
            <a:r>
              <a:rPr lang="en-US" dirty="0"/>
              <a:t>A grammar whose parsing table has no multiply-defined entries is said to be LL(1) grammar. </a:t>
            </a:r>
          </a:p>
          <a:p>
            <a:pPr>
              <a:buFontTx/>
              <a:buNone/>
            </a:pPr>
            <a:endParaRPr lang="en-US" sz="1000" dirty="0"/>
          </a:p>
          <a:p>
            <a:pPr>
              <a:buFontTx/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 Grammar which is not LL(1)</a:t>
            </a:r>
          </a:p>
        </p:txBody>
      </p:sp>
      <p:sp>
        <p:nvSpPr>
          <p:cNvPr id="55345" name="Date Placeholder 7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E97B1675-F8DD-4216-9C82-72A27201F02D}" type="datetime1">
              <a:rPr lang="en-US"/>
              <a:t>10/30/2025</a:t>
            </a:fld>
            <a:endParaRPr lang="en-US"/>
          </a:p>
        </p:txBody>
      </p:sp>
      <p:sp>
        <p:nvSpPr>
          <p:cNvPr id="5529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3ED455A-EB87-4781-98A7-3911914FC4E7}" type="slidenum">
              <a:rPr lang="en-US"/>
              <a:t>68</a:t>
            </a:fld>
            <a:endParaRPr lang="en-US"/>
          </a:p>
        </p:txBody>
      </p:sp>
      <p:sp>
        <p:nvSpPr>
          <p:cNvPr id="5530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1752" y="1520952"/>
            <a:ext cx="8503920" cy="4803648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dirty="0"/>
              <a:t>S </a:t>
            </a:r>
            <a:r>
              <a:rPr lang="en-US" dirty="0">
                <a:sym typeface="Symbol" panose="05050102010706020507" pitchFamily="18" charset="2"/>
              </a:rPr>
              <a:t> </a:t>
            </a:r>
            <a:r>
              <a:rPr lang="en-US" dirty="0" err="1">
                <a:sym typeface="Symbol" panose="05050102010706020507" pitchFamily="18" charset="2"/>
              </a:rPr>
              <a:t>i</a:t>
            </a:r>
            <a:r>
              <a:rPr lang="en-US" dirty="0">
                <a:sym typeface="Symbol" panose="05050102010706020507" pitchFamily="18" charset="2"/>
              </a:rPr>
              <a:t> C t S E   |    a		FOLLOW(S) = { $,e 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E  e S |   			FOLLOW(E) = { $,e 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C  b				FOLLOW(C) = { t }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FIRST(</a:t>
            </a:r>
            <a:r>
              <a:rPr lang="en-US" dirty="0" err="1">
                <a:sym typeface="Symbol" panose="05050102010706020507" pitchFamily="18" charset="2"/>
              </a:rPr>
              <a:t>iCtSE</a:t>
            </a:r>
            <a:r>
              <a:rPr lang="en-US" dirty="0">
                <a:sym typeface="Symbol" panose="05050102010706020507" pitchFamily="18" charset="2"/>
              </a:rPr>
              <a:t>) = {</a:t>
            </a:r>
            <a:r>
              <a:rPr lang="en-US" dirty="0" err="1">
                <a:sym typeface="Symbol" panose="05050102010706020507" pitchFamily="18" charset="2"/>
              </a:rPr>
              <a:t>i</a:t>
            </a:r>
            <a:r>
              <a:rPr lang="en-US" dirty="0">
                <a:sym typeface="Symbol" panose="05050102010706020507" pitchFamily="18" charset="2"/>
              </a:rPr>
              <a:t>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FIRST(a) = {a}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FIRST(</a:t>
            </a:r>
            <a:r>
              <a:rPr lang="en-US" dirty="0" err="1">
                <a:sym typeface="Symbol" panose="05050102010706020507" pitchFamily="18" charset="2"/>
              </a:rPr>
              <a:t>eS</a:t>
            </a:r>
            <a:r>
              <a:rPr lang="en-US" dirty="0">
                <a:sym typeface="Symbol" panose="05050102010706020507" pitchFamily="18" charset="2"/>
              </a:rPr>
              <a:t>) = {e}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FIRST() = {}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FIRST(b) = {b}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						        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>
                <a:sym typeface="Symbol" panose="05050102010706020507" pitchFamily="18" charset="2"/>
              </a:rPr>
              <a:t>						          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0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>
                <a:sym typeface="Symbol" panose="05050102010706020507" pitchFamily="18" charset="2"/>
              </a:rPr>
              <a:t>two production rules for M[</a:t>
            </a:r>
            <a:r>
              <a:rPr lang="en-US" sz="2000" dirty="0" err="1">
                <a:sym typeface="Symbol" panose="05050102010706020507" pitchFamily="18" charset="2"/>
              </a:rPr>
              <a:t>E,e</a:t>
            </a:r>
            <a:r>
              <a:rPr lang="en-US" sz="2000" dirty="0">
                <a:sym typeface="Symbol" panose="05050102010706020507" pitchFamily="18" charset="2"/>
              </a:rPr>
              <a:t>]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0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>
                <a:sym typeface="Symbol" panose="05050102010706020507" pitchFamily="18" charset="2"/>
              </a:rPr>
              <a:t>Problem  </a:t>
            </a:r>
            <a:r>
              <a:rPr lang="en-US" sz="2000" dirty="0">
                <a:sym typeface="Wingdings" panose="05000000000000000000" pitchFamily="2" charset="2"/>
              </a:rPr>
              <a:t> ambiguity</a:t>
            </a:r>
            <a:r>
              <a:rPr lang="en-US" sz="2000" dirty="0">
                <a:sym typeface="Symbol" panose="05050102010706020507" pitchFamily="18" charset="2"/>
              </a:rPr>
              <a:t>	</a:t>
            </a:r>
          </a:p>
        </p:txBody>
      </p:sp>
      <p:graphicFrame>
        <p:nvGraphicFramePr>
          <p:cNvPr id="285762" name="Group 66"/>
          <p:cNvGraphicFramePr>
            <a:graphicFrameLocks noGrp="1"/>
          </p:cNvGraphicFramePr>
          <p:nvPr/>
        </p:nvGraphicFramePr>
        <p:xfrm>
          <a:off x="3048000" y="2706687"/>
          <a:ext cx="5715000" cy="2170113"/>
        </p:xfrm>
        <a:graphic>
          <a:graphicData uri="http://schemas.openxmlformats.org/drawingml/2006/table">
            <a:tbl>
              <a:tblPr/>
              <a:tblGrid>
                <a:gridCol w="3892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92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90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2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38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5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e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i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$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</a:t>
                      </a: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 a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 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 iCtSE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4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E</a:t>
                      </a: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E  e S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E  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E  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</a:t>
                      </a: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C  b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 Grammar which is not LL(1) (cont.)</a:t>
            </a:r>
          </a:p>
        </p:txBody>
      </p:sp>
      <p:sp>
        <p:nvSpPr>
          <p:cNvPr id="56326" name="Date Placeholder 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61EA514C-49AB-4157-9D54-C88F21B5FDDE}" type="datetime1">
              <a:rPr lang="en-US"/>
              <a:t>10/30/2025</a:t>
            </a:fld>
            <a:endParaRPr lang="en-US"/>
          </a:p>
        </p:txBody>
      </p:sp>
      <p:sp>
        <p:nvSpPr>
          <p:cNvPr id="5632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4A38914-BD41-4C78-A427-907A058F1375}" type="slidenum">
              <a:rPr lang="en-US"/>
              <a:t>69</a:t>
            </a:fld>
            <a:endParaRPr lang="en-US"/>
          </a:p>
        </p:txBody>
      </p:sp>
      <p:sp>
        <p:nvSpPr>
          <p:cNvPr id="5632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1676400"/>
            <a:ext cx="8651875" cy="4267200"/>
          </a:xfrm>
        </p:spPr>
        <p:txBody>
          <a:bodyPr>
            <a:normAutofit/>
          </a:bodyPr>
          <a:lstStyle/>
          <a:p>
            <a:r>
              <a:rPr lang="en-US" sz="2400" dirty="0"/>
              <a:t>What do we have to do it if the resulting parsing table contains multiply defined entries?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If  we didn’t eliminate left recursion, eliminate the left recursion in the grammar.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If the grammar is not left factored, we have to left factor the grammar.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If </a:t>
            </a:r>
            <a:r>
              <a:rPr lang="en-US" sz="2400">
                <a:solidFill>
                  <a:schemeClr val="tx1"/>
                </a:solidFill>
              </a:rPr>
              <a:t>its parsing </a:t>
            </a:r>
            <a:r>
              <a:rPr lang="en-US" sz="2400" dirty="0">
                <a:solidFill>
                  <a:schemeClr val="tx1"/>
                </a:solidFill>
              </a:rPr>
              <a:t>table still contains multiply defined entries, that grammar is ambiguous or it is inherently not a LL(1) grammar.</a:t>
            </a:r>
          </a:p>
          <a:p>
            <a:pPr lvl="1">
              <a:buFontTx/>
              <a:buChar char="•"/>
            </a:pPr>
            <a:endParaRPr lang="en-US" sz="24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Properties of LL(1) Grammars</a:t>
            </a:r>
          </a:p>
        </p:txBody>
      </p:sp>
      <p:sp>
        <p:nvSpPr>
          <p:cNvPr id="57350" name="Date Placeholder 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17066C5B-069E-4490-A18F-BE31947BC8FC}" type="datetime1">
              <a:rPr lang="en-US"/>
              <a:t>10/30/2025</a:t>
            </a:fld>
            <a:endParaRPr lang="en-US" dirty="0"/>
          </a:p>
        </p:txBody>
      </p:sp>
      <p:sp>
        <p:nvSpPr>
          <p:cNvPr id="5734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A468E9E-486C-4EA3-BBA7-846F2702BDB7}" type="slidenum">
              <a:rPr lang="en-US"/>
              <a:t>70</a:t>
            </a:fld>
            <a:endParaRPr lang="en-US"/>
          </a:p>
        </p:txBody>
      </p:sp>
      <p:sp>
        <p:nvSpPr>
          <p:cNvPr id="5734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457200" indent="-457200"/>
            <a:r>
              <a:rPr lang="en-US" dirty="0"/>
              <a:t>A grammar G is LL(1) if and only if  the following conditions hold for two distinctive production rules   A </a:t>
            </a:r>
            <a:r>
              <a:rPr lang="en-US" dirty="0">
                <a:sym typeface="Symbol" panose="05050102010706020507" pitchFamily="18" charset="2"/>
              </a:rPr>
              <a:t>    and   </a:t>
            </a:r>
            <a:r>
              <a:rPr lang="en-US" dirty="0"/>
              <a:t>A </a:t>
            </a:r>
            <a:r>
              <a:rPr lang="en-US" dirty="0">
                <a:sym typeface="Symbol" panose="05050102010706020507" pitchFamily="18" charset="2"/>
              </a:rPr>
              <a:t> </a:t>
            </a:r>
          </a:p>
          <a:p>
            <a:pPr marL="457200" indent="-457200"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 </a:t>
            </a:r>
          </a:p>
          <a:p>
            <a:pPr marL="800100" lvl="1" indent="-342900">
              <a:buFontTx/>
              <a:buAutoNum type="arabicPeriod"/>
            </a:pPr>
            <a:r>
              <a:rPr 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Both  and  cannot derive strings </a:t>
            </a:r>
            <a:r>
              <a:rPr 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starting </a:t>
            </a:r>
            <a:r>
              <a:rPr 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with same terminals.</a:t>
            </a:r>
          </a:p>
          <a:p>
            <a:pPr marL="800100" lvl="1" indent="-342900">
              <a:buFontTx/>
              <a:buAutoNum type="arabicPeriod"/>
            </a:pPr>
            <a:endParaRPr lang="en-US" sz="24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marL="800100" lvl="1" indent="-342900">
              <a:buFontTx/>
              <a:buAutoNum type="arabicPeriod"/>
            </a:pPr>
            <a:r>
              <a:rPr 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At most </a:t>
            </a:r>
            <a:r>
              <a:rPr 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one of  and  can derive to .</a:t>
            </a:r>
          </a:p>
          <a:p>
            <a:pPr marL="800100" lvl="1" indent="-342900">
              <a:buFontTx/>
              <a:buAutoNum type="arabicPeriod"/>
            </a:pPr>
            <a:endParaRPr lang="en-US" sz="24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marL="800100" lvl="1" indent="-342900">
              <a:buFontTx/>
              <a:buAutoNum type="arabicPeriod"/>
            </a:pPr>
            <a:r>
              <a:rPr 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If  can derive to , then  cannot derive to any string </a:t>
            </a:r>
            <a:r>
              <a:rPr 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starting</a:t>
            </a:r>
            <a:r>
              <a:rPr 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  with a terminal in FOLLOW(A). 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 Grammar which is not LL(1) (cont.)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E6BBE3-C0A4-428F-9EBC-4C99FFE6CD45}" type="datetime1">
              <a:rPr lang="en-US"/>
              <a:t>10/30/2025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3E84DD-8F10-4A46-8A7D-909DFC9ACC0C}" type="slidenum">
              <a:rPr lang="en-US"/>
              <a:t>71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3578352"/>
          </a:xfrm>
        </p:spPr>
        <p:txBody>
          <a:bodyPr/>
          <a:lstStyle/>
          <a:p>
            <a:r>
              <a:rPr lang="en-US" sz="2400" dirty="0"/>
              <a:t>A left recursive grammar cannot be a LL(1) grammar.</a:t>
            </a:r>
          </a:p>
          <a:p>
            <a:pPr lvl="1"/>
            <a:r>
              <a:rPr lang="en-US" sz="2400" dirty="0"/>
              <a:t>A </a:t>
            </a:r>
            <a:r>
              <a:rPr lang="en-US" sz="2400" dirty="0">
                <a:sym typeface="Symbol" panose="05050102010706020507" pitchFamily="18" charset="2"/>
              </a:rPr>
              <a:t> A |     </a:t>
            </a:r>
          </a:p>
          <a:p>
            <a:pPr lvl="2">
              <a:buFont typeface="Wingdings" panose="05000000000000000000" pitchFamily="2" charset="2"/>
              <a:buChar char="è"/>
            </a:pPr>
            <a:r>
              <a:rPr lang="en-US" sz="2400" dirty="0">
                <a:sym typeface="Wingdings" panose="05000000000000000000" pitchFamily="2" charset="2"/>
              </a:rPr>
              <a:t> any terminal that appears in FIRST(</a:t>
            </a:r>
            <a:r>
              <a:rPr lang="en-US" sz="2400" dirty="0">
                <a:sym typeface="Symbol" panose="05050102010706020507" pitchFamily="18" charset="2"/>
              </a:rPr>
              <a:t>)  also appears FIRST(A) because  A  .  </a:t>
            </a:r>
          </a:p>
          <a:p>
            <a:pPr lvl="2">
              <a:buFont typeface="Wingdings" panose="05000000000000000000" pitchFamily="2" charset="2"/>
              <a:buChar char="è"/>
            </a:pPr>
            <a:r>
              <a:rPr lang="en-US" sz="2400" dirty="0">
                <a:sym typeface="Symbol" panose="05050102010706020507" pitchFamily="18" charset="2"/>
              </a:rPr>
              <a:t> If  is , any terminal that appears in FIRST() also appears in FIRST(A) and FOLLOW(A).</a:t>
            </a:r>
          </a:p>
          <a:p>
            <a:pPr marL="0" indent="0">
              <a:buNone/>
            </a:pPr>
            <a:r>
              <a:rPr lang="en-US" dirty="0"/>
              <a:t> Above conditions indicates multiple entry in parse table.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A Grammar which is not LL(1) (cont.)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E6BBE3-C0A4-428F-9EBC-4C99FFE6CD45}" type="datetime1">
              <a:rPr lang="en-US"/>
              <a:t>10/30/2025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3E84DD-8F10-4A46-8A7D-909DFC9ACC0C}" type="slidenum">
              <a:rPr lang="en-US"/>
              <a:t>72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dirty="0"/>
              <a:t>A grammar is not left factored, it cannot be a LL(1) grammar</a:t>
            </a:r>
          </a:p>
          <a:p>
            <a:pPr lvl="1">
              <a:buFontTx/>
              <a:buChar char="•"/>
            </a:pPr>
            <a:r>
              <a:rPr lang="en-US" sz="2400" dirty="0"/>
              <a:t>A </a:t>
            </a:r>
            <a:r>
              <a:rPr lang="en-US" sz="2400" dirty="0">
                <a:sym typeface="Symbol" panose="05050102010706020507" pitchFamily="18" charset="2"/>
              </a:rPr>
              <a:t> </a:t>
            </a:r>
            <a:r>
              <a:rPr lang="en-US" sz="2400" baseline="-25000" dirty="0">
                <a:sym typeface="Symbol" panose="05050102010706020507" pitchFamily="18" charset="2"/>
              </a:rPr>
              <a:t>1</a:t>
            </a:r>
            <a:r>
              <a:rPr lang="en-US" sz="2400" dirty="0">
                <a:sym typeface="Symbol" panose="05050102010706020507" pitchFamily="18" charset="2"/>
              </a:rPr>
              <a:t> | </a:t>
            </a:r>
            <a:r>
              <a:rPr lang="en-US" sz="2400" baseline="-25000" dirty="0">
                <a:sym typeface="Symbol" panose="05050102010706020507" pitchFamily="18" charset="2"/>
              </a:rPr>
              <a:t>2</a:t>
            </a:r>
          </a:p>
          <a:p>
            <a:pPr lvl="2">
              <a:buFont typeface="Wingdings" panose="05000000000000000000" pitchFamily="2" charset="2"/>
              <a:buChar char="è"/>
            </a:pPr>
            <a:r>
              <a:rPr lang="en-US" sz="2400" dirty="0">
                <a:sym typeface="Wingdings" panose="05000000000000000000" pitchFamily="2" charset="2"/>
              </a:rPr>
              <a:t>any terminal that appears in FIRST(</a:t>
            </a:r>
            <a:r>
              <a:rPr lang="en-US" sz="2400" dirty="0">
                <a:sym typeface="Symbol" panose="05050102010706020507" pitchFamily="18" charset="2"/>
              </a:rPr>
              <a:t></a:t>
            </a:r>
            <a:r>
              <a:rPr lang="en-US" sz="2400" baseline="-25000" dirty="0">
                <a:sym typeface="Symbol" panose="05050102010706020507" pitchFamily="18" charset="2"/>
              </a:rPr>
              <a:t>1</a:t>
            </a:r>
            <a:r>
              <a:rPr lang="en-US" sz="2400" dirty="0">
                <a:sym typeface="Wingdings" panose="05000000000000000000" pitchFamily="2" charset="2"/>
              </a:rPr>
              <a:t>) also appears in FIRST(</a:t>
            </a:r>
            <a:r>
              <a:rPr lang="en-US" sz="2400" dirty="0">
                <a:sym typeface="Symbol" panose="05050102010706020507" pitchFamily="18" charset="2"/>
              </a:rPr>
              <a:t></a:t>
            </a:r>
            <a:r>
              <a:rPr lang="en-US" sz="2400" baseline="-25000" dirty="0">
                <a:sym typeface="Symbol" panose="05050102010706020507" pitchFamily="18" charset="2"/>
              </a:rPr>
              <a:t>2</a:t>
            </a:r>
            <a:r>
              <a:rPr lang="en-US" sz="2400" dirty="0">
                <a:sym typeface="Wingdings" panose="05000000000000000000" pitchFamily="2" charset="2"/>
              </a:rPr>
              <a:t>).</a:t>
            </a:r>
            <a:r>
              <a:rPr lang="en-US" sz="2400" dirty="0">
                <a:sym typeface="Symbol" panose="05050102010706020507" pitchFamily="18" charset="2"/>
              </a:rPr>
              <a:t> It </a:t>
            </a:r>
            <a:r>
              <a:rPr lang="en-US" sz="2400" dirty="0"/>
              <a:t>indicates multiple entry in parse table.</a:t>
            </a:r>
          </a:p>
          <a:p>
            <a:pPr lvl="2">
              <a:buFont typeface="Wingdings" panose="05000000000000000000" pitchFamily="2" charset="2"/>
              <a:buChar char="è"/>
            </a:pPr>
            <a:endParaRPr lang="en-US" sz="2400" baseline="-25000" dirty="0">
              <a:sym typeface="Symbol" panose="05050102010706020507" pitchFamily="18" charset="2"/>
            </a:endParaRPr>
          </a:p>
          <a:p>
            <a:r>
              <a:rPr lang="en-US" sz="2400" dirty="0">
                <a:sym typeface="Symbol" panose="05050102010706020507" pitchFamily="18" charset="2"/>
              </a:rPr>
              <a:t>An ambiguous grammar cannot be a LL(1) grammar.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Error Recovery in Predictive Parsing</a:t>
            </a:r>
          </a:p>
        </p:txBody>
      </p:sp>
      <p:sp>
        <p:nvSpPr>
          <p:cNvPr id="58374" name="Date Placeholder 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27D92A8-58AE-4595-8912-A6D72FE24BA4}" type="datetime1">
              <a:rPr lang="en-US"/>
              <a:t>10/30/2025</a:t>
            </a:fld>
            <a:endParaRPr lang="en-US"/>
          </a:p>
        </p:txBody>
      </p:sp>
      <p:sp>
        <p:nvSpPr>
          <p:cNvPr id="5837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621C00C1-8267-4C5F-A1B3-E4D2BD22591D}" type="slidenum">
              <a:rPr lang="en-US"/>
              <a:t>73</a:t>
            </a:fld>
            <a:endParaRPr lang="en-US"/>
          </a:p>
        </p:txBody>
      </p:sp>
      <p:sp>
        <p:nvSpPr>
          <p:cNvPr id="5837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An error may occur in the predictive parsing (LL(1) parsing)</a:t>
            </a:r>
          </a:p>
          <a:p>
            <a:pPr lvl="1"/>
            <a:r>
              <a:rPr lang="en-US" sz="2400" dirty="0"/>
              <a:t>if the terminal symbol on the top of stack does not match with the current input symbol.</a:t>
            </a:r>
          </a:p>
          <a:p>
            <a:pPr lvl="1"/>
            <a:r>
              <a:rPr lang="en-US" sz="2400" dirty="0"/>
              <a:t>if the top of stack is a non-terminal A, the current input symbol is a, and the parsing table entry M[</a:t>
            </a:r>
            <a:r>
              <a:rPr lang="en-US" sz="2400" dirty="0" err="1"/>
              <a:t>A,a</a:t>
            </a:r>
            <a:r>
              <a:rPr lang="en-US" sz="2400" dirty="0"/>
              <a:t>] is empty.</a:t>
            </a:r>
          </a:p>
          <a:p>
            <a:r>
              <a:rPr lang="en-US" dirty="0"/>
              <a:t>What should the parser do in an error case?</a:t>
            </a:r>
          </a:p>
          <a:p>
            <a:pPr lvl="1"/>
            <a:r>
              <a:rPr lang="en-US" sz="2400" dirty="0"/>
              <a:t>The parser should be able </a:t>
            </a:r>
            <a:r>
              <a:rPr lang="en-US" sz="2400" dirty="0">
                <a:solidFill>
                  <a:srgbClr val="FF0000"/>
                </a:solidFill>
              </a:rPr>
              <a:t>to give an error message </a:t>
            </a:r>
            <a:r>
              <a:rPr lang="en-US" sz="2400" dirty="0"/>
              <a:t>(as much as possible meaningful error message).</a:t>
            </a:r>
          </a:p>
          <a:p>
            <a:pPr lvl="1"/>
            <a:r>
              <a:rPr lang="en-US" sz="2400" dirty="0"/>
              <a:t>It should recover from that error case, and it should be able  to continue the parsing with the rest of the input.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Error Recovery Techniques</a:t>
            </a:r>
          </a:p>
        </p:txBody>
      </p:sp>
      <p:sp>
        <p:nvSpPr>
          <p:cNvPr id="59398" name="Date Placeholder 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56736A43-99B2-4071-9BD6-79E547223841}" type="datetime1">
              <a:rPr lang="en-US"/>
              <a:t>10/30/2025</a:t>
            </a:fld>
            <a:endParaRPr lang="en-US"/>
          </a:p>
        </p:txBody>
      </p:sp>
      <p:sp>
        <p:nvSpPr>
          <p:cNvPr id="5939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877CCA8E-BFA2-443C-8854-02F88959A30B}" type="slidenum">
              <a:rPr lang="en-US"/>
              <a:t>74</a:t>
            </a:fld>
            <a:endParaRPr lang="en-US"/>
          </a:p>
        </p:txBody>
      </p:sp>
      <p:sp>
        <p:nvSpPr>
          <p:cNvPr id="5939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65112" y="1295400"/>
            <a:ext cx="8650288" cy="51054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 dirty="0"/>
              <a:t>Panic-Mode Error Recovery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Skipping the input symbols until a synchronizing token is found.</a:t>
            </a:r>
          </a:p>
          <a:p>
            <a:pPr>
              <a:lnSpc>
                <a:spcPct val="90000"/>
              </a:lnSpc>
            </a:pPr>
            <a:r>
              <a:rPr lang="en-US" sz="2200" dirty="0"/>
              <a:t>Phrase-Level Error Recovery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Each </a:t>
            </a:r>
            <a:r>
              <a:rPr lang="en-US" dirty="0">
                <a:solidFill>
                  <a:srgbClr val="FF0000"/>
                </a:solidFill>
              </a:rPr>
              <a:t>empty entry </a:t>
            </a:r>
            <a:r>
              <a:rPr lang="en-US" dirty="0"/>
              <a:t>in the parsing table is </a:t>
            </a:r>
            <a:r>
              <a:rPr lang="en-US" dirty="0">
                <a:solidFill>
                  <a:srgbClr val="FF0000"/>
                </a:solidFill>
              </a:rPr>
              <a:t>filled with a pointer </a:t>
            </a:r>
            <a:r>
              <a:rPr lang="en-US" dirty="0"/>
              <a:t>to a specific error routine to take care that error case. </a:t>
            </a:r>
          </a:p>
          <a:p>
            <a:pPr>
              <a:lnSpc>
                <a:spcPct val="90000"/>
              </a:lnSpc>
            </a:pPr>
            <a:r>
              <a:rPr lang="en-US" sz="2200" dirty="0"/>
              <a:t>Error-Productions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If we have a good idea of the common errors that might be encountered, we can </a:t>
            </a:r>
            <a:r>
              <a:rPr lang="en-US" dirty="0">
                <a:solidFill>
                  <a:srgbClr val="FF0000"/>
                </a:solidFill>
              </a:rPr>
              <a:t>augment the grammar </a:t>
            </a:r>
            <a:r>
              <a:rPr lang="en-US" dirty="0"/>
              <a:t>with productions that generate erroneous constructs. 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When an error production is used by the parser, we can generate appropriate error diagnostics.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Since it is almost impossible to know all the errors that can be made by the programmers, this  method is not so practical.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Panic-Mode Error Recovery in LL(1) Parsing</a:t>
            </a:r>
          </a:p>
        </p:txBody>
      </p:sp>
      <p:sp>
        <p:nvSpPr>
          <p:cNvPr id="60422" name="Date Placeholder 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2ED2B72-1DF0-4575-A4CE-872156F12D9B}" type="datetime1">
              <a:rPr lang="en-US"/>
              <a:t>10/30/2025</a:t>
            </a:fld>
            <a:endParaRPr lang="en-US"/>
          </a:p>
        </p:txBody>
      </p:sp>
      <p:sp>
        <p:nvSpPr>
          <p:cNvPr id="6041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DEF587F-FFC7-4730-B122-105AFB25B5BC}" type="slidenum">
              <a:rPr lang="en-US"/>
              <a:t>75</a:t>
            </a:fld>
            <a:endParaRPr lang="en-US"/>
          </a:p>
        </p:txBody>
      </p:sp>
      <p:sp>
        <p:nvSpPr>
          <p:cNvPr id="6042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In panic-mode error recovery, we skip all the input symbols until a synchronizing token is found.</a:t>
            </a:r>
          </a:p>
          <a:p>
            <a:r>
              <a:rPr lang="en-US" dirty="0"/>
              <a:t>What is the synchronizing token?</a:t>
            </a:r>
          </a:p>
          <a:p>
            <a:pPr lvl="1"/>
            <a:r>
              <a:rPr lang="en-US" sz="2400" dirty="0"/>
              <a:t>All the terminal-symbols in the follow set of a non-terminal can be used as a synchronizing token set for that non-terminal.</a:t>
            </a:r>
          </a:p>
          <a:p>
            <a:r>
              <a:rPr lang="en-US" dirty="0"/>
              <a:t> So, a simple panic-mode error recovery for the LL(1) parsing:</a:t>
            </a:r>
          </a:p>
          <a:p>
            <a:pPr lvl="1"/>
            <a:r>
              <a:rPr lang="en-US" sz="2400" dirty="0"/>
              <a:t>All the empty entries are marked as </a:t>
            </a:r>
            <a:r>
              <a:rPr lang="en-US" sz="2400" b="1" i="1" dirty="0"/>
              <a:t>sync</a:t>
            </a:r>
            <a:r>
              <a:rPr lang="en-US" sz="2400" dirty="0"/>
              <a:t> to indicate that the parser will skip all the input symbols until a symbol in the follow set of the non-terminal A which on the top of the stack. </a:t>
            </a:r>
          </a:p>
          <a:p>
            <a:pPr lvl="1"/>
            <a:r>
              <a:rPr lang="en-US" sz="2400" dirty="0"/>
              <a:t>Then the parser will pop that non-terminal A from the stack. The parsing continues from that state.</a:t>
            </a:r>
          </a:p>
          <a:p>
            <a:pPr lvl="1"/>
            <a:r>
              <a:rPr lang="en-US" sz="2400" dirty="0"/>
              <a:t>To handle unmatched terminal symbols, the parser pops that unmatched terminal symbol from the stack and it issues an error message saying that that unmatched terminal is inserted.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Panic-Mode Error Recovery in LL(1) Parsing</a:t>
            </a:r>
          </a:p>
        </p:txBody>
      </p:sp>
      <p:sp>
        <p:nvSpPr>
          <p:cNvPr id="45120" name="Date Placeholder 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DBD8BB1-F367-4A2D-B8E0-A6A50F4F1757}" type="datetime1">
              <a:rPr lang="en-US"/>
              <a:t>10/30/2025</a:t>
            </a:fld>
            <a:endParaRPr lang="en-US"/>
          </a:p>
        </p:txBody>
      </p:sp>
      <p:sp>
        <p:nvSpPr>
          <p:cNvPr id="4505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944B385-1261-4140-80A6-3FE65BD9C50D}" type="slidenum">
              <a:rPr lang="en-US"/>
              <a:t>76</a:t>
            </a:fld>
            <a:endParaRPr lang="en-US"/>
          </a:p>
        </p:txBody>
      </p:sp>
      <p:sp>
        <p:nvSpPr>
          <p:cNvPr id="45061" name="Text Box 3"/>
          <p:cNvSpPr txBox="1">
            <a:spLocks noChangeArrowheads="1"/>
          </p:cNvSpPr>
          <p:nvPr/>
        </p:nvSpPr>
        <p:spPr bwMode="auto">
          <a:xfrm>
            <a:off x="688975" y="1417637"/>
            <a:ext cx="1597025" cy="1477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</a:rPr>
              <a:t>E </a:t>
            </a:r>
            <a:r>
              <a:rPr 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 TE</a:t>
            </a:r>
            <a:r>
              <a:rPr lang="en-US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’</a:t>
            </a:r>
          </a:p>
          <a:p>
            <a:r>
              <a:rPr 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’</a:t>
            </a:r>
            <a:r>
              <a:rPr 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 +TE</a:t>
            </a:r>
            <a:r>
              <a:rPr lang="en-US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’  </a:t>
            </a:r>
            <a:r>
              <a:rPr lang="en-US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|   </a:t>
            </a:r>
          </a:p>
          <a:p>
            <a:r>
              <a:rPr lang="en-US" dirty="0">
                <a:latin typeface="Times New Roman" panose="02020603050405020304" pitchFamily="18" charset="0"/>
              </a:rPr>
              <a:t>T </a:t>
            </a:r>
            <a:r>
              <a:rPr 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 FT</a:t>
            </a:r>
            <a:r>
              <a:rPr lang="en-US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’</a:t>
            </a:r>
          </a:p>
          <a:p>
            <a:r>
              <a:rPr 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’</a:t>
            </a:r>
            <a:r>
              <a:rPr 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 *FT</a:t>
            </a:r>
            <a:r>
              <a:rPr lang="en-US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’  </a:t>
            </a:r>
            <a:r>
              <a:rPr lang="en-US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|   </a:t>
            </a:r>
          </a:p>
          <a:p>
            <a:r>
              <a:rPr lang="en-US" dirty="0">
                <a:latin typeface="Times New Roman" panose="02020603050405020304" pitchFamily="18" charset="0"/>
              </a:rPr>
              <a:t>F </a:t>
            </a:r>
            <a:r>
              <a:rPr 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 (E)   |   id</a:t>
            </a:r>
          </a:p>
        </p:txBody>
      </p:sp>
      <p:graphicFrame>
        <p:nvGraphicFramePr>
          <p:cNvPr id="275566" name="Group 110"/>
          <p:cNvGraphicFramePr>
            <a:graphicFrameLocks noGrp="1"/>
          </p:cNvGraphicFramePr>
          <p:nvPr/>
        </p:nvGraphicFramePr>
        <p:xfrm>
          <a:off x="304800" y="3593465"/>
          <a:ext cx="8440615" cy="2502535"/>
        </p:xfrm>
        <a:graphic>
          <a:graphicData uri="http://schemas.openxmlformats.org/drawingml/2006/table">
            <a:tbl>
              <a:tblPr/>
              <a:tblGrid>
                <a:gridCol w="542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2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9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71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71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54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507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id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+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*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(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$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E</a:t>
                      </a: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E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 TE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’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E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 TE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’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sync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sync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E</a:t>
                      </a:r>
                      <a:r>
                        <a:rPr kumimoji="0" lang="en-US" sz="20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’</a:t>
                      </a: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E</a:t>
                      </a:r>
                      <a:r>
                        <a:rPr kumimoji="0" 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’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  +TE</a:t>
                      </a:r>
                      <a:r>
                        <a:rPr kumimoji="0" 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’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E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’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  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E</a:t>
                      </a:r>
                      <a:r>
                        <a:rPr kumimoji="0" 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’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  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5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</a:t>
                      </a: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 FT</a:t>
                      </a:r>
                      <a:r>
                        <a:rPr kumimoji="0" 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’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sync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 FT</a:t>
                      </a:r>
                      <a:r>
                        <a:rPr kumimoji="0" 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’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sync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sync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T</a:t>
                      </a:r>
                      <a:r>
                        <a:rPr kumimoji="0" lang="en-US" sz="20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’</a:t>
                      </a: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T</a:t>
                      </a:r>
                      <a:r>
                        <a:rPr kumimoji="0" 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’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  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T</a:t>
                      </a:r>
                      <a:r>
                        <a:rPr kumimoji="0" 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’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  *FT</a:t>
                      </a:r>
                      <a:r>
                        <a:rPr kumimoji="0" 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’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T</a:t>
                      </a:r>
                      <a:r>
                        <a:rPr kumimoji="0" 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’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  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T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’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  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1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</a:t>
                      </a: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 id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sync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sync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 (E)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sync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sync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Panic-Mode Error Recovery - Example</a:t>
            </a:r>
          </a:p>
        </p:txBody>
      </p:sp>
      <p:sp>
        <p:nvSpPr>
          <p:cNvPr id="61482" name="Date Placeholder 8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1BEF6F69-0D4B-422C-A877-F913D6D4A142}" type="datetime1">
              <a:rPr lang="en-US"/>
              <a:t>10/30/2025</a:t>
            </a:fld>
            <a:endParaRPr lang="en-US"/>
          </a:p>
        </p:txBody>
      </p:sp>
      <p:sp>
        <p:nvSpPr>
          <p:cNvPr id="6144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D23561A-9B49-4C61-861E-FE08442F52C8}" type="slidenum">
              <a:rPr lang="en-US"/>
              <a:t>77</a:t>
            </a:fld>
            <a:endParaRPr lang="en-US"/>
          </a:p>
        </p:txBody>
      </p:sp>
      <p:sp>
        <p:nvSpPr>
          <p:cNvPr id="6144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000" dirty="0"/>
              <a:t>S </a:t>
            </a:r>
            <a:r>
              <a:rPr lang="en-US" sz="2000" dirty="0">
                <a:sym typeface="Symbol" panose="05050102010706020507" pitchFamily="18" charset="2"/>
              </a:rPr>
              <a:t> </a:t>
            </a:r>
            <a:r>
              <a:rPr lang="en-US" sz="2000" dirty="0" err="1">
                <a:sym typeface="Symbol" panose="05050102010706020507" pitchFamily="18" charset="2"/>
              </a:rPr>
              <a:t>AbS</a:t>
            </a:r>
            <a:r>
              <a:rPr lang="en-US" sz="2000" dirty="0">
                <a:sym typeface="Symbol" panose="05050102010706020507" pitchFamily="18" charset="2"/>
              </a:rPr>
              <a:t>  |  e  | 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>
                <a:sym typeface="Symbol" panose="05050102010706020507" pitchFamily="18" charset="2"/>
              </a:rPr>
              <a:t>A  a  |  </a:t>
            </a:r>
            <a:r>
              <a:rPr lang="en-US" sz="2000" dirty="0" err="1">
                <a:sym typeface="Symbol" panose="05050102010706020507" pitchFamily="18" charset="2"/>
              </a:rPr>
              <a:t>cAd</a:t>
            </a:r>
            <a:endParaRPr lang="en-US" sz="20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sz="9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						</a:t>
            </a:r>
            <a:r>
              <a:rPr lang="en-US" sz="1800">
                <a:sym typeface="Symbol" panose="05050102010706020507" pitchFamily="18" charset="2"/>
              </a:rPr>
              <a:t>	</a:t>
            </a:r>
            <a:endParaRPr lang="en-US" sz="10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b="1" u="sng" dirty="0">
                <a:sym typeface="Symbol" panose="05050102010706020507" pitchFamily="18" charset="2"/>
              </a:rPr>
              <a:t>stack</a:t>
            </a:r>
            <a:r>
              <a:rPr lang="en-US" sz="1800" b="1" dirty="0">
                <a:sym typeface="Symbol" panose="05050102010706020507" pitchFamily="18" charset="2"/>
              </a:rPr>
              <a:t>	</a:t>
            </a:r>
            <a:r>
              <a:rPr lang="en-US" sz="1800" b="1" u="sng" dirty="0">
                <a:sym typeface="Symbol" panose="05050102010706020507" pitchFamily="18" charset="2"/>
              </a:rPr>
              <a:t>input</a:t>
            </a:r>
            <a:r>
              <a:rPr lang="en-US" sz="1800" b="1" dirty="0">
                <a:sym typeface="Symbol" panose="05050102010706020507" pitchFamily="18" charset="2"/>
              </a:rPr>
              <a:t>	</a:t>
            </a:r>
            <a:r>
              <a:rPr lang="en-US" sz="1800" b="1" u="sng" dirty="0">
                <a:sym typeface="Symbol" panose="05050102010706020507" pitchFamily="18" charset="2"/>
              </a:rPr>
              <a:t>output</a:t>
            </a:r>
            <a:r>
              <a:rPr lang="en-US" sz="1800" dirty="0">
                <a:sym typeface="Symbol" panose="05050102010706020507" pitchFamily="18" charset="2"/>
              </a:rPr>
              <a:t>			</a:t>
            </a:r>
            <a:endParaRPr lang="en-US" sz="1800" b="1" u="sng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$S		</a:t>
            </a:r>
            <a:r>
              <a:rPr lang="en-US" sz="1800" dirty="0" err="1">
                <a:sym typeface="Symbol" panose="05050102010706020507" pitchFamily="18" charset="2"/>
              </a:rPr>
              <a:t>aab</a:t>
            </a:r>
            <a:r>
              <a:rPr lang="en-US" sz="1800" dirty="0">
                <a:sym typeface="Symbol" panose="05050102010706020507" pitchFamily="18" charset="2"/>
              </a:rPr>
              <a:t>$	</a:t>
            </a:r>
            <a:r>
              <a:rPr lang="en-US" sz="1800" dirty="0"/>
              <a:t>S </a:t>
            </a:r>
            <a:r>
              <a:rPr lang="en-US" sz="1800" dirty="0">
                <a:sym typeface="Symbol" panose="05050102010706020507" pitchFamily="18" charset="2"/>
              </a:rPr>
              <a:t> </a:t>
            </a:r>
            <a:r>
              <a:rPr lang="en-US" sz="1800" dirty="0" err="1">
                <a:sym typeface="Symbol" panose="05050102010706020507" pitchFamily="18" charset="2"/>
              </a:rPr>
              <a:t>AbS</a:t>
            </a:r>
            <a:r>
              <a:rPr lang="en-US" sz="1800" dirty="0">
                <a:sym typeface="Symbol" panose="05050102010706020507" pitchFamily="18" charset="2"/>
              </a:rPr>
              <a:t>			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$</a:t>
            </a:r>
            <a:r>
              <a:rPr lang="en-US" sz="1800" dirty="0" err="1">
                <a:sym typeface="Symbol" panose="05050102010706020507" pitchFamily="18" charset="2"/>
              </a:rPr>
              <a:t>SbA</a:t>
            </a:r>
            <a:r>
              <a:rPr lang="en-US" sz="1800" dirty="0">
                <a:sym typeface="Symbol" panose="05050102010706020507" pitchFamily="18" charset="2"/>
              </a:rPr>
              <a:t>	</a:t>
            </a:r>
            <a:r>
              <a:rPr lang="en-US" sz="1800" dirty="0" err="1">
                <a:sym typeface="Symbol" panose="05050102010706020507" pitchFamily="18" charset="2"/>
              </a:rPr>
              <a:t>aab</a:t>
            </a:r>
            <a:r>
              <a:rPr lang="en-US" sz="1800" dirty="0">
                <a:sym typeface="Symbol" panose="05050102010706020507" pitchFamily="18" charset="2"/>
              </a:rPr>
              <a:t>$	A  a 		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$</a:t>
            </a:r>
            <a:r>
              <a:rPr lang="en-US" sz="1800" dirty="0" err="1">
                <a:sym typeface="Symbol" panose="05050102010706020507" pitchFamily="18" charset="2"/>
              </a:rPr>
              <a:t>Sba</a:t>
            </a:r>
            <a:r>
              <a:rPr lang="en-US" sz="1800" dirty="0">
                <a:sym typeface="Symbol" panose="05050102010706020507" pitchFamily="18" charset="2"/>
              </a:rPr>
              <a:t>	</a:t>
            </a:r>
            <a:r>
              <a:rPr lang="en-US" sz="1800" dirty="0" err="1">
                <a:sym typeface="Symbol" panose="05050102010706020507" pitchFamily="18" charset="2"/>
              </a:rPr>
              <a:t>aab</a:t>
            </a:r>
            <a:r>
              <a:rPr lang="en-US" sz="1800" dirty="0">
                <a:sym typeface="Symbol" panose="05050102010706020507" pitchFamily="18" charset="2"/>
              </a:rPr>
              <a:t>$				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$</a:t>
            </a:r>
            <a:r>
              <a:rPr lang="en-US" sz="1800" dirty="0" err="1">
                <a:sym typeface="Symbol" panose="05050102010706020507" pitchFamily="18" charset="2"/>
              </a:rPr>
              <a:t>Sb</a:t>
            </a:r>
            <a:r>
              <a:rPr lang="en-US" sz="1800" dirty="0">
                <a:sym typeface="Symbol" panose="05050102010706020507" pitchFamily="18" charset="2"/>
              </a:rPr>
              <a:t>	</a:t>
            </a:r>
            <a:r>
              <a:rPr lang="en-US" sz="1800" dirty="0" err="1">
                <a:sym typeface="Symbol" panose="05050102010706020507" pitchFamily="18" charset="2"/>
              </a:rPr>
              <a:t>ab</a:t>
            </a:r>
            <a:r>
              <a:rPr lang="en-US" sz="1800" dirty="0">
                <a:sym typeface="Symbol" panose="05050102010706020507" pitchFamily="18" charset="2"/>
              </a:rPr>
              <a:t>$	Error: missing b, inserted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$S		</a:t>
            </a:r>
            <a:r>
              <a:rPr lang="en-US" sz="1800" dirty="0" err="1">
                <a:sym typeface="Symbol" panose="05050102010706020507" pitchFamily="18" charset="2"/>
              </a:rPr>
              <a:t>ab</a:t>
            </a:r>
            <a:r>
              <a:rPr lang="en-US" sz="1800" dirty="0">
                <a:sym typeface="Symbol" panose="05050102010706020507" pitchFamily="18" charset="2"/>
              </a:rPr>
              <a:t>$	</a:t>
            </a:r>
            <a:r>
              <a:rPr lang="en-US" sz="1800" dirty="0"/>
              <a:t>S </a:t>
            </a:r>
            <a:r>
              <a:rPr lang="en-US" sz="1800" dirty="0">
                <a:sym typeface="Symbol" panose="05050102010706020507" pitchFamily="18" charset="2"/>
              </a:rPr>
              <a:t> </a:t>
            </a:r>
            <a:r>
              <a:rPr lang="en-US" sz="1800" dirty="0" err="1">
                <a:sym typeface="Symbol" panose="05050102010706020507" pitchFamily="18" charset="2"/>
              </a:rPr>
              <a:t>AbS</a:t>
            </a:r>
            <a:r>
              <a:rPr lang="en-US" sz="1800" dirty="0">
                <a:sym typeface="Symbol" panose="05050102010706020507" pitchFamily="18" charset="2"/>
              </a:rPr>
              <a:t>			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$</a:t>
            </a:r>
            <a:r>
              <a:rPr lang="en-US" sz="1800" dirty="0" err="1">
                <a:sym typeface="Symbol" panose="05050102010706020507" pitchFamily="18" charset="2"/>
              </a:rPr>
              <a:t>SbA</a:t>
            </a:r>
            <a:r>
              <a:rPr lang="en-US" sz="1800" dirty="0">
                <a:sym typeface="Symbol" panose="05050102010706020507" pitchFamily="18" charset="2"/>
              </a:rPr>
              <a:t>	</a:t>
            </a:r>
            <a:r>
              <a:rPr lang="en-US" sz="1800" dirty="0" err="1">
                <a:sym typeface="Symbol" panose="05050102010706020507" pitchFamily="18" charset="2"/>
              </a:rPr>
              <a:t>ab</a:t>
            </a:r>
            <a:r>
              <a:rPr lang="en-US" sz="1800" dirty="0">
                <a:sym typeface="Symbol" panose="05050102010706020507" pitchFamily="18" charset="2"/>
              </a:rPr>
              <a:t>$	A  a 			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$</a:t>
            </a:r>
            <a:r>
              <a:rPr lang="en-US" sz="1800" dirty="0" err="1">
                <a:sym typeface="Symbol" panose="05050102010706020507" pitchFamily="18" charset="2"/>
              </a:rPr>
              <a:t>Sba</a:t>
            </a:r>
            <a:r>
              <a:rPr lang="en-US" sz="1800" dirty="0">
                <a:sym typeface="Symbol" panose="05050102010706020507" pitchFamily="18" charset="2"/>
              </a:rPr>
              <a:t>	</a:t>
            </a:r>
            <a:r>
              <a:rPr lang="en-US" sz="1800" dirty="0" err="1">
                <a:sym typeface="Symbol" panose="05050102010706020507" pitchFamily="18" charset="2"/>
              </a:rPr>
              <a:t>ab</a:t>
            </a:r>
            <a:r>
              <a:rPr lang="en-US" sz="1800" dirty="0">
                <a:sym typeface="Symbol" panose="05050102010706020507" pitchFamily="18" charset="2"/>
              </a:rPr>
              <a:t>$				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$</a:t>
            </a:r>
            <a:r>
              <a:rPr lang="en-US" sz="1800" dirty="0" err="1">
                <a:sym typeface="Symbol" panose="05050102010706020507" pitchFamily="18" charset="2"/>
              </a:rPr>
              <a:t>Sb</a:t>
            </a:r>
            <a:r>
              <a:rPr lang="en-US" sz="1800" dirty="0">
                <a:sym typeface="Symbol" panose="05050102010706020507" pitchFamily="18" charset="2"/>
              </a:rPr>
              <a:t>	b$				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$S		$	</a:t>
            </a:r>
            <a:r>
              <a:rPr lang="en-US" sz="1800" dirty="0"/>
              <a:t>S </a:t>
            </a:r>
            <a:r>
              <a:rPr lang="en-US" sz="1800" dirty="0">
                <a:sym typeface="Symbol" panose="05050102010706020507" pitchFamily="18" charset="2"/>
              </a:rPr>
              <a:t>  		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$		$	accept	</a:t>
            </a:r>
          </a:p>
        </p:txBody>
      </p:sp>
      <p:graphicFrame>
        <p:nvGraphicFramePr>
          <p:cNvPr id="291936" name="Group 96"/>
          <p:cNvGraphicFramePr>
            <a:graphicFrameLocks noGrp="1"/>
          </p:cNvGraphicFramePr>
          <p:nvPr/>
        </p:nvGraphicFramePr>
        <p:xfrm>
          <a:off x="3352800" y="4495800"/>
          <a:ext cx="5556885" cy="1188720"/>
        </p:xfrm>
        <a:graphic>
          <a:graphicData uri="http://schemas.openxmlformats.org/drawingml/2006/table">
            <a:tbl>
              <a:tblPr/>
              <a:tblGrid>
                <a:gridCol w="267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10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60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15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62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78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d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e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$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1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</a:t>
                      </a: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 AbS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sync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 AbS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sync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 e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 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A  a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sync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A 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cAd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sync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sync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sync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Phrase-Level Error Recovery</a:t>
            </a:r>
          </a:p>
        </p:txBody>
      </p:sp>
      <p:sp>
        <p:nvSpPr>
          <p:cNvPr id="62470" name="Date Placeholder 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41D459A-31D8-4FF2-85C7-8EDB79EDB805}" type="datetime1">
              <a:rPr lang="en-US"/>
              <a:t>10/30/2025</a:t>
            </a:fld>
            <a:endParaRPr lang="en-US"/>
          </a:p>
        </p:txBody>
      </p:sp>
      <p:sp>
        <p:nvSpPr>
          <p:cNvPr id="6246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69228F3-A4CA-4B82-9CAC-C5E4162361A3}" type="slidenum">
              <a:rPr lang="en-US"/>
              <a:t>78</a:t>
            </a:fld>
            <a:endParaRPr lang="en-US"/>
          </a:p>
        </p:txBody>
      </p:sp>
      <p:sp>
        <p:nvSpPr>
          <p:cNvPr id="6246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Each empty entry in the parsing table is  filled with a pointer to a special error routine which will take care that error case.</a:t>
            </a:r>
          </a:p>
          <a:p>
            <a:r>
              <a:rPr lang="en-US" dirty="0"/>
              <a:t>These error routines may:</a:t>
            </a:r>
          </a:p>
          <a:p>
            <a:pPr lvl="1"/>
            <a:r>
              <a:rPr lang="en-US" dirty="0"/>
              <a:t>change, insert, or delete input symbols.</a:t>
            </a:r>
          </a:p>
          <a:p>
            <a:pPr lvl="1"/>
            <a:r>
              <a:rPr lang="en-US" dirty="0"/>
              <a:t>issue appropriate error messages</a:t>
            </a:r>
          </a:p>
          <a:p>
            <a:pPr lvl="1"/>
            <a:r>
              <a:rPr lang="en-US" dirty="0"/>
              <a:t>pop items from the stack.</a:t>
            </a:r>
          </a:p>
          <a:p>
            <a:r>
              <a:rPr lang="en-US" dirty="0"/>
              <a:t>We should be careful when we design these error routines, because we may put the parser into an infinite loop.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image" Target="../media/image1.jpg"/></Relationships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image" Target="../media/image1.jpg"/></Relationships>
</file>

<file path=ppt/theme/_rels/them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image" Target="../media/image1.jpg"/></Relationships>
</file>

<file path=ppt/theme/_rels/them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image" Target="../media/image1.jp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107</TotalTime>
  <Words>7832</Words>
  <Application>Microsoft Office PowerPoint</Application>
  <PresentationFormat>On-screen Show (4:3)</PresentationFormat>
  <Paragraphs>1248</Paragraphs>
  <Slides>78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78</vt:i4>
      </vt:variant>
    </vt:vector>
  </HeadingPairs>
  <TitlesOfParts>
    <vt:vector size="90" baseType="lpstr">
      <vt:lpstr>Arial</vt:lpstr>
      <vt:lpstr>Calibri</vt:lpstr>
      <vt:lpstr>Courier New</vt:lpstr>
      <vt:lpstr>Georgia</vt:lpstr>
      <vt:lpstr>Symbol</vt:lpstr>
      <vt:lpstr>Times New Roman</vt:lpstr>
      <vt:lpstr>Wingdings</vt:lpstr>
      <vt:lpstr>Wingdings 2</vt:lpstr>
      <vt:lpstr>Civic</vt:lpstr>
      <vt:lpstr>Civic</vt:lpstr>
      <vt:lpstr>Civic</vt:lpstr>
      <vt:lpstr>Civic</vt:lpstr>
      <vt:lpstr>Syntax Analysis</vt:lpstr>
      <vt:lpstr>Phases of a Compiler</vt:lpstr>
      <vt:lpstr>Syntax Analyzer</vt:lpstr>
      <vt:lpstr>Syntax Analyzer</vt:lpstr>
      <vt:lpstr>Parser</vt:lpstr>
      <vt:lpstr>Parsers (cont.)</vt:lpstr>
      <vt:lpstr>Context-Free Grammars</vt:lpstr>
      <vt:lpstr>CFG: An Example</vt:lpstr>
      <vt:lpstr>Notational Conventions in CFG</vt:lpstr>
      <vt:lpstr>Context-Free Grammars</vt:lpstr>
      <vt:lpstr>CFG - Terminology</vt:lpstr>
      <vt:lpstr>Derivation Example</vt:lpstr>
      <vt:lpstr>Left-Most and Right-Most Derivations</vt:lpstr>
      <vt:lpstr>Parse Tree</vt:lpstr>
      <vt:lpstr>Ambiguity</vt:lpstr>
      <vt:lpstr>Ambiguity (cont.)</vt:lpstr>
      <vt:lpstr>PowerPoint Presentation</vt:lpstr>
      <vt:lpstr>Ambiguity (cont.)</vt:lpstr>
      <vt:lpstr>Ambiguity (cont.)</vt:lpstr>
      <vt:lpstr>Ambiguity – Operator Precedence</vt:lpstr>
      <vt:lpstr>Ambiguity – Operator Precedence</vt:lpstr>
      <vt:lpstr>Ambiguity – Associativity</vt:lpstr>
      <vt:lpstr>Ambiguity – Associativity</vt:lpstr>
      <vt:lpstr>Ambiguity – Associativity</vt:lpstr>
      <vt:lpstr>Left Recursion</vt:lpstr>
      <vt:lpstr>Eliminate Left-Recursion</vt:lpstr>
      <vt:lpstr>Immediate Left-Recursion - Example</vt:lpstr>
      <vt:lpstr>Immediate Left-Recursion</vt:lpstr>
      <vt:lpstr>Left-Recursion -- Problem</vt:lpstr>
      <vt:lpstr>Eliminate Left-Recursion -- Example</vt:lpstr>
      <vt:lpstr>Eliminate Left-Recursion – Example2</vt:lpstr>
      <vt:lpstr>Left-Factoring</vt:lpstr>
      <vt:lpstr>Left-Factoring (cont.)</vt:lpstr>
      <vt:lpstr>Left-Factoring -- Algorithm </vt:lpstr>
      <vt:lpstr>Left-Factoring – Example 1</vt:lpstr>
      <vt:lpstr>Left-Factoring – Example 2</vt:lpstr>
      <vt:lpstr>Syntax Analysis</vt:lpstr>
      <vt:lpstr>Phases of a Compiler</vt:lpstr>
      <vt:lpstr>Top-Down Parsing</vt:lpstr>
      <vt:lpstr>Top-Down Parsing</vt:lpstr>
      <vt:lpstr>Predictive Parser</vt:lpstr>
      <vt:lpstr>LL(k) Parsing</vt:lpstr>
      <vt:lpstr>Non-Recursive Predictive Parsing -- LL(1) Parser</vt:lpstr>
      <vt:lpstr>Non recursive Predictive Parsing </vt:lpstr>
      <vt:lpstr>LL(1) Parser</vt:lpstr>
      <vt:lpstr>LL(1) Parser</vt:lpstr>
      <vt:lpstr>LL(1) Parser – Parser Actions</vt:lpstr>
      <vt:lpstr>LL(1) Parser – Parser Actions</vt:lpstr>
      <vt:lpstr>LL(1) Parser – Example1</vt:lpstr>
      <vt:lpstr>LL(1) Parser – Example1 (cont.)</vt:lpstr>
      <vt:lpstr>Syntax Analysis</vt:lpstr>
      <vt:lpstr>Constructing LL(1) Parsing Tables</vt:lpstr>
      <vt:lpstr>Computing FIRST for Any String X</vt:lpstr>
      <vt:lpstr>FIRST Example(1)</vt:lpstr>
      <vt:lpstr>FIRST Example(2)</vt:lpstr>
      <vt:lpstr>Computing FOLLOW for non-terminals</vt:lpstr>
      <vt:lpstr>FOLLOW Example</vt:lpstr>
      <vt:lpstr>FOLLOW Example</vt:lpstr>
      <vt:lpstr>FOLLOW Example</vt:lpstr>
      <vt:lpstr>Constructing LL(1) Parsing Table -- Algorithm</vt:lpstr>
      <vt:lpstr>Constructing LL(1) Parsing Table -- Example</vt:lpstr>
      <vt:lpstr>LL(1) Grammars</vt:lpstr>
      <vt:lpstr>LL(1) Parser – Example2</vt:lpstr>
      <vt:lpstr>LL(1) Parser – Example2</vt:lpstr>
      <vt:lpstr>LL(1) Parser -Example3</vt:lpstr>
      <vt:lpstr>Syntax Analysis</vt:lpstr>
      <vt:lpstr>LL(1) Grammars</vt:lpstr>
      <vt:lpstr>A Grammar which is not LL(1)</vt:lpstr>
      <vt:lpstr>A Grammar which is not LL(1) (cont.)</vt:lpstr>
      <vt:lpstr>Properties of LL(1) Grammars</vt:lpstr>
      <vt:lpstr>A Grammar which is not LL(1) (cont.)</vt:lpstr>
      <vt:lpstr>A Grammar which is not LL(1) (cont.)</vt:lpstr>
      <vt:lpstr>Error Recovery in Predictive Parsing</vt:lpstr>
      <vt:lpstr>Error Recovery Techniques</vt:lpstr>
      <vt:lpstr>Panic-Mode Error Recovery in LL(1) Parsing</vt:lpstr>
      <vt:lpstr>Panic-Mode Error Recovery in LL(1) Parsing</vt:lpstr>
      <vt:lpstr>Panic-Mode Error Recovery - Example</vt:lpstr>
      <vt:lpstr>Phrase-Level Error Recovery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Syntax Analysis</dc:title>
  <dc:creator>K.M.Azharul Hasan</dc:creator>
  <cp:lastModifiedBy>Md Manirujjaman</cp:lastModifiedBy>
  <cp:revision>48</cp:revision>
  <dcterms:created xsi:type="dcterms:W3CDTF">2014-01-13T03:44:00Z</dcterms:created>
  <dcterms:modified xsi:type="dcterms:W3CDTF">2025-10-30T07:27:03Z</dcterms:modified>
</cp:coreProperties>
</file>