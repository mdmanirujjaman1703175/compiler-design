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F761C-D59A-4DBA-B359-4583657C5735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7F2AAF-B118-4C61-ADE6-2F12701FF42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2184D40-4F0F-49A5-ADCD-8A936DA22F34}" type="slidenum">
              <a:rPr lang="en-US">
                <a:latin typeface="Arial" panose="020B0604020202020204" pitchFamily="34" charset="0"/>
              </a:rPr>
              <a:t>1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ln>
            <a:miter lim="800000"/>
          </a:ln>
        </p:spPr>
        <p:txBody>
          <a:bodyPr wrap="square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lec02-parserCFG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ln>
            <a:miter lim="800000"/>
          </a:ln>
        </p:spPr>
        <p:txBody>
          <a:bodyPr wrap="square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B5B3129-83C0-4BC7-B5A7-B60E5811C56D}" type="datetime4">
              <a:rPr lang="en-US"/>
              <a:t>October 8, 2025</a:t>
            </a:fld>
            <a:endParaRPr lang="en-US"/>
          </a:p>
        </p:txBody>
      </p:sp>
      <p:sp>
        <p:nvSpPr>
          <p:cNvPr id="12493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48D7873-16C6-4E1F-84F3-CD61177E2303}" type="slidenum">
              <a:rPr lang="en-US"/>
              <a:t>3</a:t>
            </a:fld>
            <a:endParaRPr lang="en-US"/>
          </a:p>
        </p:txBody>
      </p:sp>
      <p:sp>
        <p:nvSpPr>
          <p:cNvPr id="12493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4934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3800" y="681038"/>
            <a:ext cx="4545013" cy="340836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4798" y="4362155"/>
            <a:ext cx="5088404" cy="4088697"/>
          </a:xfrm>
          <a:prstGeom prst="rect">
            <a:avLst/>
          </a:prstGeom>
          <a:noFill/>
          <a:ln>
            <a:miter lim="800000"/>
          </a:ln>
        </p:spPr>
        <p:txBody>
          <a:bodyPr lIns="87664" tIns="43832" rIns="87664" bIns="43832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3800" y="681038"/>
            <a:ext cx="4545013" cy="340836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4798" y="4362155"/>
            <a:ext cx="5088404" cy="4088697"/>
          </a:xfrm>
          <a:prstGeom prst="rect">
            <a:avLst/>
          </a:prstGeom>
          <a:noFill/>
          <a:ln>
            <a:miter lim="800000"/>
          </a:ln>
        </p:spPr>
        <p:txBody>
          <a:bodyPr lIns="87664" tIns="43832" rIns="87664" bIns="43832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r>
              <a:rPr lang="en-US"/>
              <a:t>Md Zahim Hassan, BAUST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r>
              <a:rPr lang="en-US"/>
              <a:t>Md Zahim Hassan, BAUST</a:t>
            </a:r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010832E6-B55A-4E24-AC1A-FA114B576BC7}" type="datetime1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Md Zahim Hassan, BAUST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6CC19BE-7371-47B2-943B-F4A7FF6ACF5A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 panose="05020102010507070707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 panose="05000000000000000000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057400"/>
            <a:ext cx="8077200" cy="121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4800" b="1" dirty="0">
                <a:solidFill>
                  <a:schemeClr val="tx1"/>
                </a:solidFill>
                <a:latin typeface="+mn-lt"/>
              </a:rPr>
              <a:t>Syntax Analysis</a:t>
            </a:r>
          </a:p>
        </p:txBody>
      </p:sp>
      <p:sp>
        <p:nvSpPr>
          <p:cNvPr id="307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26FD60-F092-4190-B331-9840380FBE71}" type="datetime1">
              <a:rPr lang="en-US" smtClean="0">
                <a:latin typeface="Arial" panose="020B0604020202020204" pitchFamily="34" charset="0"/>
              </a:rPr>
              <a:t>10/8/2025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07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</a:rPr>
              <a:t>Md Zahim Hassan, BAUST</a:t>
            </a:r>
          </a:p>
        </p:txBody>
      </p:sp>
      <p:sp>
        <p:nvSpPr>
          <p:cNvPr id="30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6DA8DC-BF72-4030-82CD-5BDDC1EA7C12}" type="slidenum">
              <a:rPr lang="en-US" smtClean="0">
                <a:latin typeface="Arial" panose="020B0604020202020204" pitchFamily="34" charset="0"/>
              </a:rPr>
              <a:t>1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3600" y="3429000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Part I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Phases of a Compiler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A318-DCBA-4447-84B4-B53354073B57}" type="datetime1">
              <a:rPr lang="en-US" smtClean="0"/>
              <a:t>10/8/2025</a:t>
            </a:fld>
            <a:endParaRPr lang="en-US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939CF-315A-4CB2-A4B7-D4A9C8153E95}" type="slidenum">
              <a:rPr lang="en-US" smtClean="0"/>
              <a:t>2</a:t>
            </a:fld>
            <a:endParaRPr lang="en-US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352800" y="1514475"/>
            <a:ext cx="213836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Source program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276600" y="2200275"/>
            <a:ext cx="2211388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Lexical analyzer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276600" y="2886075"/>
            <a:ext cx="21463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Syntax analyzer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200400" y="3571875"/>
            <a:ext cx="24320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Semantic analyzer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667000" y="4257675"/>
            <a:ext cx="36068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 dirty="0"/>
              <a:t>Intermediate code generator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3352800" y="5019675"/>
            <a:ext cx="2078038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Code optimizer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3352800" y="5934075"/>
            <a:ext cx="20621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Code generator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914400" y="3190875"/>
            <a:ext cx="1808163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Symbol table</a:t>
            </a:r>
          </a:p>
          <a:p>
            <a:r>
              <a:rPr lang="en-US" i="0"/>
              <a:t>manager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6308725" y="3460750"/>
            <a:ext cx="18256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i="0"/>
              <a:t>Error handler</a:t>
            </a: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4343400" y="19716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4343400" y="26574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4343400" y="33432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4343400" y="41052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4343400" y="471487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4343400" y="555307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Hexagon 22"/>
          <p:cNvSpPr/>
          <p:nvPr/>
        </p:nvSpPr>
        <p:spPr>
          <a:xfrm>
            <a:off x="2895600" y="2667000"/>
            <a:ext cx="2971800" cy="838200"/>
          </a:xfrm>
          <a:prstGeom prst="hexagon">
            <a:avLst/>
          </a:prstGeom>
          <a:solidFill>
            <a:srgbClr val="002060">
              <a:alpha val="12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Syntax Analyzer</a:t>
            </a:r>
          </a:p>
        </p:txBody>
      </p:sp>
      <p:sp>
        <p:nvSpPr>
          <p:cNvPr id="4102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3A4B6AD-3853-4ED2-A309-58D85048D7FB}" type="datetime1">
              <a:rPr lang="en-US" smtClean="0"/>
              <a:t>10/8/2025</a:t>
            </a:fld>
            <a:endParaRPr lang="en-US"/>
          </a:p>
        </p:txBody>
      </p:sp>
      <p:sp>
        <p:nvSpPr>
          <p:cNvPr id="409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40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CC1B64A-04AC-4070-94BE-DB0E2CF5FC3E}" type="slidenum">
              <a:rPr lang="en-US" smtClean="0"/>
              <a:t>3</a:t>
            </a:fld>
            <a:endParaRPr lang="en-US"/>
          </a:p>
        </p:txBody>
      </p:sp>
      <p:sp>
        <p:nvSpPr>
          <p:cNvPr id="410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sz="2000" i="1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i="1" dirty="0"/>
              <a:t>Syntax Analyzer</a:t>
            </a:r>
            <a:r>
              <a:rPr lang="en-US" sz="2400" dirty="0"/>
              <a:t> creates the </a:t>
            </a:r>
            <a:r>
              <a:rPr lang="en-US" sz="2400" dirty="0">
                <a:solidFill>
                  <a:srgbClr val="FF0000"/>
                </a:solidFill>
              </a:rPr>
              <a:t>syntactic structure </a:t>
            </a:r>
            <a:r>
              <a:rPr lang="en-US" sz="2400" dirty="0"/>
              <a:t>of the given source program.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This syntactic structure is mostly a </a:t>
            </a:r>
            <a:r>
              <a:rPr lang="en-US" sz="2400" i="1" dirty="0">
                <a:solidFill>
                  <a:srgbClr val="FF0000"/>
                </a:solidFill>
              </a:rPr>
              <a:t>parse tree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Syntax Analyzer is also known as </a:t>
            </a:r>
            <a:r>
              <a:rPr lang="en-US" sz="2400" i="1" dirty="0"/>
              <a:t>parser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The syntax of a programming is described by a </a:t>
            </a:r>
            <a:r>
              <a:rPr lang="en-US" sz="2400" i="1" dirty="0">
                <a:solidFill>
                  <a:srgbClr val="FF0000"/>
                </a:solidFill>
              </a:rPr>
              <a:t>context-free grammar </a:t>
            </a:r>
            <a:r>
              <a:rPr lang="en-US" sz="2400" i="1" dirty="0"/>
              <a:t>(CFG) or </a:t>
            </a:r>
            <a:r>
              <a:rPr lang="en-US" sz="2400" dirty="0"/>
              <a:t>BNF (Backus-Naur Form) notation.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endParaRPr lang="en-US" sz="20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Syntax Analyzer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E1BE80-BD2D-4309-9425-224705F3D5A3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Md Zahim Hassan, BAUST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E84DD-8F10-4A46-8A7D-909DFC9ACC0C}" type="slidenum">
              <a:rPr lang="en-US" smtClean="0"/>
              <a:t>4</a:t>
            </a:fld>
            <a:endParaRPr lang="en-US"/>
          </a:p>
        </p:txBody>
      </p:sp>
      <p:sp>
        <p:nvSpPr>
          <p:cNvPr id="33" name="Content Placeholder 32"/>
          <p:cNvSpPr>
            <a:spLocks noGrp="1"/>
          </p:cNvSpPr>
          <p:nvPr>
            <p:ph sz="quarter" idx="1"/>
          </p:nvPr>
        </p:nvSpPr>
        <p:spPr>
          <a:xfrm>
            <a:off x="152400" y="1295400"/>
            <a:ext cx="8839200" cy="5109584"/>
          </a:xfrm>
        </p:spPr>
        <p:txBody>
          <a:bodyPr>
            <a:normAutofit fontScale="92500" lnSpcReduction="10000"/>
          </a:bodyPr>
          <a:lstStyle/>
          <a:p>
            <a:endParaRPr lang="en-US" sz="2000" dirty="0"/>
          </a:p>
          <a:p>
            <a:r>
              <a:rPr lang="en-US" sz="2000" dirty="0"/>
              <a:t>The syntax analyzer (parser) checks whether a given source program </a:t>
            </a:r>
            <a:r>
              <a:rPr lang="en-US" sz="2000" dirty="0">
                <a:solidFill>
                  <a:srgbClr val="C00000"/>
                </a:solidFill>
              </a:rPr>
              <a:t>satisfies the rules implied </a:t>
            </a:r>
            <a:r>
              <a:rPr lang="en-US" sz="2000" dirty="0"/>
              <a:t>by a Context-Free Grammar (CFG) or not.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If it satisfies, the parser creates the parse tree of that program.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Otherwise the parser gives the error messages.</a:t>
            </a:r>
          </a:p>
          <a:p>
            <a:pPr lvl="1"/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/>
              <a:t>A CFG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gives a precise syntactic specification of a programming language.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the design of the grammar is an initial phase of the design of a compiler.</a:t>
            </a:r>
          </a:p>
          <a:p>
            <a:pPr marL="274320" lvl="1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r>
              <a:rPr lang="en-US" sz="2200" dirty="0"/>
              <a:t>A CFG G can be represented by four components, denoted G=(V,T, P,S)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V is the set of variables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 is the set of terminals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 is the set of production rules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 is the start symbol.</a:t>
            </a:r>
          </a:p>
          <a:p>
            <a:pPr lvl="1"/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Parser</a:t>
            </a:r>
          </a:p>
        </p:txBody>
      </p:sp>
      <p:sp>
        <p:nvSpPr>
          <p:cNvPr id="5146" name="Date Placeholder 15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4AEA92C-531E-4014-944C-9310A9420847}" type="datetime1">
              <a:rPr lang="en-US" smtClean="0"/>
              <a:t>10/8/2025</a:t>
            </a:fld>
            <a:endParaRPr lang="en-US"/>
          </a:p>
        </p:txBody>
      </p:sp>
      <p:sp>
        <p:nvSpPr>
          <p:cNvPr id="512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48B4A8-5ADE-4FB3-A567-38006051FDD5}" type="slidenum">
              <a:rPr lang="en-US" smtClean="0"/>
              <a:t>5</a:t>
            </a:fld>
            <a:endParaRPr lang="en-US"/>
          </a:p>
        </p:txBody>
      </p:sp>
      <p:grpSp>
        <p:nvGrpSpPr>
          <p:cNvPr id="2" name="Group 16"/>
          <p:cNvGrpSpPr/>
          <p:nvPr/>
        </p:nvGrpSpPr>
        <p:grpSpPr>
          <a:xfrm>
            <a:off x="609600" y="2133600"/>
            <a:ext cx="7772400" cy="2997200"/>
            <a:chOff x="685800" y="2667000"/>
            <a:chExt cx="7772400" cy="2997200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1676400" y="2743200"/>
              <a:ext cx="1346200" cy="939800"/>
              <a:chOff x="1360" y="1696"/>
              <a:chExt cx="976" cy="592"/>
            </a:xfrm>
          </p:grpSpPr>
          <p:sp>
            <p:nvSpPr>
              <p:cNvPr id="40" name="Rectangle 5"/>
              <p:cNvSpPr>
                <a:spLocks noChangeArrowheads="1"/>
              </p:cNvSpPr>
              <p:nvPr/>
            </p:nvSpPr>
            <p:spPr bwMode="auto">
              <a:xfrm>
                <a:off x="1360" y="1696"/>
                <a:ext cx="976" cy="592"/>
              </a:xfrm>
              <a:prstGeom prst="rect">
                <a:avLst/>
              </a:prstGeom>
              <a:noFill/>
              <a:ln w="508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Rectangle 6"/>
              <p:cNvSpPr>
                <a:spLocks noChangeArrowheads="1"/>
              </p:cNvSpPr>
              <p:nvPr/>
            </p:nvSpPr>
            <p:spPr bwMode="auto">
              <a:xfrm>
                <a:off x="1369" y="1703"/>
                <a:ext cx="943" cy="51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defTabSz="762000"/>
                <a:r>
                  <a:rPr lang="en-US" altLang="zh-TW">
                    <a:solidFill>
                      <a:srgbClr val="000000"/>
                    </a:solidFill>
                  </a:rPr>
                  <a:t>Lexical</a:t>
                </a:r>
              </a:p>
              <a:p>
                <a:pPr algn="ctr" defTabSz="762000"/>
                <a:r>
                  <a:rPr lang="en-US" altLang="zh-TW">
                    <a:solidFill>
                      <a:srgbClr val="000000"/>
                    </a:solidFill>
                  </a:rPr>
                  <a:t>Analyzer</a:t>
                </a:r>
                <a:endParaRPr lang="en-US" altLang="zh-TW" sz="28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4572000" y="2667000"/>
              <a:ext cx="990600" cy="939800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8"/>
            <p:cNvSpPr>
              <a:spLocks noChangeArrowheads="1"/>
            </p:cNvSpPr>
            <p:nvPr/>
          </p:nvSpPr>
          <p:spPr bwMode="auto">
            <a:xfrm>
              <a:off x="4572000" y="2895600"/>
              <a:ext cx="946150" cy="457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US" altLang="zh-TW">
                  <a:solidFill>
                    <a:srgbClr val="000000"/>
                  </a:solidFill>
                </a:rPr>
                <a:t>Parser</a:t>
              </a:r>
              <a:endParaRPr lang="en-US" altLang="zh-TW" sz="2800">
                <a:solidFill>
                  <a:srgbClr val="000000"/>
                </a:solidFill>
              </a:endParaRPr>
            </a:p>
          </p:txBody>
        </p:sp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4343400" y="4724400"/>
              <a:ext cx="1549400" cy="939800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10"/>
            <p:cNvSpPr>
              <a:spLocks noChangeArrowheads="1"/>
            </p:cNvSpPr>
            <p:nvPr/>
          </p:nvSpPr>
          <p:spPr bwMode="auto">
            <a:xfrm>
              <a:off x="4495800" y="4800600"/>
              <a:ext cx="1131888" cy="8223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 defTabSz="762000"/>
              <a:r>
                <a:rPr lang="en-US" altLang="zh-TW">
                  <a:solidFill>
                    <a:srgbClr val="000000"/>
                  </a:solidFill>
                </a:rPr>
                <a:t>Symbol</a:t>
              </a:r>
            </a:p>
            <a:p>
              <a:pPr algn="ctr" defTabSz="762000"/>
              <a:r>
                <a:rPr lang="en-US" altLang="zh-TW">
                  <a:solidFill>
                    <a:srgbClr val="000000"/>
                  </a:solidFill>
                </a:rPr>
                <a:t>Table</a:t>
              </a:r>
              <a:endParaRPr lang="en-US" altLang="zh-TW" sz="2800">
                <a:solidFill>
                  <a:srgbClr val="000000"/>
                </a:solidFill>
              </a:endParaRPr>
            </a:p>
          </p:txBody>
        </p:sp>
        <p:sp>
          <p:nvSpPr>
            <p:cNvPr id="23" name="Line 11"/>
            <p:cNvSpPr>
              <a:spLocks noChangeShapeType="1"/>
            </p:cNvSpPr>
            <p:nvPr/>
          </p:nvSpPr>
          <p:spPr bwMode="auto">
            <a:xfrm>
              <a:off x="3063875" y="3044825"/>
              <a:ext cx="1508125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12"/>
            <p:cNvSpPr>
              <a:spLocks noChangeShapeType="1"/>
            </p:cNvSpPr>
            <p:nvPr/>
          </p:nvSpPr>
          <p:spPr bwMode="auto">
            <a:xfrm>
              <a:off x="3063875" y="3425825"/>
              <a:ext cx="1508125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13"/>
            <p:cNvSpPr>
              <a:spLocks noChangeArrowheads="1"/>
            </p:cNvSpPr>
            <p:nvPr/>
          </p:nvSpPr>
          <p:spPr bwMode="auto">
            <a:xfrm>
              <a:off x="3352800" y="2667000"/>
              <a:ext cx="860425" cy="457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US" altLang="zh-TW">
                  <a:solidFill>
                    <a:srgbClr val="000000"/>
                  </a:solidFill>
                </a:rPr>
                <a:t>token</a:t>
              </a:r>
            </a:p>
          </p:txBody>
        </p:sp>
        <p:sp>
          <p:nvSpPr>
            <p:cNvPr id="26" name="Rectangle 14"/>
            <p:cNvSpPr>
              <a:spLocks noChangeArrowheads="1"/>
            </p:cNvSpPr>
            <p:nvPr/>
          </p:nvSpPr>
          <p:spPr bwMode="auto">
            <a:xfrm>
              <a:off x="3124200" y="3352800"/>
              <a:ext cx="1460500" cy="457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lang="en-US" altLang="zh-TW">
                  <a:solidFill>
                    <a:srgbClr val="000000"/>
                  </a:solidFill>
                </a:rPr>
                <a:t>next token</a:t>
              </a:r>
            </a:p>
          </p:txBody>
        </p:sp>
        <p:sp>
          <p:nvSpPr>
            <p:cNvPr id="27" name="Line 15"/>
            <p:cNvSpPr>
              <a:spLocks noChangeShapeType="1"/>
            </p:cNvSpPr>
            <p:nvPr/>
          </p:nvSpPr>
          <p:spPr bwMode="auto">
            <a:xfrm flipV="1">
              <a:off x="685800" y="3197225"/>
              <a:ext cx="1006475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16"/>
            <p:cNvSpPr>
              <a:spLocks noChangeShapeType="1"/>
            </p:cNvSpPr>
            <p:nvPr/>
          </p:nvSpPr>
          <p:spPr bwMode="auto">
            <a:xfrm>
              <a:off x="5562600" y="3200400"/>
              <a:ext cx="10668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Rectangle 17"/>
            <p:cNvSpPr>
              <a:spLocks noChangeArrowheads="1"/>
            </p:cNvSpPr>
            <p:nvPr/>
          </p:nvSpPr>
          <p:spPr bwMode="auto">
            <a:xfrm>
              <a:off x="685800" y="2743200"/>
              <a:ext cx="979488" cy="4572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 defTabSz="762000"/>
              <a:r>
                <a:rPr lang="en-US" altLang="zh-TW">
                  <a:solidFill>
                    <a:srgbClr val="000000"/>
                  </a:solidFill>
                </a:rPr>
                <a:t>source</a:t>
              </a:r>
            </a:p>
          </p:txBody>
        </p:sp>
        <p:sp>
          <p:nvSpPr>
            <p:cNvPr id="30" name="Line 18"/>
            <p:cNvSpPr>
              <a:spLocks noChangeShapeType="1"/>
            </p:cNvSpPr>
            <p:nvPr/>
          </p:nvSpPr>
          <p:spPr bwMode="auto">
            <a:xfrm>
              <a:off x="2286000" y="3733800"/>
              <a:ext cx="2514600" cy="9906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 flipH="1">
              <a:off x="5410200" y="3657600"/>
              <a:ext cx="1905000" cy="10668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20"/>
            <p:cNvGrpSpPr/>
            <p:nvPr/>
          </p:nvGrpSpPr>
          <p:grpSpPr bwMode="auto">
            <a:xfrm>
              <a:off x="6629400" y="2667000"/>
              <a:ext cx="1346200" cy="939800"/>
              <a:chOff x="1360" y="1696"/>
              <a:chExt cx="976" cy="592"/>
            </a:xfrm>
          </p:grpSpPr>
          <p:sp>
            <p:nvSpPr>
              <p:cNvPr id="38" name="Rectangle 21"/>
              <p:cNvSpPr>
                <a:spLocks noChangeArrowheads="1"/>
              </p:cNvSpPr>
              <p:nvPr/>
            </p:nvSpPr>
            <p:spPr bwMode="auto">
              <a:xfrm>
                <a:off x="1360" y="1696"/>
                <a:ext cx="976" cy="592"/>
              </a:xfrm>
              <a:prstGeom prst="rect">
                <a:avLst/>
              </a:prstGeom>
              <a:noFill/>
              <a:ln w="508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Rectangle 22"/>
              <p:cNvSpPr>
                <a:spLocks noChangeArrowheads="1"/>
              </p:cNvSpPr>
              <p:nvPr/>
            </p:nvSpPr>
            <p:spPr bwMode="auto">
              <a:xfrm>
                <a:off x="1364" y="1703"/>
                <a:ext cx="953" cy="51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defTabSz="762000"/>
                <a:r>
                  <a:rPr lang="en-US" altLang="zh-TW">
                    <a:solidFill>
                      <a:srgbClr val="000000"/>
                    </a:solidFill>
                  </a:rPr>
                  <a:t>Semantic</a:t>
                </a:r>
              </a:p>
              <a:p>
                <a:pPr algn="ctr" defTabSz="762000"/>
                <a:r>
                  <a:rPr lang="en-US" altLang="zh-TW">
                    <a:solidFill>
                      <a:srgbClr val="000000"/>
                    </a:solidFill>
                  </a:rPr>
                  <a:t>Analyzer</a:t>
                </a:r>
                <a:endParaRPr lang="en-US" altLang="zh-TW" sz="28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3" name="Text Box 23"/>
            <p:cNvSpPr txBox="1">
              <a:spLocks noChangeArrowheads="1"/>
            </p:cNvSpPr>
            <p:nvPr/>
          </p:nvSpPr>
          <p:spPr bwMode="auto">
            <a:xfrm>
              <a:off x="5562600" y="2743200"/>
              <a:ext cx="979488" cy="4572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altLang="zh-TW"/>
                <a:t>syntax</a:t>
              </a:r>
            </a:p>
          </p:txBody>
        </p:sp>
        <p:sp>
          <p:nvSpPr>
            <p:cNvPr id="34" name="Text Box 24"/>
            <p:cNvSpPr txBox="1">
              <a:spLocks noChangeArrowheads="1"/>
            </p:cNvSpPr>
            <p:nvPr/>
          </p:nvSpPr>
          <p:spPr bwMode="auto">
            <a:xfrm>
              <a:off x="5715000" y="3124200"/>
              <a:ext cx="639763" cy="4572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altLang="zh-TW"/>
                <a:t>tree</a:t>
              </a:r>
            </a:p>
          </p:txBody>
        </p:sp>
        <p:sp>
          <p:nvSpPr>
            <p:cNvPr id="35" name="Text Box 25"/>
            <p:cNvSpPr txBox="1">
              <a:spLocks noChangeArrowheads="1"/>
            </p:cNvSpPr>
            <p:nvPr/>
          </p:nvSpPr>
          <p:spPr bwMode="auto">
            <a:xfrm>
              <a:off x="762000" y="3124200"/>
              <a:ext cx="758825" cy="4572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altLang="zh-TW"/>
                <a:t>code</a:t>
              </a:r>
            </a:p>
          </p:txBody>
        </p:sp>
        <p:sp>
          <p:nvSpPr>
            <p:cNvPr id="36" name="Line 26"/>
            <p:cNvSpPr>
              <a:spLocks noChangeShapeType="1"/>
            </p:cNvSpPr>
            <p:nvPr/>
          </p:nvSpPr>
          <p:spPr bwMode="auto">
            <a:xfrm flipV="1">
              <a:off x="8001000" y="3200400"/>
              <a:ext cx="457200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27"/>
            <p:cNvSpPr>
              <a:spLocks noChangeShapeType="1"/>
            </p:cNvSpPr>
            <p:nvPr/>
          </p:nvSpPr>
          <p:spPr bwMode="auto">
            <a:xfrm>
              <a:off x="5105400" y="3581400"/>
              <a:ext cx="0" cy="11430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Parsers (cont.)</a:t>
            </a:r>
          </a:p>
        </p:txBody>
      </p:sp>
      <p:sp>
        <p:nvSpPr>
          <p:cNvPr id="6150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D4672A6-FD28-4D9B-A78B-19463DA8F994}" type="datetime1">
              <a:rPr lang="en-US" smtClean="0"/>
              <a:t>10/8/2025</a:t>
            </a:fld>
            <a:endParaRPr lang="en-US"/>
          </a:p>
        </p:txBody>
      </p:sp>
      <p:sp>
        <p:nvSpPr>
          <p:cNvPr id="614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Md Zahim Hassan, BAUST</a:t>
            </a:r>
          </a:p>
        </p:txBody>
      </p:sp>
      <p:sp>
        <p:nvSpPr>
          <p:cNvPr id="61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80A6916-9B18-4558-8373-AB720DFD8A67}" type="slidenum">
              <a:rPr lang="en-US" smtClean="0"/>
              <a:t>6</a:t>
            </a:fld>
            <a:endParaRPr lang="en-US"/>
          </a:p>
        </p:txBody>
      </p:sp>
      <p:sp>
        <p:nvSpPr>
          <p:cNvPr id="614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295400"/>
            <a:ext cx="8686800" cy="4953000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n-US" dirty="0"/>
              <a:t>Parsers can be categorized into two groups:</a:t>
            </a:r>
          </a:p>
          <a:p>
            <a:pPr marL="800100" lvl="1" indent="-342900"/>
            <a:endParaRPr lang="en-US" sz="18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r>
              <a:rPr lang="en-US" sz="1700" dirty="0"/>
              <a:t>Top-Down Parser</a:t>
            </a:r>
          </a:p>
          <a:p>
            <a:pPr marL="800100" lvl="1" indent="-342900"/>
            <a:r>
              <a:rPr lang="en-US" sz="1800" dirty="0">
                <a:solidFill>
                  <a:schemeClr val="tx1"/>
                </a:solidFill>
              </a:rPr>
              <a:t>the parse tree is created top to bottom, starting from the root.</a:t>
            </a:r>
          </a:p>
          <a:p>
            <a:pPr marL="274320" lvl="1" indent="0">
              <a:buNone/>
            </a:pPr>
            <a:r>
              <a:rPr lang="en-US" sz="1700" dirty="0"/>
              <a:t>Bottom-Up Parser</a:t>
            </a:r>
          </a:p>
          <a:p>
            <a:pPr marL="800100" lvl="1" indent="-342900"/>
            <a:r>
              <a:rPr lang="en-US" sz="1800" dirty="0">
                <a:solidFill>
                  <a:schemeClr val="tx1"/>
                </a:solidFill>
              </a:rPr>
              <a:t>the parse tree is created bottom to top; starting from the leaves</a:t>
            </a:r>
            <a:endParaRPr lang="en-US" dirty="0"/>
          </a:p>
          <a:p>
            <a:pPr marL="457200" indent="-457200"/>
            <a:r>
              <a:rPr lang="en-US" sz="2200" dirty="0"/>
              <a:t>Both top-down and bottom-up parsers scan the input from left to right (one symbol at a time). </a:t>
            </a:r>
          </a:p>
          <a:p>
            <a:pPr marL="457200" indent="-457200"/>
            <a:r>
              <a:rPr lang="en-US" sz="2200" dirty="0"/>
              <a:t>Efficient top-down and bottom-up parsers can be implemented only for sub-classes of context-free grammars.</a:t>
            </a:r>
          </a:p>
          <a:p>
            <a:pPr marL="800100" lvl="1" indent="-342900"/>
            <a:r>
              <a:rPr lang="en-US" sz="1800" dirty="0">
                <a:solidFill>
                  <a:schemeClr val="tx1"/>
                </a:solidFill>
              </a:rPr>
              <a:t>LL for top-down parsing ( </a:t>
            </a:r>
            <a:r>
              <a:rPr lang="en-US" sz="1800" b="1" dirty="0">
                <a:solidFill>
                  <a:srgbClr val="FF0000"/>
                </a:solidFill>
              </a:rPr>
              <a:t>L</a:t>
            </a:r>
            <a:r>
              <a:rPr lang="en-US" sz="1800" dirty="0">
                <a:solidFill>
                  <a:schemeClr val="tx1"/>
                </a:solidFill>
              </a:rPr>
              <a:t>eft to right scan, </a:t>
            </a:r>
            <a:r>
              <a:rPr lang="en-US" sz="1800" b="1" dirty="0">
                <a:solidFill>
                  <a:srgbClr val="FF0000"/>
                </a:solidFill>
              </a:rPr>
              <a:t>L</a:t>
            </a:r>
            <a:r>
              <a:rPr lang="en-US" sz="1800" dirty="0">
                <a:solidFill>
                  <a:schemeClr val="tx1"/>
                </a:solidFill>
              </a:rPr>
              <a:t>eft most derivation) </a:t>
            </a:r>
          </a:p>
          <a:p>
            <a:pPr marL="800100" lvl="1" indent="-342900"/>
            <a:r>
              <a:rPr lang="en-US" sz="1800" dirty="0">
                <a:solidFill>
                  <a:schemeClr val="tx1"/>
                </a:solidFill>
              </a:rPr>
              <a:t>LR for bottom-up parsing ( </a:t>
            </a:r>
            <a:r>
              <a:rPr lang="en-US" sz="1800" b="1" dirty="0">
                <a:solidFill>
                  <a:srgbClr val="FF0000"/>
                </a:solidFill>
              </a:rPr>
              <a:t>L</a:t>
            </a:r>
            <a:r>
              <a:rPr lang="en-US" sz="1800" dirty="0">
                <a:solidFill>
                  <a:schemeClr val="tx1"/>
                </a:solidFill>
              </a:rPr>
              <a:t>eft to right scan, </a:t>
            </a:r>
            <a:r>
              <a:rPr lang="en-US" sz="1800" b="1" dirty="0">
                <a:solidFill>
                  <a:srgbClr val="FF0000"/>
                </a:solidFill>
              </a:rPr>
              <a:t>R</a:t>
            </a:r>
            <a:r>
              <a:rPr lang="en-US" sz="1800" dirty="0">
                <a:solidFill>
                  <a:schemeClr val="tx1"/>
                </a:solidFill>
              </a:rPr>
              <a:t>ight most derivation)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Context-Free Grammars</a:t>
            </a:r>
          </a:p>
        </p:txBody>
      </p:sp>
      <p:sp>
        <p:nvSpPr>
          <p:cNvPr id="7174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30B0798-42DC-440D-A79C-4574E3A4AFFF}" type="datetime1">
              <a:rPr lang="en-US" smtClean="0"/>
              <a:t>10/8/2025</a:t>
            </a:fld>
            <a:endParaRPr lang="en-US"/>
          </a:p>
        </p:txBody>
      </p:sp>
      <p:sp>
        <p:nvSpPr>
          <p:cNvPr id="717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Md Zahim Hassan, BAUST</a:t>
            </a:r>
          </a:p>
        </p:txBody>
      </p:sp>
      <p:sp>
        <p:nvSpPr>
          <p:cNvPr id="71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1DF53BD-2E20-4298-BC60-932D10594270}" type="slidenum">
              <a:rPr lang="en-US" smtClean="0"/>
              <a:t>7</a:t>
            </a:fld>
            <a:endParaRPr lang="en-US"/>
          </a:p>
        </p:txBody>
      </p:sp>
      <p:sp>
        <p:nvSpPr>
          <p:cNvPr id="717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371600"/>
            <a:ext cx="87630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In a context-free grammar, we have: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</a:rPr>
              <a:t>A finite set of terminals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</a:rPr>
              <a:t>A finite set of non-terminals 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</a:rPr>
              <a:t>A finite set of production rules of the form</a:t>
            </a:r>
          </a:p>
          <a:p>
            <a:pPr lvl="2">
              <a:lnSpc>
                <a:spcPct val="90000"/>
              </a:lnSpc>
              <a:buNone/>
            </a:pPr>
            <a:r>
              <a:rPr lang="en-US" sz="1800" dirty="0"/>
              <a:t>	A </a:t>
            </a:r>
            <a:r>
              <a:rPr lang="en-US" sz="1800" dirty="0">
                <a:sym typeface="Symbol" panose="05050102010706020507" pitchFamily="18" charset="2"/>
              </a:rPr>
              <a:t> </a:t>
            </a:r>
            <a:r>
              <a:rPr lang="en-US" dirty="0">
                <a:sym typeface="Symbol" panose="05050102010706020507" pitchFamily="18" charset="2"/>
              </a:rPr>
              <a:t>	     </a:t>
            </a:r>
          </a:p>
          <a:p>
            <a:pPr lvl="2">
              <a:lnSpc>
                <a:spcPct val="90000"/>
              </a:lnSpc>
              <a:buNone/>
            </a:pPr>
            <a:r>
              <a:rPr lang="en-US" dirty="0">
                <a:sym typeface="Symbol" panose="05050102010706020507" pitchFamily="18" charset="2"/>
              </a:rPr>
              <a:t>   where A is a non-terminal and   is a string of terminals and non-terminals (including the empty string)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</a:rPr>
              <a:t>A start symbol (one of the non-terminal symbol)</a:t>
            </a:r>
          </a:p>
          <a:p>
            <a:pPr>
              <a:lnSpc>
                <a:spcPct val="90000"/>
              </a:lnSpc>
            </a:pPr>
            <a:endParaRPr lang="en-US" sz="1000" dirty="0"/>
          </a:p>
          <a:p>
            <a:pPr>
              <a:lnSpc>
                <a:spcPct val="90000"/>
              </a:lnSpc>
            </a:pPr>
            <a:r>
              <a:rPr lang="en-US" dirty="0"/>
              <a:t>Example: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E </a:t>
            </a:r>
            <a:r>
              <a:rPr 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  E + E   |   E – E   |   E * E   |  E / E   |   - 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E   ( E 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E  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62000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CFG: An Example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32A65C-30CF-4F7A-B62B-94AF22F86B24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D3B9B-F0A7-419A-A500-51AB8304C176}" type="slidenum">
              <a:rPr lang="en-US" altLang="zh-TW"/>
              <a:t>8</a:t>
            </a:fld>
            <a:endParaRPr lang="en-US" altLang="zh-TW"/>
          </a:p>
        </p:txBody>
      </p:sp>
      <p:sp>
        <p:nvSpPr>
          <p:cNvPr id="1024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676400"/>
            <a:ext cx="8229600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TW" dirty="0"/>
              <a:t>Terminals: id, ‘+’, ‘-’, ‘*’, ‘/’, ‘(’, ‘)’</a:t>
            </a:r>
          </a:p>
          <a:p>
            <a:pPr>
              <a:buNone/>
            </a:pPr>
            <a:r>
              <a:rPr lang="en-US" altLang="zh-TW" dirty="0"/>
              <a:t>Nonterminals: </a:t>
            </a:r>
            <a:r>
              <a:rPr lang="en-US" altLang="zh-TW" i="1" dirty="0" err="1"/>
              <a:t>expr</a:t>
            </a:r>
            <a:r>
              <a:rPr lang="en-US" altLang="zh-TW" dirty="0"/>
              <a:t>, </a:t>
            </a:r>
            <a:r>
              <a:rPr lang="en-US" altLang="zh-TW" i="1" dirty="0"/>
              <a:t>op</a:t>
            </a:r>
            <a:endParaRPr lang="en-US" altLang="zh-TW" dirty="0"/>
          </a:p>
          <a:p>
            <a:pPr>
              <a:buNone/>
            </a:pPr>
            <a:r>
              <a:rPr lang="en-US" altLang="zh-TW" dirty="0"/>
              <a:t>Productions:</a:t>
            </a:r>
            <a:br>
              <a:rPr lang="en-US" altLang="zh-TW" dirty="0"/>
            </a:br>
            <a:r>
              <a:rPr lang="en-US" altLang="zh-TW" dirty="0"/>
              <a:t>	</a:t>
            </a:r>
            <a:r>
              <a:rPr lang="en-US" altLang="zh-TW" i="1" dirty="0" err="1"/>
              <a:t>expr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 </a:t>
            </a:r>
            <a:r>
              <a:rPr lang="en-US" altLang="zh-TW" i="1" dirty="0" err="1">
                <a:sym typeface="Symbol" panose="05050102010706020507" pitchFamily="18" charset="2"/>
              </a:rPr>
              <a:t>expr</a:t>
            </a:r>
            <a:r>
              <a:rPr lang="en-US" altLang="zh-TW" dirty="0">
                <a:sym typeface="Symbol" panose="05050102010706020507" pitchFamily="18" charset="2"/>
              </a:rPr>
              <a:t> </a:t>
            </a:r>
            <a:r>
              <a:rPr lang="en-US" altLang="zh-TW" i="1" dirty="0">
                <a:sym typeface="Symbol" panose="05050102010706020507" pitchFamily="18" charset="2"/>
              </a:rPr>
              <a:t>op</a:t>
            </a:r>
            <a:r>
              <a:rPr lang="en-US" altLang="zh-TW" dirty="0">
                <a:sym typeface="Symbol" panose="05050102010706020507" pitchFamily="18" charset="2"/>
              </a:rPr>
              <a:t> </a:t>
            </a:r>
            <a:r>
              <a:rPr lang="en-US" altLang="zh-TW" i="1" dirty="0" err="1">
                <a:sym typeface="Symbol" panose="05050102010706020507" pitchFamily="18" charset="2"/>
              </a:rPr>
              <a:t>expr</a:t>
            </a:r>
            <a:r>
              <a:rPr lang="en-US" altLang="zh-TW" dirty="0">
                <a:sym typeface="Symbol" panose="05050102010706020507" pitchFamily="18" charset="2"/>
              </a:rPr>
              <a:t>              </a:t>
            </a:r>
            <a:br>
              <a:rPr lang="en-US" altLang="zh-TW" dirty="0">
                <a:sym typeface="Symbol" panose="05050102010706020507" pitchFamily="18" charset="2"/>
              </a:rPr>
            </a:br>
            <a:r>
              <a:rPr lang="en-US" altLang="zh-TW" dirty="0">
                <a:sym typeface="Symbol" panose="05050102010706020507" pitchFamily="18" charset="2"/>
              </a:rPr>
              <a:t> 	</a:t>
            </a:r>
            <a:r>
              <a:rPr lang="en-US" altLang="zh-TW" i="1" dirty="0" err="1"/>
              <a:t>expr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 ‘(’ </a:t>
            </a:r>
            <a:r>
              <a:rPr lang="en-US" altLang="zh-TW" i="1" dirty="0" err="1">
                <a:sym typeface="Symbol" panose="05050102010706020507" pitchFamily="18" charset="2"/>
              </a:rPr>
              <a:t>expr</a:t>
            </a:r>
            <a:r>
              <a:rPr lang="en-US" altLang="zh-TW" dirty="0">
                <a:sym typeface="Symbol" panose="05050102010706020507" pitchFamily="18" charset="2"/>
              </a:rPr>
              <a:t> ‘)’ </a:t>
            </a:r>
            <a:br>
              <a:rPr lang="en-US" altLang="zh-TW" i="1" dirty="0">
                <a:sym typeface="Symbol" panose="05050102010706020507" pitchFamily="18" charset="2"/>
              </a:rPr>
            </a:br>
            <a:r>
              <a:rPr lang="en-US" altLang="zh-TW" i="1" dirty="0">
                <a:sym typeface="Symbol" panose="05050102010706020507" pitchFamily="18" charset="2"/>
              </a:rPr>
              <a:t>	</a:t>
            </a:r>
            <a:r>
              <a:rPr lang="en-US" altLang="zh-TW" i="1" dirty="0" err="1"/>
              <a:t>expr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 ‘-’ </a:t>
            </a:r>
            <a:r>
              <a:rPr lang="en-US" altLang="zh-TW" i="1" dirty="0" err="1">
                <a:sym typeface="Symbol" panose="05050102010706020507" pitchFamily="18" charset="2"/>
              </a:rPr>
              <a:t>expr</a:t>
            </a:r>
            <a:r>
              <a:rPr lang="en-US" altLang="zh-TW" i="1" dirty="0">
                <a:sym typeface="Symbol" panose="05050102010706020507" pitchFamily="18" charset="2"/>
              </a:rPr>
              <a:t>    </a:t>
            </a:r>
            <a:br>
              <a:rPr lang="en-US" altLang="zh-TW" i="1" dirty="0">
                <a:sym typeface="Symbol" panose="05050102010706020507" pitchFamily="18" charset="2"/>
              </a:rPr>
            </a:br>
            <a:r>
              <a:rPr lang="en-US" altLang="zh-TW" i="1" dirty="0">
                <a:sym typeface="Symbol" panose="05050102010706020507" pitchFamily="18" charset="2"/>
              </a:rPr>
              <a:t> 	</a:t>
            </a:r>
            <a:r>
              <a:rPr lang="en-US" altLang="zh-TW" i="1" dirty="0" err="1"/>
              <a:t>expr</a:t>
            </a:r>
            <a:r>
              <a:rPr lang="en-US" altLang="zh-TW" dirty="0"/>
              <a:t> </a:t>
            </a:r>
            <a:r>
              <a:rPr lang="en-US" altLang="zh-TW" dirty="0">
                <a:sym typeface="Symbol" panose="05050102010706020507" pitchFamily="18" charset="2"/>
              </a:rPr>
              <a:t> id</a:t>
            </a:r>
            <a:br>
              <a:rPr lang="en-US" altLang="zh-TW" dirty="0">
                <a:sym typeface="Symbol" panose="05050102010706020507" pitchFamily="18" charset="2"/>
              </a:rPr>
            </a:br>
            <a:r>
              <a:rPr lang="en-US" altLang="zh-TW" dirty="0">
                <a:sym typeface="Symbol" panose="05050102010706020507" pitchFamily="18" charset="2"/>
              </a:rPr>
              <a:t>	</a:t>
            </a:r>
            <a:r>
              <a:rPr lang="en-US" altLang="zh-TW" i="1" dirty="0">
                <a:sym typeface="Symbol" panose="05050102010706020507" pitchFamily="18" charset="2"/>
              </a:rPr>
              <a:t>op</a:t>
            </a:r>
            <a:r>
              <a:rPr lang="en-US" altLang="zh-TW" dirty="0">
                <a:sym typeface="Symbol" panose="05050102010706020507" pitchFamily="18" charset="2"/>
              </a:rPr>
              <a:t>  ‘+’ | ‘-’ | ‘*’ | ‘/’ </a:t>
            </a:r>
            <a:endParaRPr lang="en-US" altLang="zh-TW" dirty="0"/>
          </a:p>
          <a:p>
            <a:pPr>
              <a:buNone/>
            </a:pPr>
            <a:r>
              <a:rPr lang="en-US" altLang="zh-TW" dirty="0"/>
              <a:t>The start symbol: </a:t>
            </a:r>
            <a:r>
              <a:rPr lang="en-US" altLang="zh-TW" i="1" dirty="0" err="1"/>
              <a:t>expr</a:t>
            </a:r>
            <a:endParaRPr lang="en-US" altLang="zh-TW" i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Notational Conventions in CFG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E7B0DF-29A3-4798-BE57-CF21F63B8A33}" type="datetime1">
              <a:rPr lang="en-US" smtClean="0"/>
              <a:t>10/8/2025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45807-78BA-43F5-A45C-DB536B712064}" type="slidenum">
              <a:rPr lang="en-US" altLang="zh-TW"/>
              <a:t>9</a:t>
            </a:fld>
            <a:endParaRPr lang="en-US" altLang="zh-TW"/>
          </a:p>
        </p:txBody>
      </p:sp>
      <p:sp>
        <p:nvSpPr>
          <p:cNvPr id="2140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13588" y="1828800"/>
            <a:ext cx="8153400" cy="4114800"/>
          </a:xfrm>
        </p:spPr>
        <p:txBody>
          <a:bodyPr/>
          <a:lstStyle/>
          <a:p>
            <a:r>
              <a:rPr lang="en-US" altLang="zh-TW" b="1" dirty="0">
                <a:latin typeface="Courier New" panose="02070309020205020404" pitchFamily="49" charset="0"/>
              </a:rPr>
              <a:t>a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b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c</a:t>
            </a:r>
            <a:r>
              <a:rPr lang="en-US" altLang="zh-TW" dirty="0"/>
              <a:t>, … [+-0-9], id: </a:t>
            </a:r>
            <a:r>
              <a:rPr lang="en-US" altLang="zh-TW" dirty="0">
                <a:solidFill>
                  <a:srgbClr val="0000FF"/>
                </a:solidFill>
              </a:rPr>
              <a:t>symbols</a:t>
            </a:r>
            <a:r>
              <a:rPr lang="en-US" altLang="zh-TW" dirty="0"/>
              <a:t>  are terminals</a:t>
            </a:r>
          </a:p>
          <a:p>
            <a:r>
              <a:rPr lang="en-US" altLang="zh-TW" b="1" dirty="0">
                <a:latin typeface="Courier New" panose="02070309020205020404" pitchFamily="49" charset="0"/>
              </a:rPr>
              <a:t>A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B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C</a:t>
            </a:r>
            <a:r>
              <a:rPr lang="en-US" altLang="zh-TW" dirty="0"/>
              <a:t>,…,S, </a:t>
            </a:r>
            <a:r>
              <a:rPr lang="en-US" altLang="zh-TW" i="1" dirty="0" err="1"/>
              <a:t>expr,stmt</a:t>
            </a:r>
            <a:r>
              <a:rPr lang="en-US" altLang="zh-TW" i="1" dirty="0"/>
              <a:t>: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00FF"/>
                </a:solidFill>
              </a:rPr>
              <a:t>symbols</a:t>
            </a:r>
            <a:r>
              <a:rPr lang="en-US" altLang="zh-TW" dirty="0"/>
              <a:t>  are non terminals</a:t>
            </a:r>
          </a:p>
          <a:p>
            <a:r>
              <a:rPr lang="en-US" altLang="zh-TW" b="1" dirty="0">
                <a:latin typeface="Courier New" panose="02070309020205020404" pitchFamily="49" charset="0"/>
              </a:rPr>
              <a:t>U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V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W</a:t>
            </a:r>
            <a:r>
              <a:rPr lang="en-US" altLang="zh-TW" dirty="0"/>
              <a:t>,…,X,Y,Z: grammar </a:t>
            </a:r>
            <a:r>
              <a:rPr lang="en-US" altLang="zh-TW" dirty="0">
                <a:solidFill>
                  <a:srgbClr val="0000FF"/>
                </a:solidFill>
              </a:rPr>
              <a:t>symbols</a:t>
            </a:r>
            <a:r>
              <a:rPr lang="en-US" altLang="zh-TW" dirty="0"/>
              <a:t> </a:t>
            </a:r>
          </a:p>
          <a:p>
            <a:r>
              <a:rPr lang="en-US" altLang="zh-TW" b="1" dirty="0"/>
              <a:t> </a:t>
            </a:r>
            <a:r>
              <a:rPr lang="en-US" altLang="zh-TW" b="1" dirty="0">
                <a:latin typeface="Symbol" panose="05050102010706020507" pitchFamily="18" charset="2"/>
              </a:rPr>
              <a:t>a</a:t>
            </a:r>
            <a:r>
              <a:rPr lang="en-US" altLang="zh-TW" dirty="0">
                <a:latin typeface="Symbol" panose="05050102010706020507" pitchFamily="18" charset="2"/>
              </a:rPr>
              <a:t>, </a:t>
            </a:r>
            <a:r>
              <a:rPr lang="en-US" altLang="zh-TW" b="1" dirty="0">
                <a:latin typeface="Symbol" panose="05050102010706020507" pitchFamily="18" charset="2"/>
              </a:rPr>
              <a:t>b</a:t>
            </a:r>
            <a:r>
              <a:rPr lang="en-US" altLang="zh-TW" dirty="0">
                <a:latin typeface="Symbol" panose="05050102010706020507" pitchFamily="18" charset="2"/>
              </a:rPr>
              <a:t>, </a:t>
            </a:r>
            <a:r>
              <a:rPr lang="en-US" altLang="zh-TW" b="1" dirty="0">
                <a:latin typeface="Symbol" panose="05050102010706020507" pitchFamily="18" charset="2"/>
              </a:rPr>
              <a:t>g</a:t>
            </a:r>
            <a:r>
              <a:rPr lang="en-US" altLang="zh-TW" dirty="0">
                <a:latin typeface="Symbol" panose="05050102010706020507" pitchFamily="18" charset="2"/>
              </a:rPr>
              <a:t>,</a:t>
            </a:r>
            <a:r>
              <a:rPr lang="en-US" altLang="zh-TW" dirty="0"/>
              <a:t>…denotes </a:t>
            </a:r>
            <a:r>
              <a:rPr lang="en-US" altLang="zh-TW" dirty="0">
                <a:solidFill>
                  <a:srgbClr val="FF3399"/>
                </a:solidFill>
              </a:rPr>
              <a:t>strings</a:t>
            </a:r>
            <a:r>
              <a:rPr lang="en-US" altLang="zh-TW" dirty="0"/>
              <a:t> of grammar </a:t>
            </a:r>
            <a:r>
              <a:rPr lang="en-US" altLang="zh-TW" dirty="0">
                <a:solidFill>
                  <a:srgbClr val="0000FF"/>
                </a:solidFill>
              </a:rPr>
              <a:t>symbols</a:t>
            </a:r>
            <a:r>
              <a:rPr lang="en-US" altLang="zh-TW" dirty="0"/>
              <a:t> </a:t>
            </a:r>
          </a:p>
          <a:p>
            <a:r>
              <a:rPr lang="en-US" altLang="zh-TW" b="1" dirty="0">
                <a:latin typeface="Courier New" panose="02070309020205020404" pitchFamily="49" charset="0"/>
              </a:rPr>
              <a:t>u</a:t>
            </a:r>
            <a:r>
              <a:rPr lang="en-US" altLang="zh-TW" dirty="0"/>
              <a:t>, </a:t>
            </a:r>
            <a:r>
              <a:rPr lang="en-US" altLang="zh-TW" b="1" dirty="0">
                <a:latin typeface="Courier New" panose="02070309020205020404" pitchFamily="49" charset="0"/>
              </a:rPr>
              <a:t>v</a:t>
            </a:r>
            <a:r>
              <a:rPr lang="en-US" altLang="zh-TW" dirty="0"/>
              <a:t>, </a:t>
            </a:r>
            <a:r>
              <a:rPr lang="en-US" altLang="zh-TW" b="1" dirty="0"/>
              <a:t>w</a:t>
            </a:r>
            <a:r>
              <a:rPr lang="en-US" altLang="zh-TW" dirty="0"/>
              <a:t>,…	denotes </a:t>
            </a:r>
            <a:r>
              <a:rPr lang="en-US" altLang="zh-TW" dirty="0">
                <a:solidFill>
                  <a:srgbClr val="FF3399"/>
                </a:solidFill>
              </a:rPr>
              <a:t>strings</a:t>
            </a:r>
            <a:r>
              <a:rPr lang="en-US" altLang="zh-TW" dirty="0"/>
              <a:t> of terminals</a:t>
            </a:r>
          </a:p>
          <a:p>
            <a:pPr>
              <a:buNone/>
            </a:pPr>
            <a:endParaRPr lang="en-US" altLang="zh-TW" dirty="0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68580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Context-Free Grammars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04550A-3496-4174-B3BF-88D29833B255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Md Zahim Hassan, BAUST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792C-5211-411E-B9B7-741023C56D6C}" type="slidenum">
              <a:rPr lang="en-US" altLang="zh-TW"/>
              <a:t>10</a:t>
            </a:fld>
            <a:endParaRPr lang="en-US" altLang="zh-TW"/>
          </a:p>
        </p:txBody>
      </p:sp>
      <p:sp>
        <p:nvSpPr>
          <p:cNvPr id="430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676400"/>
            <a:ext cx="8534400" cy="4572000"/>
          </a:xfrm>
        </p:spPr>
        <p:txBody>
          <a:bodyPr/>
          <a:lstStyle/>
          <a:p>
            <a:pPr>
              <a:buNone/>
            </a:pPr>
            <a:r>
              <a:rPr lang="en-US" altLang="zh-TW" dirty="0"/>
              <a:t>A set of </a:t>
            </a:r>
            <a:r>
              <a:rPr lang="en-US" altLang="zh-TW" b="1" i="1" dirty="0"/>
              <a:t>terminals</a:t>
            </a:r>
            <a:r>
              <a:rPr lang="en-US" altLang="zh-TW" dirty="0"/>
              <a:t>: basic symbols from which sentences are formed</a:t>
            </a:r>
          </a:p>
          <a:p>
            <a:pPr>
              <a:buNone/>
            </a:pPr>
            <a:r>
              <a:rPr lang="en-US" altLang="zh-TW" dirty="0"/>
              <a:t>A set of </a:t>
            </a:r>
            <a:r>
              <a:rPr lang="en-US" altLang="zh-TW" b="1" i="1" dirty="0"/>
              <a:t>nonterminals</a:t>
            </a:r>
            <a:r>
              <a:rPr lang="en-US" altLang="zh-TW" dirty="0"/>
              <a:t>: syntactic variables denoting set of strings </a:t>
            </a:r>
          </a:p>
          <a:p>
            <a:pPr>
              <a:buNone/>
            </a:pPr>
            <a:r>
              <a:rPr lang="en-US" altLang="zh-TW" dirty="0"/>
              <a:t>A set of </a:t>
            </a:r>
            <a:r>
              <a:rPr lang="en-US" altLang="zh-TW" b="1" i="1" dirty="0"/>
              <a:t>productions</a:t>
            </a:r>
            <a:r>
              <a:rPr lang="en-US" altLang="zh-TW" dirty="0"/>
              <a:t>: rules specifying how the terminals and nonterminals can be combined to form sentences</a:t>
            </a:r>
          </a:p>
          <a:p>
            <a:pPr>
              <a:buNone/>
            </a:pPr>
            <a:r>
              <a:rPr lang="en-US" altLang="zh-TW" dirty="0"/>
              <a:t>The </a:t>
            </a:r>
            <a:r>
              <a:rPr lang="en-US" altLang="zh-TW" b="1" i="1" dirty="0"/>
              <a:t>start symbol</a:t>
            </a:r>
            <a:r>
              <a:rPr lang="en-US" altLang="zh-TW" dirty="0"/>
              <a:t>: a distinguished nonterminal denoting the language</a:t>
            </a:r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92</TotalTime>
  <Words>684</Words>
  <Application>Microsoft Office PowerPoint</Application>
  <PresentationFormat>On-screen Show (4:3)</PresentationFormat>
  <Paragraphs>122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Courier New</vt:lpstr>
      <vt:lpstr>Georgia</vt:lpstr>
      <vt:lpstr>Symbol</vt:lpstr>
      <vt:lpstr>Wingdings</vt:lpstr>
      <vt:lpstr>Wingdings 2</vt:lpstr>
      <vt:lpstr>Civic</vt:lpstr>
      <vt:lpstr>Syntax Analysis</vt:lpstr>
      <vt:lpstr>Phases of a Compiler</vt:lpstr>
      <vt:lpstr>Syntax Analyzer</vt:lpstr>
      <vt:lpstr>Syntax Analyzer</vt:lpstr>
      <vt:lpstr>Parser</vt:lpstr>
      <vt:lpstr>Parsers (cont.)</vt:lpstr>
      <vt:lpstr>Context-Free Grammars</vt:lpstr>
      <vt:lpstr>CFG: An Example</vt:lpstr>
      <vt:lpstr>Notational Conventions in CFG</vt:lpstr>
      <vt:lpstr>Context-Free Grammars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Syntax Analysis</dc:title>
  <dc:creator>K.M.Azharul Hasan</dc:creator>
  <cp:lastModifiedBy>Md Manirujjaman</cp:lastModifiedBy>
  <cp:revision>47</cp:revision>
  <dcterms:created xsi:type="dcterms:W3CDTF">2014-01-13T03:44:00Z</dcterms:created>
  <dcterms:modified xsi:type="dcterms:W3CDTF">2025-10-08T08:44:20Z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7C3197E1DBC44EEDBED7F137840BBDF8_12</vt:lpwstr>
  </property>
  <property fmtid="{D5CDD505-2E9C-101B-9397-08002B2CF9AE}" pid="3" name="KSOProductBuildVer">
    <vt:lpwstr>1033-12.2.0.17562</vt:lpwstr>
  </property>
</Properties>
</file>