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9" r:id="rId9"/>
    <p:sldId id="276" r:id="rId10"/>
    <p:sldId id="277" r:id="rId11"/>
    <p:sldId id="27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F761C-D59A-4DBA-B359-4583657C573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F2AAF-B118-4C61-ADE6-2F12701FF42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F2AAF-B118-4C61-ADE6-2F12701FF42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/>
              <a:t>Md Zahim Hassan, BAUST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/>
              <a:t>Md Zahim Hassan, BAUST</a:t>
            </a:r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Md Zahim Hassan, BAUST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 smtClean="0">
                <a:latin typeface="Arial" panose="020B0604020202020204" pitchFamily="34" charset="0"/>
              </a:rPr>
              <a:t>10/8/2025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Md Zahim Hassan, BAUST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 smtClean="0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CFG - Terminology</a:t>
            </a:r>
          </a:p>
        </p:txBody>
      </p:sp>
      <p:sp>
        <p:nvSpPr>
          <p:cNvPr id="9224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AB1C0C-1B02-4B3A-8088-0203EC6F63B7}" type="datetime1">
              <a:rPr lang="en-US" smtClean="0"/>
              <a:t>10/8/2025</a:t>
            </a:fld>
            <a:endParaRPr lang="en-US"/>
          </a:p>
        </p:txBody>
      </p:sp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1C35F69-CBB1-475D-B894-FC07FE6548A1}" type="slidenum">
              <a:rPr lang="en-US" smtClean="0"/>
              <a:t>2</a:t>
            </a:fld>
            <a:endParaRPr lang="en-US"/>
          </a:p>
        </p:txBody>
      </p:sp>
      <p:sp>
        <p:nvSpPr>
          <p:cNvPr id="9221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600" dirty="0"/>
              <a:t>L(G) is </a:t>
            </a:r>
            <a:r>
              <a:rPr lang="en-US" sz="2600" i="1" dirty="0"/>
              <a:t>the language of G</a:t>
            </a:r>
            <a:r>
              <a:rPr lang="en-US" sz="2600" dirty="0"/>
              <a:t> (the language generated by G) which is a set of sentences.</a:t>
            </a:r>
          </a:p>
          <a:p>
            <a:r>
              <a:rPr lang="en-US" sz="2600" i="1" dirty="0"/>
              <a:t>A sentence of L(G)</a:t>
            </a:r>
            <a:r>
              <a:rPr lang="en-US" sz="2600" dirty="0"/>
              <a:t>  is a string of terminal symbols of G.</a:t>
            </a:r>
          </a:p>
          <a:p>
            <a:r>
              <a:rPr lang="en-US" sz="2600" dirty="0"/>
              <a:t>If  S is the start symbol of G then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 is  a sentence of L(G) </a:t>
            </a:r>
            <a:r>
              <a:rPr 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iff</a:t>
            </a:r>
            <a:r>
              <a:rPr 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 S      where  is a string of terminals of G.</a:t>
            </a:r>
          </a:p>
          <a:p>
            <a:pPr lvl="1">
              <a:buFontTx/>
              <a:buChar char="•"/>
            </a:pPr>
            <a:endParaRPr lang="en-US" sz="1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sz="2600" dirty="0"/>
              <a:t>If G is a context-free grammar, L(G) is a </a:t>
            </a:r>
            <a:r>
              <a:rPr lang="en-US" sz="2600" i="1" dirty="0"/>
              <a:t>context-free language</a:t>
            </a:r>
            <a:r>
              <a:rPr lang="en-US" sz="2600" dirty="0"/>
              <a:t>.</a:t>
            </a:r>
          </a:p>
          <a:p>
            <a:r>
              <a:rPr lang="en-US" sz="2600" dirty="0"/>
              <a:t>Two grammars are </a:t>
            </a:r>
            <a:r>
              <a:rPr lang="en-US" sz="2600" i="1" dirty="0"/>
              <a:t>equivalent</a:t>
            </a:r>
            <a:r>
              <a:rPr lang="en-US" sz="2600" dirty="0"/>
              <a:t> if they produce the same language.</a:t>
            </a:r>
          </a:p>
          <a:p>
            <a:endParaRPr lang="en-US" dirty="0"/>
          </a:p>
          <a:p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sz="2800" dirty="0">
                <a:sym typeface="Symbol" panose="05050102010706020507" pitchFamily="18" charset="2"/>
              </a:rPr>
              <a:t>	</a:t>
            </a:r>
          </a:p>
          <a:p>
            <a:pPr lvl="1"/>
            <a:r>
              <a:rPr lang="en-US" sz="1400" dirty="0">
                <a:sym typeface="Symbol" panose="05050102010706020507" pitchFamily="18" charset="2"/>
              </a:rPr>
              <a:t> </a:t>
            </a:r>
            <a:r>
              <a:rPr lang="en-US" sz="1900" dirty="0">
                <a:sym typeface="Symbol" panose="05050102010706020507" pitchFamily="18" charset="2"/>
              </a:rPr>
              <a:t>If  contains non-terminals, it is called a </a:t>
            </a:r>
            <a:r>
              <a:rPr lang="en-US" sz="1900" i="1" dirty="0">
                <a:sym typeface="Symbol" panose="05050102010706020507" pitchFamily="18" charset="2"/>
              </a:rPr>
              <a:t>sentential</a:t>
            </a:r>
            <a:r>
              <a:rPr lang="en-US" sz="1900" dirty="0">
                <a:sym typeface="Symbol" panose="05050102010706020507" pitchFamily="18" charset="2"/>
              </a:rPr>
              <a:t> form of G.</a:t>
            </a:r>
            <a:endParaRPr lang="en-US" sz="1400" dirty="0">
              <a:sym typeface="Symbol" panose="05050102010706020507" pitchFamily="18" charset="2"/>
            </a:endParaRPr>
          </a:p>
          <a:p>
            <a:pPr lvl="1"/>
            <a:r>
              <a:rPr lang="en-US" sz="1900" dirty="0">
                <a:sym typeface="Symbol" panose="05050102010706020507" pitchFamily="18" charset="2"/>
              </a:rPr>
              <a:t> If  does not contain non-terminals, it is called a </a:t>
            </a:r>
            <a:r>
              <a:rPr lang="en-US" sz="1900" i="1" dirty="0">
                <a:sym typeface="Symbol" panose="05050102010706020507" pitchFamily="18" charset="2"/>
              </a:rPr>
              <a:t>sentence</a:t>
            </a:r>
            <a:r>
              <a:rPr lang="en-US" sz="1900" dirty="0">
                <a:sym typeface="Symbol" panose="05050102010706020507" pitchFamily="18" charset="2"/>
              </a:rPr>
              <a:t> of G. </a:t>
            </a:r>
          </a:p>
        </p:txBody>
      </p:sp>
      <p:sp>
        <p:nvSpPr>
          <p:cNvPr id="9222" name="Text Box 1028"/>
          <p:cNvSpPr txBox="1">
            <a:spLocks noChangeArrowheads="1"/>
          </p:cNvSpPr>
          <p:nvPr/>
        </p:nvSpPr>
        <p:spPr bwMode="auto">
          <a:xfrm>
            <a:off x="3829050" y="2892425"/>
            <a:ext cx="285750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+</a:t>
            </a:r>
          </a:p>
        </p:txBody>
      </p:sp>
      <p:sp>
        <p:nvSpPr>
          <p:cNvPr id="9223" name="Text Box 1029"/>
          <p:cNvSpPr txBox="1">
            <a:spLocks noChangeArrowheads="1"/>
          </p:cNvSpPr>
          <p:nvPr/>
        </p:nvSpPr>
        <p:spPr bwMode="auto">
          <a:xfrm>
            <a:off x="855662" y="4614862"/>
            <a:ext cx="287338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Times New Roman" panose="02020603050405020304" charset="0"/>
              </a:rPr>
              <a:t>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Derivation Example</a:t>
            </a:r>
          </a:p>
        </p:txBody>
      </p:sp>
      <p:sp>
        <p:nvSpPr>
          <p:cNvPr id="10246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BCB3988-599C-4796-AF12-B5F9BEE9BD19}" type="datetime1">
              <a:rPr lang="en-US" smtClean="0"/>
              <a:t>10/8/2025</a:t>
            </a:fld>
            <a:endParaRPr lang="en-US"/>
          </a:p>
        </p:txBody>
      </p:sp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88BB934-7E9F-47A1-A89C-350299524182}" type="slidenum">
              <a:rPr lang="en-US" smtClean="0"/>
              <a:t>3</a:t>
            </a:fld>
            <a:endParaRPr lang="en-US"/>
          </a:p>
        </p:txBody>
      </p:sp>
      <p:sp>
        <p:nvSpPr>
          <p:cNvPr id="1024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527048"/>
            <a:ext cx="8839200" cy="45720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000" dirty="0"/>
              <a:t>       E</a:t>
            </a:r>
            <a:r>
              <a:rPr lang="en-US" dirty="0"/>
              <a:t> </a:t>
            </a:r>
            <a:r>
              <a:rPr lang="en-US" sz="2000" dirty="0">
                <a:sym typeface="Symbol" panose="05050102010706020507" pitchFamily="18" charset="2"/>
              </a:rPr>
              <a:t> -E  -(E)  -(E+E)  -(</a:t>
            </a:r>
            <a:r>
              <a:rPr lang="en-US" sz="2000" dirty="0" err="1">
                <a:sym typeface="Symbol" panose="05050102010706020507" pitchFamily="18" charset="2"/>
              </a:rPr>
              <a:t>id+E</a:t>
            </a:r>
            <a:r>
              <a:rPr lang="en-US" sz="2000" dirty="0">
                <a:sym typeface="Symbol" panose="05050102010706020507" pitchFamily="18" charset="2"/>
              </a:rPr>
              <a:t>)  -(</a:t>
            </a:r>
            <a:r>
              <a:rPr lang="en-US" sz="2000" dirty="0" err="1">
                <a:sym typeface="Symbol" panose="05050102010706020507" pitchFamily="18" charset="2"/>
              </a:rPr>
              <a:t>id+id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			                 OR</a:t>
            </a:r>
          </a:p>
          <a:p>
            <a:pPr>
              <a:buFontTx/>
              <a:buNone/>
            </a:pPr>
            <a:r>
              <a:rPr lang="en-US" sz="2000" dirty="0"/>
              <a:t>       E</a:t>
            </a:r>
            <a:r>
              <a:rPr lang="en-US" dirty="0"/>
              <a:t> </a:t>
            </a:r>
            <a:r>
              <a:rPr lang="en-US" sz="2000" dirty="0">
                <a:sym typeface="Symbol" panose="05050102010706020507" pitchFamily="18" charset="2"/>
              </a:rPr>
              <a:t> -E  -(E)  -(E+E)  -(</a:t>
            </a:r>
            <a:r>
              <a:rPr lang="en-US" sz="2000" dirty="0" err="1">
                <a:sym typeface="Symbol" panose="05050102010706020507" pitchFamily="18" charset="2"/>
              </a:rPr>
              <a:t>E+id</a:t>
            </a:r>
            <a:r>
              <a:rPr lang="en-US" sz="2000" dirty="0">
                <a:sym typeface="Symbol" panose="05050102010706020507" pitchFamily="18" charset="2"/>
              </a:rPr>
              <a:t>)  -(</a:t>
            </a:r>
            <a:r>
              <a:rPr lang="en-US" sz="2000" dirty="0" err="1">
                <a:sym typeface="Symbol" panose="05050102010706020507" pitchFamily="18" charset="2"/>
              </a:rPr>
              <a:t>id+id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At each derivation step, we can choose any of the non-terminal in the sentential form of G for the replacement.</a:t>
            </a:r>
          </a:p>
          <a:p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If we always choose the </a:t>
            </a:r>
            <a:r>
              <a:rPr lang="en-US" sz="2000" dirty="0">
                <a:solidFill>
                  <a:srgbClr val="C00000"/>
                </a:solidFill>
                <a:sym typeface="Symbol" panose="05050102010706020507" pitchFamily="18" charset="2"/>
              </a:rPr>
              <a:t>left-most non-terminal </a:t>
            </a:r>
            <a:r>
              <a:rPr lang="en-US" sz="2000" dirty="0">
                <a:sym typeface="Symbol" panose="05050102010706020507" pitchFamily="18" charset="2"/>
              </a:rPr>
              <a:t>in each derivation step, this derivation is called as </a:t>
            </a:r>
            <a:r>
              <a:rPr lang="en-US" sz="2000" b="1" dirty="0">
                <a:sym typeface="Symbol" panose="05050102010706020507" pitchFamily="18" charset="2"/>
              </a:rPr>
              <a:t>left-most derivation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</a:p>
          <a:p>
            <a:endParaRPr lang="en-US" sz="2000" dirty="0">
              <a:sym typeface="Symbol" panose="05050102010706020507" pitchFamily="18" charset="2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If we always choose the </a:t>
            </a:r>
            <a:r>
              <a:rPr lang="en-US" sz="2000" dirty="0">
                <a:solidFill>
                  <a:srgbClr val="C00000"/>
                </a:solidFill>
                <a:sym typeface="Symbol" panose="05050102010706020507" pitchFamily="18" charset="2"/>
              </a:rPr>
              <a:t>right-most non-terminal </a:t>
            </a:r>
            <a:r>
              <a:rPr lang="en-US" sz="2000" dirty="0">
                <a:sym typeface="Symbol" panose="05050102010706020507" pitchFamily="18" charset="2"/>
              </a:rPr>
              <a:t>in each derivation step, this derivation is called as </a:t>
            </a:r>
            <a:r>
              <a:rPr lang="en-US" sz="2000" b="1" dirty="0">
                <a:sym typeface="Symbol" panose="05050102010706020507" pitchFamily="18" charset="2"/>
              </a:rPr>
              <a:t>right-most derivation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Left-Most and Right-Most Derivations</a:t>
            </a:r>
          </a:p>
        </p:txBody>
      </p:sp>
      <p:sp>
        <p:nvSpPr>
          <p:cNvPr id="11280" name="Date Placeholder 1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7C86D7E-4CBA-4281-8E06-E86DE12227A6}" type="datetime1">
              <a:rPr lang="en-US" smtClean="0"/>
              <a:t>10/8/2025</a:t>
            </a:fld>
            <a:endParaRPr lang="en-US"/>
          </a:p>
        </p:txBody>
      </p:sp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67A87F0-26CC-40BA-A97C-D45C6A467803}" type="slidenum">
              <a:rPr lang="en-US" smtClean="0"/>
              <a:t>4</a:t>
            </a:fld>
            <a:endParaRPr lang="en-US"/>
          </a:p>
        </p:txBody>
      </p:sp>
      <p:sp>
        <p:nvSpPr>
          <p:cNvPr id="11269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dirty="0"/>
              <a:t>Left-Most Derivation</a:t>
            </a:r>
          </a:p>
          <a:p>
            <a:pPr>
              <a:buFontTx/>
              <a:buNone/>
            </a:pPr>
            <a:endParaRPr lang="en-US" sz="800" dirty="0"/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 -E  -(E)  -(E+E)  -(</a:t>
            </a:r>
            <a:r>
              <a:rPr lang="en-US" dirty="0" err="1">
                <a:sym typeface="Symbol" panose="05050102010706020507" pitchFamily="18" charset="2"/>
              </a:rPr>
              <a:t>id+E</a:t>
            </a:r>
            <a:r>
              <a:rPr lang="en-US" dirty="0">
                <a:sym typeface="Symbol" panose="05050102010706020507" pitchFamily="18" charset="2"/>
              </a:rPr>
              <a:t>)  -(</a:t>
            </a:r>
            <a:r>
              <a:rPr lang="en-US" dirty="0" err="1">
                <a:sym typeface="Symbol" panose="05050102010706020507" pitchFamily="18" charset="2"/>
              </a:rPr>
              <a:t>id+id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Right-Most Derivation	</a:t>
            </a:r>
          </a:p>
          <a:p>
            <a:pPr>
              <a:buFontTx/>
              <a:buNone/>
            </a:pPr>
            <a:r>
              <a:rPr lang="en-US" sz="800" dirty="0"/>
              <a:t>	</a:t>
            </a:r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 -E  -(E)  -(E+E)  -(</a:t>
            </a:r>
            <a:r>
              <a:rPr lang="en-US" dirty="0" err="1">
                <a:sym typeface="Symbol" panose="05050102010706020507" pitchFamily="18" charset="2"/>
              </a:rPr>
              <a:t>E+id</a:t>
            </a:r>
            <a:r>
              <a:rPr lang="en-US" dirty="0">
                <a:sym typeface="Symbol" panose="05050102010706020507" pitchFamily="18" charset="2"/>
              </a:rPr>
              <a:t>)  -(</a:t>
            </a:r>
            <a:r>
              <a:rPr lang="en-US" dirty="0" err="1">
                <a:sym typeface="Symbol" panose="05050102010706020507" pitchFamily="18" charset="2"/>
              </a:rPr>
              <a:t>id+id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We will see 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top-down</a:t>
            </a:r>
            <a:r>
              <a:rPr lang="en-US" dirty="0">
                <a:sym typeface="Symbol" panose="05050102010706020507" pitchFamily="18" charset="2"/>
              </a:rPr>
              <a:t> parsers try to find 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left-most derivation </a:t>
            </a:r>
            <a:r>
              <a:rPr lang="en-US" dirty="0">
                <a:sym typeface="Symbol" panose="05050102010706020507" pitchFamily="18" charset="2"/>
              </a:rPr>
              <a:t>of the given source program.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bottom-up</a:t>
            </a:r>
            <a:r>
              <a:rPr lang="en-US" dirty="0">
                <a:sym typeface="Symbol" panose="05050102010706020507" pitchFamily="18" charset="2"/>
              </a:rPr>
              <a:t> parsers try to find the </a:t>
            </a:r>
            <a:r>
              <a:rPr lang="en-US" dirty="0">
                <a:solidFill>
                  <a:srgbClr val="C00000"/>
                </a:solidFill>
                <a:sym typeface="Symbol" panose="05050102010706020507" pitchFamily="18" charset="2"/>
              </a:rPr>
              <a:t>right-most derivation </a:t>
            </a:r>
            <a:r>
              <a:rPr lang="en-US" dirty="0">
                <a:sym typeface="Symbol" panose="05050102010706020507" pitchFamily="18" charset="2"/>
              </a:rPr>
              <a:t>of the given source program in the reverse order.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270" name="Text Box 1028"/>
          <p:cNvSpPr txBox="1">
            <a:spLocks noChangeArrowheads="1"/>
          </p:cNvSpPr>
          <p:nvPr/>
        </p:nvSpPr>
        <p:spPr bwMode="auto">
          <a:xfrm>
            <a:off x="5646737" y="1901825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1" name="Text Box 1029"/>
          <p:cNvSpPr txBox="1">
            <a:spLocks noChangeArrowheads="1"/>
          </p:cNvSpPr>
          <p:nvPr/>
        </p:nvSpPr>
        <p:spPr bwMode="auto">
          <a:xfrm>
            <a:off x="4122737" y="1828800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2" name="Text Box 1030"/>
          <p:cNvSpPr txBox="1">
            <a:spLocks noChangeArrowheads="1"/>
          </p:cNvSpPr>
          <p:nvPr/>
        </p:nvSpPr>
        <p:spPr bwMode="auto">
          <a:xfrm>
            <a:off x="2674938" y="1905000"/>
            <a:ext cx="373062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3" name="Text Box 1031"/>
          <p:cNvSpPr txBox="1">
            <a:spLocks noChangeArrowheads="1"/>
          </p:cNvSpPr>
          <p:nvPr/>
        </p:nvSpPr>
        <p:spPr bwMode="auto">
          <a:xfrm>
            <a:off x="1617663" y="1905000"/>
            <a:ext cx="374650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4" name="Text Box 1032"/>
          <p:cNvSpPr txBox="1">
            <a:spLocks noChangeArrowheads="1"/>
          </p:cNvSpPr>
          <p:nvPr/>
        </p:nvSpPr>
        <p:spPr bwMode="auto">
          <a:xfrm>
            <a:off x="846137" y="1905000"/>
            <a:ext cx="373063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Times New Roman" panose="02020603050405020304" charset="0"/>
              </a:rPr>
              <a:t>lm</a:t>
            </a:r>
          </a:p>
        </p:txBody>
      </p:sp>
      <p:sp>
        <p:nvSpPr>
          <p:cNvPr id="11275" name="Text Box 1033"/>
          <p:cNvSpPr txBox="1">
            <a:spLocks noChangeArrowheads="1"/>
          </p:cNvSpPr>
          <p:nvPr/>
        </p:nvSpPr>
        <p:spPr bwMode="auto">
          <a:xfrm>
            <a:off x="5641974" y="3276600"/>
            <a:ext cx="382588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6" name="Text Box 1034"/>
          <p:cNvSpPr txBox="1">
            <a:spLocks noChangeArrowheads="1"/>
          </p:cNvSpPr>
          <p:nvPr/>
        </p:nvSpPr>
        <p:spPr bwMode="auto">
          <a:xfrm>
            <a:off x="4117180" y="3258875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7" name="Text Box 1035"/>
          <p:cNvSpPr txBox="1">
            <a:spLocks noChangeArrowheads="1"/>
          </p:cNvSpPr>
          <p:nvPr/>
        </p:nvSpPr>
        <p:spPr bwMode="auto">
          <a:xfrm>
            <a:off x="2665413" y="3324603"/>
            <a:ext cx="382587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8" name="Text Box 1036"/>
          <p:cNvSpPr txBox="1">
            <a:spLocks noChangeArrowheads="1"/>
          </p:cNvSpPr>
          <p:nvPr/>
        </p:nvSpPr>
        <p:spPr bwMode="auto">
          <a:xfrm>
            <a:off x="1617663" y="3324604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  <p:sp>
        <p:nvSpPr>
          <p:cNvPr id="11279" name="Text Box 1037"/>
          <p:cNvSpPr txBox="1">
            <a:spLocks noChangeArrowheads="1"/>
          </p:cNvSpPr>
          <p:nvPr/>
        </p:nvSpPr>
        <p:spPr bwMode="auto">
          <a:xfrm>
            <a:off x="840580" y="3276600"/>
            <a:ext cx="384175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400" dirty="0" err="1">
                <a:latin typeface="Times New Roman" panose="02020603050405020304" charset="0"/>
              </a:rPr>
              <a:t>rm</a:t>
            </a:r>
            <a:endParaRPr lang="en-US" sz="14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 Tree</a:t>
            </a:r>
          </a:p>
        </p:txBody>
      </p:sp>
      <p:sp>
        <p:nvSpPr>
          <p:cNvPr id="12304" name="Date Placeholder 10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6E147D9-B170-4D5C-A0C1-DD2DE116F454}" type="datetime1">
              <a:rPr lang="en-US" smtClean="0"/>
              <a:t>10/8/2025</a:t>
            </a:fld>
            <a:endParaRPr lang="en-US"/>
          </a:p>
        </p:txBody>
      </p:sp>
      <p:sp>
        <p:nvSpPr>
          <p:cNvPr id="1229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A6B0A3C-92D7-495D-9956-12E7494AA214}" type="slidenum">
              <a:rPr lang="en-US" smtClean="0"/>
              <a:t>5</a:t>
            </a:fld>
            <a:endParaRPr lang="en-US"/>
          </a:p>
        </p:txBody>
      </p:sp>
      <p:sp>
        <p:nvSpPr>
          <p:cNvPr id="12293" name="Text Box 3"/>
          <p:cNvSpPr txBox="1">
            <a:spLocks noChangeArrowheads="1"/>
          </p:cNvSpPr>
          <p:nvPr/>
        </p:nvSpPr>
        <p:spPr bwMode="auto">
          <a:xfrm>
            <a:off x="439761" y="1497091"/>
            <a:ext cx="8202182" cy="11079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200" dirty="0">
                <a:latin typeface="Times New Roman" panose="02020603050405020304" charset="0"/>
              </a:rPr>
              <a:t>Inner nodes of a parse tree are non-terminal symbols.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The leaves of a parse tree are terminal symbols.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A parse tree can be seen as a graphical representation of a derivation.</a:t>
            </a:r>
          </a:p>
        </p:txBody>
      </p:sp>
      <p:sp>
        <p:nvSpPr>
          <p:cNvPr id="12294" name="Text Box 4"/>
          <p:cNvSpPr txBox="1">
            <a:spLocks noChangeArrowheads="1"/>
          </p:cNvSpPr>
          <p:nvPr/>
        </p:nvSpPr>
        <p:spPr bwMode="auto">
          <a:xfrm>
            <a:off x="601662" y="2981325"/>
            <a:ext cx="1030288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latin typeface="Times New Roman" panose="02020603050405020304" charset="0"/>
              </a:rPr>
              <a:t>E 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-E </a:t>
            </a:r>
            <a:endParaRPr lang="en-US" dirty="0">
              <a:latin typeface="Times New Roman" panose="02020603050405020304" charset="0"/>
            </a:endParaRPr>
          </a:p>
        </p:txBody>
      </p:sp>
      <p:grpSp>
        <p:nvGrpSpPr>
          <p:cNvPr id="2" name="Group 103"/>
          <p:cNvGrpSpPr/>
          <p:nvPr/>
        </p:nvGrpSpPr>
        <p:grpSpPr bwMode="auto">
          <a:xfrm>
            <a:off x="1727200" y="2938462"/>
            <a:ext cx="942975" cy="719138"/>
            <a:chOff x="1392" y="1632"/>
            <a:chExt cx="643" cy="453"/>
          </a:xfrm>
        </p:grpSpPr>
        <p:grpSp>
          <p:nvGrpSpPr>
            <p:cNvPr id="3" name="Group 13"/>
            <p:cNvGrpSpPr/>
            <p:nvPr/>
          </p:nvGrpSpPr>
          <p:grpSpPr bwMode="auto">
            <a:xfrm>
              <a:off x="1488" y="1776"/>
              <a:ext cx="432" cy="144"/>
              <a:chOff x="1776" y="1680"/>
              <a:chExt cx="432" cy="144"/>
            </a:xfrm>
          </p:grpSpPr>
          <p:sp>
            <p:nvSpPr>
              <p:cNvPr id="12394" name="Line 5"/>
              <p:cNvSpPr>
                <a:spLocks noChangeShapeType="1"/>
              </p:cNvSpPr>
              <p:nvPr/>
            </p:nvSpPr>
            <p:spPr bwMode="auto">
              <a:xfrm flipH="1">
                <a:off x="1776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5" name="Line 6"/>
              <p:cNvSpPr>
                <a:spLocks noChangeShapeType="1"/>
              </p:cNvSpPr>
              <p:nvPr/>
            </p:nvSpPr>
            <p:spPr bwMode="auto">
              <a:xfrm>
                <a:off x="2016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91" name="Text Box 61"/>
            <p:cNvSpPr txBox="1">
              <a:spLocks noChangeArrowheads="1"/>
            </p:cNvSpPr>
            <p:nvPr/>
          </p:nvSpPr>
          <p:spPr bwMode="auto">
            <a:xfrm>
              <a:off x="1632" y="163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92" name="Text Box 63"/>
            <p:cNvSpPr txBox="1">
              <a:spLocks noChangeArrowheads="1"/>
            </p:cNvSpPr>
            <p:nvPr/>
          </p:nvSpPr>
          <p:spPr bwMode="auto">
            <a:xfrm>
              <a:off x="1824" y="187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93" name="Text Box 83"/>
            <p:cNvSpPr txBox="1">
              <a:spLocks noChangeArrowheads="1"/>
            </p:cNvSpPr>
            <p:nvPr/>
          </p:nvSpPr>
          <p:spPr bwMode="auto">
            <a:xfrm>
              <a:off x="1392" y="18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-</a:t>
              </a:r>
            </a:p>
          </p:txBody>
        </p:sp>
      </p:grpSp>
      <p:grpSp>
        <p:nvGrpSpPr>
          <p:cNvPr id="4" name="Group 110"/>
          <p:cNvGrpSpPr/>
          <p:nvPr/>
        </p:nvGrpSpPr>
        <p:grpSpPr bwMode="auto">
          <a:xfrm>
            <a:off x="7002462" y="3014662"/>
            <a:ext cx="1379538" cy="1633538"/>
            <a:chOff x="4752" y="1440"/>
            <a:chExt cx="941" cy="1029"/>
          </a:xfrm>
        </p:grpSpPr>
        <p:grpSp>
          <p:nvGrpSpPr>
            <p:cNvPr id="5" name="Group 30"/>
            <p:cNvGrpSpPr/>
            <p:nvPr/>
          </p:nvGrpSpPr>
          <p:grpSpPr bwMode="auto">
            <a:xfrm>
              <a:off x="4848" y="1584"/>
              <a:ext cx="720" cy="720"/>
              <a:chOff x="1776" y="2256"/>
              <a:chExt cx="720" cy="720"/>
            </a:xfrm>
          </p:grpSpPr>
          <p:grpSp>
            <p:nvGrpSpPr>
              <p:cNvPr id="6" name="Group 25"/>
              <p:cNvGrpSpPr/>
              <p:nvPr/>
            </p:nvGrpSpPr>
            <p:grpSpPr bwMode="auto">
              <a:xfrm>
                <a:off x="1776" y="2256"/>
                <a:ext cx="720" cy="432"/>
                <a:chOff x="1776" y="2256"/>
                <a:chExt cx="720" cy="432"/>
              </a:xfrm>
            </p:grpSpPr>
            <p:sp>
              <p:nvSpPr>
                <p:cNvPr id="12384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776" y="2256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5" name="Line 9"/>
                <p:cNvSpPr>
                  <a:spLocks noChangeShapeType="1"/>
                </p:cNvSpPr>
                <p:nvPr/>
              </p:nvSpPr>
              <p:spPr bwMode="auto">
                <a:xfrm>
                  <a:off x="2016" y="2256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" name="Group 20"/>
                <p:cNvGrpSpPr/>
                <p:nvPr/>
              </p:nvGrpSpPr>
              <p:grpSpPr bwMode="auto">
                <a:xfrm>
                  <a:off x="1920" y="2544"/>
                  <a:ext cx="576" cy="144"/>
                  <a:chOff x="1920" y="2544"/>
                  <a:chExt cx="576" cy="144"/>
                </a:xfrm>
              </p:grpSpPr>
              <p:sp>
                <p:nvSpPr>
                  <p:cNvPr id="12387" name="Line 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0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88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89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208" y="254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" name="Group 21"/>
              <p:cNvGrpSpPr/>
              <p:nvPr/>
            </p:nvGrpSpPr>
            <p:grpSpPr bwMode="auto">
              <a:xfrm>
                <a:off x="1920" y="2832"/>
                <a:ext cx="576" cy="144"/>
                <a:chOff x="1920" y="2544"/>
                <a:chExt cx="576" cy="144"/>
              </a:xfrm>
            </p:grpSpPr>
            <p:sp>
              <p:nvSpPr>
                <p:cNvPr id="12381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920" y="2544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2" name="Line 23"/>
                <p:cNvSpPr>
                  <a:spLocks noChangeShapeType="1"/>
                </p:cNvSpPr>
                <p:nvPr/>
              </p:nvSpPr>
              <p:spPr bwMode="auto">
                <a:xfrm>
                  <a:off x="2304" y="2544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83" name="Line 24"/>
                <p:cNvSpPr>
                  <a:spLocks noChangeShapeType="1"/>
                </p:cNvSpPr>
                <p:nvPr/>
              </p:nvSpPr>
              <p:spPr bwMode="auto">
                <a:xfrm>
                  <a:off x="2208" y="254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2370" name="Text Box 66"/>
            <p:cNvSpPr txBox="1">
              <a:spLocks noChangeArrowheads="1"/>
            </p:cNvSpPr>
            <p:nvPr/>
          </p:nvSpPr>
          <p:spPr bwMode="auto">
            <a:xfrm>
              <a:off x="5184" y="196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1" name="Text Box 67"/>
            <p:cNvSpPr txBox="1">
              <a:spLocks noChangeArrowheads="1"/>
            </p:cNvSpPr>
            <p:nvPr/>
          </p:nvSpPr>
          <p:spPr bwMode="auto">
            <a:xfrm>
              <a:off x="4992" y="144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2" name="Text Box 68"/>
            <p:cNvSpPr txBox="1">
              <a:spLocks noChangeArrowheads="1"/>
            </p:cNvSpPr>
            <p:nvPr/>
          </p:nvSpPr>
          <p:spPr bwMode="auto">
            <a:xfrm>
              <a:off x="5472" y="225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3" name="Text Box 69"/>
            <p:cNvSpPr txBox="1">
              <a:spLocks noChangeArrowheads="1"/>
            </p:cNvSpPr>
            <p:nvPr/>
          </p:nvSpPr>
          <p:spPr bwMode="auto">
            <a:xfrm>
              <a:off x="4896" y="225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4" name="Text Box 72"/>
            <p:cNvSpPr txBox="1">
              <a:spLocks noChangeArrowheads="1"/>
            </p:cNvSpPr>
            <p:nvPr/>
          </p:nvSpPr>
          <p:spPr bwMode="auto">
            <a:xfrm>
              <a:off x="5184" y="168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75" name="Text Box 84"/>
            <p:cNvSpPr txBox="1">
              <a:spLocks noChangeArrowheads="1"/>
            </p:cNvSpPr>
            <p:nvPr/>
          </p:nvSpPr>
          <p:spPr bwMode="auto">
            <a:xfrm>
              <a:off x="5184" y="2256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2376" name="Text Box 88"/>
            <p:cNvSpPr txBox="1">
              <a:spLocks noChangeArrowheads="1"/>
            </p:cNvSpPr>
            <p:nvPr/>
          </p:nvSpPr>
          <p:spPr bwMode="auto">
            <a:xfrm>
              <a:off x="4752" y="1680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77" name="Text Box 93"/>
            <p:cNvSpPr txBox="1">
              <a:spLocks noChangeArrowheads="1"/>
            </p:cNvSpPr>
            <p:nvPr/>
          </p:nvSpPr>
          <p:spPr bwMode="auto">
            <a:xfrm>
              <a:off x="4896" y="1968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78" name="Text Box 98"/>
            <p:cNvSpPr txBox="1">
              <a:spLocks noChangeArrowheads="1"/>
            </p:cNvSpPr>
            <p:nvPr/>
          </p:nvSpPr>
          <p:spPr bwMode="auto">
            <a:xfrm>
              <a:off x="5520" y="1968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</p:grpSp>
      <p:grpSp>
        <p:nvGrpSpPr>
          <p:cNvPr id="9" name="Group 109"/>
          <p:cNvGrpSpPr/>
          <p:nvPr/>
        </p:nvGrpSpPr>
        <p:grpSpPr bwMode="auto">
          <a:xfrm>
            <a:off x="4259262" y="3014662"/>
            <a:ext cx="1309688" cy="1176338"/>
            <a:chOff x="2880" y="1584"/>
            <a:chExt cx="893" cy="741"/>
          </a:xfrm>
        </p:grpSpPr>
        <p:grpSp>
          <p:nvGrpSpPr>
            <p:cNvPr id="10" name="Group 14"/>
            <p:cNvGrpSpPr/>
            <p:nvPr/>
          </p:nvGrpSpPr>
          <p:grpSpPr bwMode="auto">
            <a:xfrm>
              <a:off x="2976" y="1728"/>
              <a:ext cx="720" cy="432"/>
              <a:chOff x="2880" y="1680"/>
              <a:chExt cx="720" cy="432"/>
            </a:xfrm>
          </p:grpSpPr>
          <p:sp>
            <p:nvSpPr>
              <p:cNvPr id="12364" name="Line 15"/>
              <p:cNvSpPr>
                <a:spLocks noChangeShapeType="1"/>
              </p:cNvSpPr>
              <p:nvPr/>
            </p:nvSpPr>
            <p:spPr bwMode="auto">
              <a:xfrm flipH="1">
                <a:off x="3024" y="1968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5" name="Line 16"/>
              <p:cNvSpPr>
                <a:spLocks noChangeShapeType="1"/>
              </p:cNvSpPr>
              <p:nvPr/>
            </p:nvSpPr>
            <p:spPr bwMode="auto">
              <a:xfrm flipH="1">
                <a:off x="2880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6" name="Line 17"/>
              <p:cNvSpPr>
                <a:spLocks noChangeShapeType="1"/>
              </p:cNvSpPr>
              <p:nvPr/>
            </p:nvSpPr>
            <p:spPr bwMode="auto">
              <a:xfrm>
                <a:off x="3120" y="1680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7" name="Line 18"/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8" name="Line 19"/>
              <p:cNvSpPr>
                <a:spLocks noChangeShapeType="1"/>
              </p:cNvSpPr>
              <p:nvPr/>
            </p:nvSpPr>
            <p:spPr bwMode="auto">
              <a:xfrm>
                <a:off x="3312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58" name="Text Box 62"/>
            <p:cNvSpPr txBox="1">
              <a:spLocks noChangeArrowheads="1"/>
            </p:cNvSpPr>
            <p:nvPr/>
          </p:nvSpPr>
          <p:spPr bwMode="auto">
            <a:xfrm>
              <a:off x="3120" y="158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59" name="Text Box 64"/>
            <p:cNvSpPr txBox="1">
              <a:spLocks noChangeArrowheads="1"/>
            </p:cNvSpPr>
            <p:nvPr/>
          </p:nvSpPr>
          <p:spPr bwMode="auto">
            <a:xfrm>
              <a:off x="3312" y="211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60" name="Text Box 65"/>
            <p:cNvSpPr txBox="1">
              <a:spLocks noChangeArrowheads="1"/>
            </p:cNvSpPr>
            <p:nvPr/>
          </p:nvSpPr>
          <p:spPr bwMode="auto">
            <a:xfrm>
              <a:off x="3312" y="182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61" name="Text Box 89"/>
            <p:cNvSpPr txBox="1">
              <a:spLocks noChangeArrowheads="1"/>
            </p:cNvSpPr>
            <p:nvPr/>
          </p:nvSpPr>
          <p:spPr bwMode="auto">
            <a:xfrm>
              <a:off x="2880" y="1824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62" name="Text Box 94"/>
            <p:cNvSpPr txBox="1">
              <a:spLocks noChangeArrowheads="1"/>
            </p:cNvSpPr>
            <p:nvPr/>
          </p:nvSpPr>
          <p:spPr bwMode="auto">
            <a:xfrm>
              <a:off x="3024" y="211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63" name="Text Box 99"/>
            <p:cNvSpPr txBox="1">
              <a:spLocks noChangeArrowheads="1"/>
            </p:cNvSpPr>
            <p:nvPr/>
          </p:nvSpPr>
          <p:spPr bwMode="auto">
            <a:xfrm>
              <a:off x="3600" y="211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</p:grpSp>
      <p:grpSp>
        <p:nvGrpSpPr>
          <p:cNvPr id="11" name="Group 113"/>
          <p:cNvGrpSpPr/>
          <p:nvPr/>
        </p:nvGrpSpPr>
        <p:grpSpPr bwMode="auto">
          <a:xfrm>
            <a:off x="5384800" y="4386262"/>
            <a:ext cx="1400175" cy="2090738"/>
            <a:chOff x="3648" y="2400"/>
            <a:chExt cx="955" cy="1317"/>
          </a:xfrm>
        </p:grpSpPr>
        <p:sp>
          <p:nvSpPr>
            <p:cNvPr id="12329" name="Text Box 77"/>
            <p:cNvSpPr txBox="1">
              <a:spLocks noChangeArrowheads="1"/>
            </p:cNvSpPr>
            <p:nvPr/>
          </p:nvSpPr>
          <p:spPr bwMode="auto">
            <a:xfrm>
              <a:off x="3888" y="240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30" name="Text Box 81"/>
            <p:cNvSpPr txBox="1">
              <a:spLocks noChangeArrowheads="1"/>
            </p:cNvSpPr>
            <p:nvPr/>
          </p:nvSpPr>
          <p:spPr bwMode="auto">
            <a:xfrm>
              <a:off x="4368" y="3216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31" name="Text Box 100"/>
            <p:cNvSpPr txBox="1">
              <a:spLocks noChangeArrowheads="1"/>
            </p:cNvSpPr>
            <p:nvPr/>
          </p:nvSpPr>
          <p:spPr bwMode="auto">
            <a:xfrm>
              <a:off x="4368" y="3504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grpSp>
          <p:nvGrpSpPr>
            <p:cNvPr id="12" name="Group 112"/>
            <p:cNvGrpSpPr/>
            <p:nvPr/>
          </p:nvGrpSpPr>
          <p:grpSpPr bwMode="auto">
            <a:xfrm>
              <a:off x="3648" y="2544"/>
              <a:ext cx="893" cy="1173"/>
              <a:chOff x="3984" y="2544"/>
              <a:chExt cx="893" cy="1173"/>
            </a:xfrm>
          </p:grpSpPr>
          <p:grpSp>
            <p:nvGrpSpPr>
              <p:cNvPr id="13" name="Group 60"/>
              <p:cNvGrpSpPr/>
              <p:nvPr/>
            </p:nvGrpSpPr>
            <p:grpSpPr bwMode="auto">
              <a:xfrm>
                <a:off x="4080" y="2544"/>
                <a:ext cx="720" cy="1008"/>
                <a:chOff x="4752" y="2448"/>
                <a:chExt cx="720" cy="1008"/>
              </a:xfrm>
            </p:grpSpPr>
            <p:sp>
              <p:nvSpPr>
                <p:cNvPr id="12342" name="Line 44"/>
                <p:cNvSpPr>
                  <a:spLocks noChangeShapeType="1"/>
                </p:cNvSpPr>
                <p:nvPr/>
              </p:nvSpPr>
              <p:spPr bwMode="auto">
                <a:xfrm>
                  <a:off x="5472" y="33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46"/>
                <p:cNvGrpSpPr/>
                <p:nvPr/>
              </p:nvGrpSpPr>
              <p:grpSpPr bwMode="auto">
                <a:xfrm>
                  <a:off x="4752" y="2448"/>
                  <a:ext cx="720" cy="1008"/>
                  <a:chOff x="3072" y="2304"/>
                  <a:chExt cx="720" cy="1008"/>
                </a:xfrm>
              </p:grpSpPr>
              <p:grpSp>
                <p:nvGrpSpPr>
                  <p:cNvPr id="15" name="Group 47"/>
                  <p:cNvGrpSpPr/>
                  <p:nvPr/>
                </p:nvGrpSpPr>
                <p:grpSpPr bwMode="auto">
                  <a:xfrm>
                    <a:off x="3072" y="2304"/>
                    <a:ext cx="720" cy="720"/>
                    <a:chOff x="1776" y="2256"/>
                    <a:chExt cx="720" cy="720"/>
                  </a:xfrm>
                </p:grpSpPr>
                <p:grpSp>
                  <p:nvGrpSpPr>
                    <p:cNvPr id="16" name="Group 48"/>
                    <p:cNvGrpSpPr/>
                    <p:nvPr/>
                  </p:nvGrpSpPr>
                  <p:grpSpPr bwMode="auto">
                    <a:xfrm>
                      <a:off x="1776" y="2256"/>
                      <a:ext cx="720" cy="432"/>
                      <a:chOff x="1776" y="2256"/>
                      <a:chExt cx="720" cy="432"/>
                    </a:xfrm>
                  </p:grpSpPr>
                  <p:sp>
                    <p:nvSpPr>
                      <p:cNvPr id="12351" name="Line 49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776" y="2256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52" name="Line 5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2256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7" name="Group 51"/>
                      <p:cNvGrpSpPr/>
                      <p:nvPr/>
                    </p:nvGrpSpPr>
                    <p:grpSpPr bwMode="auto">
                      <a:xfrm>
                        <a:off x="1920" y="2544"/>
                        <a:ext cx="576" cy="144"/>
                        <a:chOff x="1920" y="2544"/>
                        <a:chExt cx="576" cy="144"/>
                      </a:xfrm>
                    </p:grpSpPr>
                    <p:sp>
                      <p:nvSpPr>
                        <p:cNvPr id="12354" name="Line 5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1920" y="2544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5" name="Line 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304" y="2544"/>
                          <a:ext cx="192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356" name="Line 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08" y="2544"/>
                          <a:ext cx="0" cy="14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" name="Group 55"/>
                    <p:cNvGrpSpPr/>
                    <p:nvPr/>
                  </p:nvGrpSpPr>
                  <p:grpSpPr bwMode="auto">
                    <a:xfrm>
                      <a:off x="1920" y="2832"/>
                      <a:ext cx="576" cy="144"/>
                      <a:chOff x="1920" y="2544"/>
                      <a:chExt cx="576" cy="144"/>
                    </a:xfrm>
                  </p:grpSpPr>
                  <p:sp>
                    <p:nvSpPr>
                      <p:cNvPr id="12348" name="Line 5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920" y="2544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49" name="Line 5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2544"/>
                        <a:ext cx="192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350" name="Line 5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2544"/>
                        <a:ext cx="0" cy="14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12345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3216" y="3168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2334" name="Text Box 78"/>
              <p:cNvSpPr txBox="1">
                <a:spLocks noChangeArrowheads="1"/>
              </p:cNvSpPr>
              <p:nvPr/>
            </p:nvSpPr>
            <p:spPr bwMode="auto">
              <a:xfrm>
                <a:off x="4416" y="2640"/>
                <a:ext cx="194" cy="21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5" name="Text Box 79"/>
              <p:cNvSpPr txBox="1">
                <a:spLocks noChangeArrowheads="1"/>
              </p:cNvSpPr>
              <p:nvPr/>
            </p:nvSpPr>
            <p:spPr bwMode="auto">
              <a:xfrm>
                <a:off x="4416" y="2928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6" name="Text Box 80"/>
              <p:cNvSpPr txBox="1">
                <a:spLocks noChangeArrowheads="1"/>
              </p:cNvSpPr>
              <p:nvPr/>
            </p:nvSpPr>
            <p:spPr bwMode="auto">
              <a:xfrm>
                <a:off x="4128" y="3216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2337" name="Text Box 85"/>
              <p:cNvSpPr txBox="1">
                <a:spLocks noChangeArrowheads="1"/>
              </p:cNvSpPr>
              <p:nvPr/>
            </p:nvSpPr>
            <p:spPr bwMode="auto">
              <a:xfrm>
                <a:off x="4416" y="3216"/>
                <a:ext cx="205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+</a:t>
                </a:r>
              </a:p>
            </p:txBody>
          </p:sp>
          <p:sp>
            <p:nvSpPr>
              <p:cNvPr id="12338" name="Text Box 90"/>
              <p:cNvSpPr txBox="1">
                <a:spLocks noChangeArrowheads="1"/>
              </p:cNvSpPr>
              <p:nvPr/>
            </p:nvSpPr>
            <p:spPr bwMode="auto">
              <a:xfrm>
                <a:off x="3984" y="2592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-</a:t>
                </a:r>
              </a:p>
            </p:txBody>
          </p:sp>
          <p:sp>
            <p:nvSpPr>
              <p:cNvPr id="12339" name="Text Box 91"/>
              <p:cNvSpPr txBox="1">
                <a:spLocks noChangeArrowheads="1"/>
              </p:cNvSpPr>
              <p:nvPr/>
            </p:nvSpPr>
            <p:spPr bwMode="auto">
              <a:xfrm>
                <a:off x="4128" y="2928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(</a:t>
                </a:r>
              </a:p>
            </p:txBody>
          </p:sp>
          <p:sp>
            <p:nvSpPr>
              <p:cNvPr id="12340" name="Text Box 96"/>
              <p:cNvSpPr txBox="1">
                <a:spLocks noChangeArrowheads="1"/>
              </p:cNvSpPr>
              <p:nvPr/>
            </p:nvSpPr>
            <p:spPr bwMode="auto">
              <a:xfrm>
                <a:off x="4704" y="2928"/>
                <a:ext cx="173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)</a:t>
                </a:r>
              </a:p>
            </p:txBody>
          </p:sp>
          <p:sp>
            <p:nvSpPr>
              <p:cNvPr id="12341" name="Text Box 101"/>
              <p:cNvSpPr txBox="1">
                <a:spLocks noChangeArrowheads="1"/>
              </p:cNvSpPr>
              <p:nvPr/>
            </p:nvSpPr>
            <p:spPr bwMode="auto">
              <a:xfrm>
                <a:off x="4128" y="3504"/>
                <a:ext cx="235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id</a:t>
                </a:r>
              </a:p>
            </p:txBody>
          </p:sp>
        </p:grpSp>
      </p:grpSp>
      <p:grpSp>
        <p:nvGrpSpPr>
          <p:cNvPr id="19" name="Group 111"/>
          <p:cNvGrpSpPr/>
          <p:nvPr/>
        </p:nvGrpSpPr>
        <p:grpSpPr bwMode="auto">
          <a:xfrm>
            <a:off x="1868487" y="4386262"/>
            <a:ext cx="1308100" cy="2090738"/>
            <a:chOff x="2064" y="2544"/>
            <a:chExt cx="893" cy="1317"/>
          </a:xfrm>
        </p:grpSpPr>
        <p:grpSp>
          <p:nvGrpSpPr>
            <p:cNvPr id="20" name="Group 45"/>
            <p:cNvGrpSpPr/>
            <p:nvPr/>
          </p:nvGrpSpPr>
          <p:grpSpPr bwMode="auto">
            <a:xfrm>
              <a:off x="2160" y="2688"/>
              <a:ext cx="720" cy="1008"/>
              <a:chOff x="3072" y="2304"/>
              <a:chExt cx="720" cy="1008"/>
            </a:xfrm>
          </p:grpSpPr>
          <p:grpSp>
            <p:nvGrpSpPr>
              <p:cNvPr id="21" name="Group 31"/>
              <p:cNvGrpSpPr/>
              <p:nvPr/>
            </p:nvGrpSpPr>
            <p:grpSpPr bwMode="auto">
              <a:xfrm>
                <a:off x="3072" y="2304"/>
                <a:ext cx="720" cy="720"/>
                <a:chOff x="1776" y="2256"/>
                <a:chExt cx="720" cy="720"/>
              </a:xfrm>
            </p:grpSpPr>
            <p:grpSp>
              <p:nvGrpSpPr>
                <p:cNvPr id="22" name="Group 32"/>
                <p:cNvGrpSpPr/>
                <p:nvPr/>
              </p:nvGrpSpPr>
              <p:grpSpPr bwMode="auto">
                <a:xfrm>
                  <a:off x="1776" y="2256"/>
                  <a:ext cx="720" cy="432"/>
                  <a:chOff x="1776" y="2256"/>
                  <a:chExt cx="720" cy="432"/>
                </a:xfrm>
              </p:grpSpPr>
              <p:sp>
                <p:nvSpPr>
                  <p:cNvPr id="12323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76" y="2256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4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2256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3" name="Group 35"/>
                  <p:cNvGrpSpPr/>
                  <p:nvPr/>
                </p:nvGrpSpPr>
                <p:grpSpPr bwMode="auto">
                  <a:xfrm>
                    <a:off x="1920" y="2544"/>
                    <a:ext cx="576" cy="144"/>
                    <a:chOff x="1920" y="2544"/>
                    <a:chExt cx="576" cy="144"/>
                  </a:xfrm>
                </p:grpSpPr>
                <p:sp>
                  <p:nvSpPr>
                    <p:cNvPr id="12326" name="Line 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920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7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544"/>
                      <a:ext cx="192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8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2544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4" name="Group 39"/>
                <p:cNvGrpSpPr/>
                <p:nvPr/>
              </p:nvGrpSpPr>
              <p:grpSpPr bwMode="auto">
                <a:xfrm>
                  <a:off x="1920" y="2832"/>
                  <a:ext cx="576" cy="144"/>
                  <a:chOff x="1920" y="2544"/>
                  <a:chExt cx="576" cy="144"/>
                </a:xfrm>
              </p:grpSpPr>
              <p:sp>
                <p:nvSpPr>
                  <p:cNvPr id="12320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0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1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544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22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208" y="254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2317" name="Line 43"/>
              <p:cNvSpPr>
                <a:spLocks noChangeShapeType="1"/>
              </p:cNvSpPr>
              <p:nvPr/>
            </p:nvSpPr>
            <p:spPr bwMode="auto">
              <a:xfrm>
                <a:off x="3216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06" name="Text Box 71"/>
            <p:cNvSpPr txBox="1">
              <a:spLocks noChangeArrowheads="1"/>
            </p:cNvSpPr>
            <p:nvPr/>
          </p:nvSpPr>
          <p:spPr bwMode="auto">
            <a:xfrm>
              <a:off x="2304" y="254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7" name="Text Box 73"/>
            <p:cNvSpPr txBox="1">
              <a:spLocks noChangeArrowheads="1"/>
            </p:cNvSpPr>
            <p:nvPr/>
          </p:nvSpPr>
          <p:spPr bwMode="auto">
            <a:xfrm>
              <a:off x="2496" y="278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8" name="Text Box 74"/>
            <p:cNvSpPr txBox="1">
              <a:spLocks noChangeArrowheads="1"/>
            </p:cNvSpPr>
            <p:nvPr/>
          </p:nvSpPr>
          <p:spPr bwMode="auto">
            <a:xfrm>
              <a:off x="2496" y="307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09" name="Text Box 75"/>
            <p:cNvSpPr txBox="1">
              <a:spLocks noChangeArrowheads="1"/>
            </p:cNvSpPr>
            <p:nvPr/>
          </p:nvSpPr>
          <p:spPr bwMode="auto">
            <a:xfrm>
              <a:off x="2736" y="336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10" name="Text Box 76"/>
            <p:cNvSpPr txBox="1">
              <a:spLocks noChangeArrowheads="1"/>
            </p:cNvSpPr>
            <p:nvPr/>
          </p:nvSpPr>
          <p:spPr bwMode="auto">
            <a:xfrm>
              <a:off x="2208" y="3360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2311" name="Text Box 82"/>
            <p:cNvSpPr txBox="1">
              <a:spLocks noChangeArrowheads="1"/>
            </p:cNvSpPr>
            <p:nvPr/>
          </p:nvSpPr>
          <p:spPr bwMode="auto">
            <a:xfrm>
              <a:off x="2496" y="3360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2312" name="Text Box 87"/>
            <p:cNvSpPr txBox="1">
              <a:spLocks noChangeArrowheads="1"/>
            </p:cNvSpPr>
            <p:nvPr/>
          </p:nvSpPr>
          <p:spPr bwMode="auto">
            <a:xfrm>
              <a:off x="2064" y="2736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-</a:t>
              </a:r>
            </a:p>
          </p:txBody>
        </p:sp>
        <p:sp>
          <p:nvSpPr>
            <p:cNvPr id="12313" name="Text Box 92"/>
            <p:cNvSpPr txBox="1">
              <a:spLocks noChangeArrowheads="1"/>
            </p:cNvSpPr>
            <p:nvPr/>
          </p:nvSpPr>
          <p:spPr bwMode="auto">
            <a:xfrm>
              <a:off x="2208" y="30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(</a:t>
              </a:r>
            </a:p>
          </p:txBody>
        </p:sp>
        <p:sp>
          <p:nvSpPr>
            <p:cNvPr id="12314" name="Text Box 97"/>
            <p:cNvSpPr txBox="1">
              <a:spLocks noChangeArrowheads="1"/>
            </p:cNvSpPr>
            <p:nvPr/>
          </p:nvSpPr>
          <p:spPr bwMode="auto">
            <a:xfrm>
              <a:off x="2784" y="3072"/>
              <a:ext cx="17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)</a:t>
              </a:r>
            </a:p>
          </p:txBody>
        </p:sp>
        <p:sp>
          <p:nvSpPr>
            <p:cNvPr id="12315" name="Text Box 102"/>
            <p:cNvSpPr txBox="1">
              <a:spLocks noChangeArrowheads="1"/>
            </p:cNvSpPr>
            <p:nvPr/>
          </p:nvSpPr>
          <p:spPr bwMode="auto">
            <a:xfrm>
              <a:off x="2208" y="3648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</p:grpSp>
      <p:sp>
        <p:nvSpPr>
          <p:cNvPr id="12300" name="Text Box 105"/>
          <p:cNvSpPr txBox="1">
            <a:spLocks noChangeArrowheads="1"/>
          </p:cNvSpPr>
          <p:nvPr/>
        </p:nvSpPr>
        <p:spPr bwMode="auto">
          <a:xfrm>
            <a:off x="3275012" y="3014662"/>
            <a:ext cx="9144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-(E)</a:t>
            </a:r>
          </a:p>
        </p:txBody>
      </p:sp>
      <p:sp>
        <p:nvSpPr>
          <p:cNvPr id="12301" name="Text Box 106"/>
          <p:cNvSpPr txBox="1">
            <a:spLocks noChangeArrowheads="1"/>
          </p:cNvSpPr>
          <p:nvPr/>
        </p:nvSpPr>
        <p:spPr bwMode="auto">
          <a:xfrm>
            <a:off x="5807075" y="3090862"/>
            <a:ext cx="121602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-(E+E)</a:t>
            </a:r>
          </a:p>
        </p:txBody>
      </p:sp>
      <p:sp>
        <p:nvSpPr>
          <p:cNvPr id="12302" name="Text Box 107"/>
          <p:cNvSpPr txBox="1">
            <a:spLocks noChangeArrowheads="1"/>
          </p:cNvSpPr>
          <p:nvPr/>
        </p:nvSpPr>
        <p:spPr bwMode="auto">
          <a:xfrm>
            <a:off x="673100" y="4995862"/>
            <a:ext cx="12573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2303" name="Text Box 108"/>
          <p:cNvSpPr txBox="1">
            <a:spLocks noChangeArrowheads="1"/>
          </p:cNvSpPr>
          <p:nvPr/>
        </p:nvSpPr>
        <p:spPr bwMode="auto">
          <a:xfrm>
            <a:off x="3978275" y="4995862"/>
            <a:ext cx="12985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 -(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</a:t>
            </a:r>
          </a:p>
        </p:txBody>
      </p:sp>
      <p:sp>
        <p:nvSpPr>
          <p:cNvPr id="13322" name="Date Placeholder 5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B0793B1-0EB6-48AE-B232-2D7EB5124A73}" type="datetime1">
              <a:rPr lang="en-US" smtClean="0"/>
              <a:t>10/8/2025</a:t>
            </a:fld>
            <a:endParaRPr lang="en-US"/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32A35D4-802F-4EFA-9DED-364B42401E03}" type="slidenum">
              <a:rPr lang="en-US" smtClean="0"/>
              <a:t>6</a:t>
            </a:fld>
            <a:endParaRPr lang="en-US"/>
          </a:p>
        </p:txBody>
      </p:sp>
      <p:sp>
        <p:nvSpPr>
          <p:cNvPr id="13317" name="Text Box 3"/>
          <p:cNvSpPr txBox="1">
            <a:spLocks noChangeArrowheads="1"/>
          </p:cNvSpPr>
          <p:nvPr/>
        </p:nvSpPr>
        <p:spPr bwMode="auto">
          <a:xfrm>
            <a:off x="331322" y="1424697"/>
            <a:ext cx="8143875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A grammar produces more than one parse tree for a sentence is </a:t>
            </a:r>
          </a:p>
          <a:p>
            <a:r>
              <a:rPr lang="en-US" sz="2200" dirty="0">
                <a:latin typeface="Times New Roman" panose="02020603050405020304" charset="0"/>
              </a:rPr>
              <a:t>   called as an </a:t>
            </a:r>
            <a:r>
              <a:rPr lang="en-US" sz="2200" b="1" i="1" dirty="0">
                <a:latin typeface="Times New Roman" panose="02020603050405020304" charset="0"/>
              </a:rPr>
              <a:t>ambiguous</a:t>
            </a:r>
            <a:r>
              <a:rPr lang="en-US" sz="2200" dirty="0">
                <a:latin typeface="Times New Roman" panose="02020603050405020304" charset="0"/>
              </a:rPr>
              <a:t> grammar.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1295400" y="2743200"/>
            <a:ext cx="361028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E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 E+E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*id</a:t>
            </a:r>
          </a:p>
        </p:txBody>
      </p:sp>
      <p:sp>
        <p:nvSpPr>
          <p:cNvPr id="13319" name="Text Box 5"/>
          <p:cNvSpPr txBox="1">
            <a:spLocks noChangeArrowheads="1"/>
          </p:cNvSpPr>
          <p:nvPr/>
        </p:nvSpPr>
        <p:spPr bwMode="auto">
          <a:xfrm>
            <a:off x="1219200" y="4876800"/>
            <a:ext cx="386035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 E*E  E+E*E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*E 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id+id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*id</a:t>
            </a:r>
          </a:p>
        </p:txBody>
      </p:sp>
      <p:grpSp>
        <p:nvGrpSpPr>
          <p:cNvPr id="2" name="Group 69"/>
          <p:cNvGrpSpPr/>
          <p:nvPr/>
        </p:nvGrpSpPr>
        <p:grpSpPr bwMode="auto">
          <a:xfrm>
            <a:off x="6172200" y="4267200"/>
            <a:ext cx="1539875" cy="1785938"/>
            <a:chOff x="4128" y="2640"/>
            <a:chExt cx="1051" cy="1125"/>
          </a:xfrm>
        </p:grpSpPr>
        <p:sp>
          <p:nvSpPr>
            <p:cNvPr id="13343" name="Text Box 37"/>
            <p:cNvSpPr txBox="1">
              <a:spLocks noChangeArrowheads="1"/>
            </p:cNvSpPr>
            <p:nvPr/>
          </p:nvSpPr>
          <p:spPr bwMode="auto">
            <a:xfrm>
              <a:off x="4704" y="326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4" name="Text Box 38"/>
            <p:cNvSpPr txBox="1">
              <a:spLocks noChangeArrowheads="1"/>
            </p:cNvSpPr>
            <p:nvPr/>
          </p:nvSpPr>
          <p:spPr bwMode="auto">
            <a:xfrm>
              <a:off x="470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45" name="Line 39"/>
            <p:cNvSpPr>
              <a:spLocks noChangeShapeType="1"/>
            </p:cNvSpPr>
            <p:nvPr/>
          </p:nvSpPr>
          <p:spPr bwMode="auto">
            <a:xfrm>
              <a:off x="4800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Line 43"/>
            <p:cNvSpPr>
              <a:spLocks noChangeShapeType="1"/>
            </p:cNvSpPr>
            <p:nvPr/>
          </p:nvSpPr>
          <p:spPr bwMode="auto">
            <a:xfrm>
              <a:off x="4224" y="34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Text Box 45"/>
            <p:cNvSpPr txBox="1">
              <a:spLocks noChangeArrowheads="1"/>
            </p:cNvSpPr>
            <p:nvPr/>
          </p:nvSpPr>
          <p:spPr bwMode="auto">
            <a:xfrm>
              <a:off x="4128" y="326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8" name="Text Box 46"/>
            <p:cNvSpPr txBox="1">
              <a:spLocks noChangeArrowheads="1"/>
            </p:cNvSpPr>
            <p:nvPr/>
          </p:nvSpPr>
          <p:spPr bwMode="auto">
            <a:xfrm>
              <a:off x="4416" y="3264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3349" name="Text Box 47"/>
            <p:cNvSpPr txBox="1">
              <a:spLocks noChangeArrowheads="1"/>
            </p:cNvSpPr>
            <p:nvPr/>
          </p:nvSpPr>
          <p:spPr bwMode="auto">
            <a:xfrm>
              <a:off x="4128" y="3552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50" name="Text Box 55"/>
            <p:cNvSpPr txBox="1">
              <a:spLocks noChangeArrowheads="1"/>
            </p:cNvSpPr>
            <p:nvPr/>
          </p:nvSpPr>
          <p:spPr bwMode="auto">
            <a:xfrm>
              <a:off x="4944" y="3264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grpSp>
          <p:nvGrpSpPr>
            <p:cNvPr id="3" name="Group 57"/>
            <p:cNvGrpSpPr/>
            <p:nvPr/>
          </p:nvGrpSpPr>
          <p:grpSpPr bwMode="auto">
            <a:xfrm>
              <a:off x="4224" y="2640"/>
              <a:ext cx="931" cy="672"/>
              <a:chOff x="4128" y="2544"/>
              <a:chExt cx="931" cy="672"/>
            </a:xfrm>
          </p:grpSpPr>
          <p:sp>
            <p:nvSpPr>
              <p:cNvPr id="13352" name="Line 58"/>
              <p:cNvSpPr>
                <a:spLocks noChangeShapeType="1"/>
              </p:cNvSpPr>
              <p:nvPr/>
            </p:nvSpPr>
            <p:spPr bwMode="auto">
              <a:xfrm flipH="1">
                <a:off x="4128" y="30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3" name="Line 59"/>
              <p:cNvSpPr>
                <a:spLocks noChangeShapeType="1"/>
              </p:cNvSpPr>
              <p:nvPr/>
            </p:nvSpPr>
            <p:spPr bwMode="auto">
              <a:xfrm>
                <a:off x="4512" y="3072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4" name="Line 60"/>
              <p:cNvSpPr>
                <a:spLocks noChangeShapeType="1"/>
              </p:cNvSpPr>
              <p:nvPr/>
            </p:nvSpPr>
            <p:spPr bwMode="auto">
              <a:xfrm>
                <a:off x="4416" y="30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5" name="Text Box 61"/>
              <p:cNvSpPr txBox="1">
                <a:spLocks noChangeArrowheads="1"/>
              </p:cNvSpPr>
              <p:nvPr/>
            </p:nvSpPr>
            <p:spPr bwMode="auto">
              <a:xfrm>
                <a:off x="4320" y="2880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56" name="Line 62"/>
              <p:cNvSpPr>
                <a:spLocks noChangeShapeType="1"/>
              </p:cNvSpPr>
              <p:nvPr/>
            </p:nvSpPr>
            <p:spPr bwMode="auto">
              <a:xfrm>
                <a:off x="4704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7" name="Text Box 63"/>
              <p:cNvSpPr txBox="1">
                <a:spLocks noChangeArrowheads="1"/>
              </p:cNvSpPr>
              <p:nvPr/>
            </p:nvSpPr>
            <p:spPr bwMode="auto">
              <a:xfrm>
                <a:off x="4560" y="2544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58" name="Line 64"/>
              <p:cNvSpPr>
                <a:spLocks noChangeShapeType="1"/>
              </p:cNvSpPr>
              <p:nvPr/>
            </p:nvSpPr>
            <p:spPr bwMode="auto">
              <a:xfrm flipH="1">
                <a:off x="4416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9" name="Line 65"/>
              <p:cNvSpPr>
                <a:spLocks noChangeShapeType="1"/>
              </p:cNvSpPr>
              <p:nvPr/>
            </p:nvSpPr>
            <p:spPr bwMode="auto">
              <a:xfrm>
                <a:off x="4656" y="27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0" name="Text Box 66"/>
              <p:cNvSpPr txBox="1">
                <a:spLocks noChangeArrowheads="1"/>
              </p:cNvSpPr>
              <p:nvPr/>
            </p:nvSpPr>
            <p:spPr bwMode="auto">
              <a:xfrm>
                <a:off x="4560" y="2832"/>
                <a:ext cx="196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*</a:t>
                </a:r>
              </a:p>
            </p:txBody>
          </p:sp>
          <p:sp>
            <p:nvSpPr>
              <p:cNvPr id="13361" name="Text Box 67"/>
              <p:cNvSpPr txBox="1">
                <a:spLocks noChangeArrowheads="1"/>
              </p:cNvSpPr>
              <p:nvPr/>
            </p:nvSpPr>
            <p:spPr bwMode="auto">
              <a:xfrm>
                <a:off x="4848" y="2880"/>
                <a:ext cx="211" cy="21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latin typeface="Times New Roman" panose="02020603050405020304" charset="0"/>
                  </a:rPr>
                  <a:t>E</a:t>
                </a:r>
              </a:p>
            </p:txBody>
          </p:sp>
          <p:sp>
            <p:nvSpPr>
              <p:cNvPr id="13362" name="Line 68"/>
              <p:cNvSpPr>
                <a:spLocks noChangeShapeType="1"/>
              </p:cNvSpPr>
              <p:nvPr/>
            </p:nvSpPr>
            <p:spPr bwMode="auto">
              <a:xfrm>
                <a:off x="4944" y="307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" name="Group 72"/>
          <p:cNvGrpSpPr/>
          <p:nvPr/>
        </p:nvGrpSpPr>
        <p:grpSpPr bwMode="auto">
          <a:xfrm>
            <a:off x="6237288" y="2057400"/>
            <a:ext cx="1611312" cy="1785938"/>
            <a:chOff x="3552" y="1104"/>
            <a:chExt cx="1099" cy="1125"/>
          </a:xfrm>
        </p:grpSpPr>
        <p:sp>
          <p:nvSpPr>
            <p:cNvPr id="13323" name="Text Box 9"/>
            <p:cNvSpPr txBox="1">
              <a:spLocks noChangeArrowheads="1"/>
            </p:cNvSpPr>
            <p:nvPr/>
          </p:nvSpPr>
          <p:spPr bwMode="auto">
            <a:xfrm>
              <a:off x="4128" y="1680"/>
              <a:ext cx="126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en-US" sz="1600">
                <a:latin typeface="Times New Roman" panose="02020603050405020304" charset="0"/>
              </a:endParaRPr>
            </a:p>
          </p:txBody>
        </p:sp>
        <p:sp>
          <p:nvSpPr>
            <p:cNvPr id="13324" name="Line 23"/>
            <p:cNvSpPr>
              <a:spLocks noChangeShapeType="1"/>
            </p:cNvSpPr>
            <p:nvPr/>
          </p:nvSpPr>
          <p:spPr bwMode="auto">
            <a:xfrm flipH="1">
              <a:off x="3648" y="129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24"/>
            <p:cNvSpPr>
              <a:spLocks noChangeShapeType="1"/>
            </p:cNvSpPr>
            <p:nvPr/>
          </p:nvSpPr>
          <p:spPr bwMode="auto">
            <a:xfrm>
              <a:off x="4032" y="129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25"/>
            <p:cNvSpPr>
              <a:spLocks noChangeShapeType="1"/>
            </p:cNvSpPr>
            <p:nvPr/>
          </p:nvSpPr>
          <p:spPr bwMode="auto">
            <a:xfrm>
              <a:off x="3936" y="12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26"/>
            <p:cNvSpPr>
              <a:spLocks noChangeShapeType="1"/>
            </p:cNvSpPr>
            <p:nvPr/>
          </p:nvSpPr>
          <p:spPr bwMode="auto">
            <a:xfrm>
              <a:off x="3648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Text Box 28"/>
            <p:cNvSpPr txBox="1">
              <a:spLocks noChangeArrowheads="1"/>
            </p:cNvSpPr>
            <p:nvPr/>
          </p:nvSpPr>
          <p:spPr bwMode="auto">
            <a:xfrm>
              <a:off x="3840" y="1104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29" name="Text Box 29"/>
            <p:cNvSpPr txBox="1">
              <a:spLocks noChangeArrowheads="1"/>
            </p:cNvSpPr>
            <p:nvPr/>
          </p:nvSpPr>
          <p:spPr bwMode="auto">
            <a:xfrm>
              <a:off x="3552" y="139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0" name="Text Box 30"/>
            <p:cNvSpPr txBox="1">
              <a:spLocks noChangeArrowheads="1"/>
            </p:cNvSpPr>
            <p:nvPr/>
          </p:nvSpPr>
          <p:spPr bwMode="auto">
            <a:xfrm>
              <a:off x="3840" y="1392"/>
              <a:ext cx="20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Times New Roman" panose="02020603050405020304" charset="0"/>
                </a:rPr>
                <a:t>+</a:t>
              </a:r>
            </a:p>
          </p:txBody>
        </p:sp>
        <p:sp>
          <p:nvSpPr>
            <p:cNvPr id="13331" name="Text Box 34"/>
            <p:cNvSpPr txBox="1">
              <a:spLocks noChangeArrowheads="1"/>
            </p:cNvSpPr>
            <p:nvPr/>
          </p:nvSpPr>
          <p:spPr bwMode="auto">
            <a:xfrm>
              <a:off x="3552" y="1680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32" name="Line 42"/>
            <p:cNvSpPr>
              <a:spLocks noChangeShapeType="1"/>
            </p:cNvSpPr>
            <p:nvPr/>
          </p:nvSpPr>
          <p:spPr bwMode="auto">
            <a:xfrm>
              <a:off x="3984" y="19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Text Box 44"/>
            <p:cNvSpPr txBox="1">
              <a:spLocks noChangeArrowheads="1"/>
            </p:cNvSpPr>
            <p:nvPr/>
          </p:nvSpPr>
          <p:spPr bwMode="auto">
            <a:xfrm>
              <a:off x="3888" y="172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4" name="Line 48"/>
            <p:cNvSpPr>
              <a:spLocks noChangeShapeType="1"/>
            </p:cNvSpPr>
            <p:nvPr/>
          </p:nvSpPr>
          <p:spPr bwMode="auto">
            <a:xfrm>
              <a:off x="4272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Text Box 49"/>
            <p:cNvSpPr txBox="1">
              <a:spLocks noChangeArrowheads="1"/>
            </p:cNvSpPr>
            <p:nvPr/>
          </p:nvSpPr>
          <p:spPr bwMode="auto">
            <a:xfrm>
              <a:off x="4128" y="1392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36" name="Line 50"/>
            <p:cNvSpPr>
              <a:spLocks noChangeShapeType="1"/>
            </p:cNvSpPr>
            <p:nvPr/>
          </p:nvSpPr>
          <p:spPr bwMode="auto">
            <a:xfrm flipH="1">
              <a:off x="3984" y="158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51"/>
            <p:cNvSpPr>
              <a:spLocks noChangeShapeType="1"/>
            </p:cNvSpPr>
            <p:nvPr/>
          </p:nvSpPr>
          <p:spPr bwMode="auto">
            <a:xfrm>
              <a:off x="4224" y="15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Text Box 52"/>
            <p:cNvSpPr txBox="1">
              <a:spLocks noChangeArrowheads="1"/>
            </p:cNvSpPr>
            <p:nvPr/>
          </p:nvSpPr>
          <p:spPr bwMode="auto">
            <a:xfrm>
              <a:off x="4128" y="1680"/>
              <a:ext cx="196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*</a:t>
              </a:r>
            </a:p>
          </p:txBody>
        </p:sp>
        <p:sp>
          <p:nvSpPr>
            <p:cNvPr id="13339" name="Text Box 53"/>
            <p:cNvSpPr txBox="1">
              <a:spLocks noChangeArrowheads="1"/>
            </p:cNvSpPr>
            <p:nvPr/>
          </p:nvSpPr>
          <p:spPr bwMode="auto">
            <a:xfrm>
              <a:off x="4416" y="1728"/>
              <a:ext cx="21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E</a:t>
              </a:r>
            </a:p>
          </p:txBody>
        </p:sp>
        <p:sp>
          <p:nvSpPr>
            <p:cNvPr id="13340" name="Line 54"/>
            <p:cNvSpPr>
              <a:spLocks noChangeShapeType="1"/>
            </p:cNvSpPr>
            <p:nvPr/>
          </p:nvSpPr>
          <p:spPr bwMode="auto">
            <a:xfrm>
              <a:off x="4512" y="19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Text Box 70"/>
            <p:cNvSpPr txBox="1">
              <a:spLocks noChangeArrowheads="1"/>
            </p:cNvSpPr>
            <p:nvPr/>
          </p:nvSpPr>
          <p:spPr bwMode="auto">
            <a:xfrm>
              <a:off x="3888" y="2016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  <p:sp>
          <p:nvSpPr>
            <p:cNvPr id="13342" name="Text Box 71"/>
            <p:cNvSpPr txBox="1">
              <a:spLocks noChangeArrowheads="1"/>
            </p:cNvSpPr>
            <p:nvPr/>
          </p:nvSpPr>
          <p:spPr bwMode="auto">
            <a:xfrm>
              <a:off x="4416" y="2016"/>
              <a:ext cx="23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Times New Roman" panose="02020603050405020304" charset="0"/>
                </a:rPr>
                <a:t>id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434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A2C65FB-FAAC-470F-96AC-6FE56343A40C}" type="datetime1">
              <a:rPr lang="en-US" smtClean="0"/>
              <a:t>10/8/2025</a:t>
            </a:fld>
            <a:endParaRPr lang="en-US"/>
          </a:p>
        </p:txBody>
      </p:sp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A4F65DF-D22C-46C8-94A2-78D5FE069784}" type="slidenum">
              <a:rPr lang="en-US" smtClean="0"/>
              <a:t>7</a:t>
            </a:fld>
            <a:endParaRPr lang="en-US"/>
          </a:p>
        </p:txBody>
      </p:sp>
      <p:sp>
        <p:nvSpPr>
          <p:cNvPr id="1434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the most parsers, the grammar must be unambiguous.</a:t>
            </a:r>
          </a:p>
          <a:p>
            <a:endParaRPr lang="en-US" sz="2400" dirty="0"/>
          </a:p>
          <a:p>
            <a:r>
              <a:rPr lang="en-US" sz="2400" dirty="0"/>
              <a:t>unambiguous grammar  posses the </a:t>
            </a:r>
            <a:r>
              <a:rPr lang="en-US" sz="2400" dirty="0">
                <a:sym typeface="Wingdings" panose="05000000000000000000" pitchFamily="2" charset="2"/>
              </a:rPr>
              <a:t> unique selection of the parse tree for a sentence</a:t>
            </a:r>
          </a:p>
          <a:p>
            <a:r>
              <a:rPr lang="en-US" sz="2400" dirty="0"/>
              <a:t>We should eliminate the ambiguity in the grammar during the design phase of the compiler.</a:t>
            </a:r>
          </a:p>
          <a:p>
            <a:r>
              <a:rPr lang="en-US" sz="2400" dirty="0"/>
              <a:t>We have to prefer one of the parse trees of a sentence (generated by an ambiguous grammar) to disambiguate that grammar to restrict to this choice.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3748E-25A3-6868-AC1D-57917DB8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E64DE-DC38-1456-4DB7-5ED70729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F2D23-A137-B5A3-588F-62254B89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965CD-E225-D36C-CD1D-5D7AC4C32D17}"/>
              </a:ext>
            </a:extLst>
          </p:cNvPr>
          <p:cNvSpPr txBox="1"/>
          <p:nvPr/>
        </p:nvSpPr>
        <p:spPr>
          <a:xfrm>
            <a:off x="723900" y="1422332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(x &gt; 0)</a:t>
            </a:r>
          </a:p>
          <a:p>
            <a:r>
              <a:rPr lang="en-US" dirty="0"/>
              <a:t>    if (y &gt; 0)</a:t>
            </a:r>
          </a:p>
          <a:p>
            <a:r>
              <a:rPr lang="en-US" dirty="0"/>
              <a:t>        print("A");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print("B");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42A2D-F3BF-7AE4-1BA0-2311B8C391FC}"/>
              </a:ext>
            </a:extLst>
          </p:cNvPr>
          <p:cNvSpPr txBox="1"/>
          <p:nvPr/>
        </p:nvSpPr>
        <p:spPr>
          <a:xfrm>
            <a:off x="457200" y="31242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which </a:t>
            </a:r>
            <a:r>
              <a:rPr lang="en-US" b="1" dirty="0">
                <a:latin typeface="Courier New" panose="02070309020205020404" pitchFamily="49" charset="0"/>
              </a:rPr>
              <a:t>if</a:t>
            </a:r>
            <a:r>
              <a:rPr lang="en-US" b="1" dirty="0"/>
              <a:t> does that </a:t>
            </a:r>
            <a:r>
              <a:rPr lang="en-US" b="1" dirty="0">
                <a:latin typeface="Courier New" panose="02070309020205020404" pitchFamily="49" charset="0"/>
              </a:rPr>
              <a:t>else</a:t>
            </a:r>
            <a:r>
              <a:rPr lang="en-US" b="1" dirty="0"/>
              <a:t> belong to?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it belong to the </a:t>
            </a:r>
            <a:r>
              <a:rPr lang="en-US" b="1" dirty="0"/>
              <a:t>first if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 the </a:t>
            </a:r>
            <a:r>
              <a:rPr lang="en-US" b="1" dirty="0"/>
              <a:t>second if</a:t>
            </a:r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ABB96-CEB2-0698-CA9B-EBB0CA1A1383}"/>
              </a:ext>
            </a:extLst>
          </p:cNvPr>
          <p:cNvSpPr txBox="1"/>
          <p:nvPr/>
        </p:nvSpPr>
        <p:spPr>
          <a:xfrm>
            <a:off x="3009900" y="4496610"/>
            <a:ext cx="403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called the </a:t>
            </a:r>
            <a:r>
              <a:rPr lang="en-US" b="1" dirty="0"/>
              <a:t>dangling else problem.</a:t>
            </a: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8D79D57-47FE-8518-5D49-A5AF92B30551}"/>
              </a:ext>
            </a:extLst>
          </p:cNvPr>
          <p:cNvSpPr txBox="1">
            <a:spLocks noChangeArrowheads="1"/>
          </p:cNvSpPr>
          <p:nvPr/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/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Ambiguity (cont.)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211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5400" name="Date Placeholder 4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A2B025F-05EA-4C72-94E2-71D07EF9BE56}" type="datetime1">
              <a:rPr lang="en-US" smtClean="0"/>
              <a:t>10/8/2025</a:t>
            </a:fld>
            <a:endParaRPr lang="en-US"/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F2C5969-EBDB-4ED1-83CE-80537B9FE8C7}" type="slidenum">
              <a:rPr lang="en-US" smtClean="0"/>
              <a:t>9</a:t>
            </a:fld>
            <a:endParaRPr lang="en-US"/>
          </a:p>
        </p:txBody>
      </p:sp>
      <p:sp>
        <p:nvSpPr>
          <p:cNvPr id="15365" name="Text Box 3"/>
          <p:cNvSpPr txBox="1">
            <a:spLocks noChangeArrowheads="1"/>
          </p:cNvSpPr>
          <p:nvPr/>
        </p:nvSpPr>
        <p:spPr bwMode="auto">
          <a:xfrm>
            <a:off x="619125" y="1371600"/>
            <a:ext cx="615950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charset="0"/>
              </a:rPr>
              <a:t>stmt 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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 |</a:t>
            </a:r>
          </a:p>
          <a:p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          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000" dirty="0">
                <a:latin typeface="Times New Roman" panose="02020603050405020304" charset="0"/>
                <a:sym typeface="Symbol" panose="05050102010706020507" pitchFamily="18" charset="2"/>
              </a:rPr>
              <a:t>  stmt    |   </a:t>
            </a:r>
            <a:r>
              <a:rPr lang="en-US" sz="2000" dirty="0" err="1">
                <a:latin typeface="Times New Roman" panose="02020603050405020304" charset="0"/>
                <a:sym typeface="Symbol" panose="05050102010706020507" pitchFamily="18" charset="2"/>
              </a:rPr>
              <a:t>otherstmts</a:t>
            </a:r>
            <a:endParaRPr lang="en-US" sz="20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  <p:sp>
        <p:nvSpPr>
          <p:cNvPr id="15366" name="Text Box 4"/>
          <p:cNvSpPr txBox="1">
            <a:spLocks noChangeArrowheads="1"/>
          </p:cNvSpPr>
          <p:nvPr/>
        </p:nvSpPr>
        <p:spPr bwMode="auto">
          <a:xfrm>
            <a:off x="4038600" y="2209800"/>
            <a:ext cx="47910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E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 </a:t>
            </a:r>
            <a:r>
              <a:rPr lang="en-US" sz="2000" dirty="0">
                <a:latin typeface="Times New Roman" panose="02020603050405020304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E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S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else </a:t>
            </a:r>
            <a:r>
              <a:rPr lang="en-US" sz="2000" dirty="0">
                <a:latin typeface="Times New Roman" panose="02020603050405020304" charset="0"/>
              </a:rPr>
              <a:t> S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  <a:endParaRPr lang="en-US" sz="2000" dirty="0">
              <a:latin typeface="Times New Roman" panose="02020603050405020304" charset="0"/>
            </a:endParaRP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574675" y="2057400"/>
            <a:ext cx="4530725" cy="2144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charset="0"/>
              </a:rPr>
              <a:t>	</a:t>
            </a:r>
            <a:r>
              <a:rPr lang="en-US" sz="2000" dirty="0">
                <a:latin typeface="Times New Roman" panose="02020603050405020304" charset="0"/>
              </a:rPr>
              <a:t>stmt</a:t>
            </a:r>
          </a:p>
          <a:p>
            <a:endParaRPr lang="en-US" sz="2000" dirty="0">
              <a:latin typeface="Times New Roman" panose="02020603050405020304" charset="0"/>
            </a:endParaRPr>
          </a:p>
          <a:p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 </a:t>
            </a:r>
            <a:r>
              <a:rPr lang="en-US" sz="2000" dirty="0" err="1">
                <a:latin typeface="Times New Roman" panose="02020603050405020304" charset="0"/>
              </a:rPr>
              <a:t>expr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   stmt      </a:t>
            </a:r>
            <a:r>
              <a:rPr lang="en-US" sz="2000" dirty="0">
                <a:latin typeface="Courier New" panose="02070309020205020404" pitchFamily="49" charset="0"/>
              </a:rPr>
              <a:t>else</a:t>
            </a:r>
            <a:r>
              <a:rPr lang="en-US" sz="2000" dirty="0">
                <a:latin typeface="Times New Roman" panose="02020603050405020304" charset="0"/>
              </a:rPr>
              <a:t>       stmt</a:t>
            </a:r>
          </a:p>
          <a:p>
            <a:endParaRPr lang="en-US" sz="2000" dirty="0">
              <a:latin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</a:rPr>
              <a:t>         E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  <a:r>
              <a:rPr lang="en-US" sz="2000" dirty="0">
                <a:latin typeface="Times New Roman" panose="02020603050405020304" charset="0"/>
              </a:rPr>
              <a:t>	   </a:t>
            </a:r>
            <a:r>
              <a:rPr lang="en-US" sz="2000" dirty="0">
                <a:latin typeface="Courier New" panose="02070309020205020404" pitchFamily="49" charset="0"/>
              </a:rPr>
              <a:t>if</a:t>
            </a:r>
            <a:r>
              <a:rPr lang="en-US" sz="2000" dirty="0">
                <a:latin typeface="Times New Roman" panose="02020603050405020304" charset="0"/>
              </a:rPr>
              <a:t>  </a:t>
            </a:r>
            <a:r>
              <a:rPr lang="en-US" sz="2000" dirty="0" err="1">
                <a:latin typeface="Times New Roman" panose="02020603050405020304" charset="0"/>
              </a:rPr>
              <a:t>expr</a:t>
            </a:r>
            <a:r>
              <a:rPr lang="en-US" sz="2000" dirty="0">
                <a:latin typeface="Times New Roman" panose="02020603050405020304" charset="0"/>
              </a:rPr>
              <a:t>   </a:t>
            </a:r>
            <a:r>
              <a:rPr lang="en-US" sz="2000" dirty="0">
                <a:latin typeface="Courier New" panose="02070309020205020404" pitchFamily="49" charset="0"/>
              </a:rPr>
              <a:t>then</a:t>
            </a:r>
            <a:r>
              <a:rPr lang="en-US" sz="2000" dirty="0">
                <a:latin typeface="Times New Roman" panose="02020603050405020304" charset="0"/>
              </a:rPr>
              <a:t>    stmt        S</a:t>
            </a:r>
            <a:r>
              <a:rPr lang="en-US" sz="2000" baseline="-25000" dirty="0">
                <a:latin typeface="Times New Roman" panose="02020603050405020304" charset="0"/>
              </a:rPr>
              <a:t>2</a:t>
            </a:r>
          </a:p>
          <a:p>
            <a:endParaRPr lang="en-US" sz="2000" baseline="-25000" dirty="0">
              <a:latin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</a:rPr>
              <a:t> 	            E</a:t>
            </a:r>
            <a:r>
              <a:rPr lang="en-US" sz="2000" baseline="-25000" dirty="0">
                <a:latin typeface="Times New Roman" panose="02020603050405020304" charset="0"/>
              </a:rPr>
              <a:t>2 	           </a:t>
            </a:r>
            <a:r>
              <a:rPr lang="en-US" sz="2000" dirty="0">
                <a:latin typeface="Times New Roman" panose="02020603050405020304" charset="0"/>
              </a:rPr>
              <a:t>S</a:t>
            </a:r>
            <a:r>
              <a:rPr lang="en-US" sz="2000" baseline="-25000" dirty="0">
                <a:latin typeface="Times New Roman" panose="02020603050405020304" charset="0"/>
              </a:rPr>
              <a:t>1</a:t>
            </a:r>
          </a:p>
        </p:txBody>
      </p:sp>
      <p:sp>
        <p:nvSpPr>
          <p:cNvPr id="15369" name="Line 7"/>
          <p:cNvSpPr>
            <a:spLocks noChangeShapeType="1"/>
          </p:cNvSpPr>
          <p:nvPr/>
        </p:nvSpPr>
        <p:spPr bwMode="auto">
          <a:xfrm flipH="1">
            <a:off x="996950" y="2438400"/>
            <a:ext cx="773113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0" name="Line 8"/>
          <p:cNvSpPr>
            <a:spLocks noChangeShapeType="1"/>
          </p:cNvSpPr>
          <p:nvPr/>
        </p:nvSpPr>
        <p:spPr bwMode="auto">
          <a:xfrm flipH="1">
            <a:off x="1489075" y="2438400"/>
            <a:ext cx="2809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1" name="Line 9"/>
          <p:cNvSpPr>
            <a:spLocks noChangeShapeType="1"/>
          </p:cNvSpPr>
          <p:nvPr/>
        </p:nvSpPr>
        <p:spPr bwMode="auto">
          <a:xfrm>
            <a:off x="1770063" y="2438400"/>
            <a:ext cx="3524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2" name="Line 10"/>
          <p:cNvSpPr>
            <a:spLocks noChangeShapeType="1"/>
          </p:cNvSpPr>
          <p:nvPr/>
        </p:nvSpPr>
        <p:spPr bwMode="auto">
          <a:xfrm>
            <a:off x="1770063" y="2438400"/>
            <a:ext cx="1125537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3" name="Line 11"/>
          <p:cNvSpPr>
            <a:spLocks noChangeShapeType="1"/>
          </p:cNvSpPr>
          <p:nvPr/>
        </p:nvSpPr>
        <p:spPr bwMode="auto">
          <a:xfrm>
            <a:off x="1770063" y="2438400"/>
            <a:ext cx="1900237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4" name="Line 12"/>
          <p:cNvSpPr>
            <a:spLocks noChangeShapeType="1"/>
          </p:cNvSpPr>
          <p:nvPr/>
        </p:nvSpPr>
        <p:spPr bwMode="auto">
          <a:xfrm>
            <a:off x="1770063" y="2438400"/>
            <a:ext cx="2743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Line 13"/>
          <p:cNvSpPr>
            <a:spLocks noChangeShapeType="1"/>
          </p:cNvSpPr>
          <p:nvPr/>
        </p:nvSpPr>
        <p:spPr bwMode="auto">
          <a:xfrm flipH="1">
            <a:off x="1981200" y="3048000"/>
            <a:ext cx="8445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Line 14"/>
          <p:cNvSpPr>
            <a:spLocks noChangeShapeType="1"/>
          </p:cNvSpPr>
          <p:nvPr/>
        </p:nvSpPr>
        <p:spPr bwMode="auto">
          <a:xfrm flipH="1">
            <a:off x="2473325" y="3048000"/>
            <a:ext cx="3524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7" name="Line 15"/>
          <p:cNvSpPr>
            <a:spLocks noChangeShapeType="1"/>
          </p:cNvSpPr>
          <p:nvPr/>
        </p:nvSpPr>
        <p:spPr bwMode="auto">
          <a:xfrm>
            <a:off x="2825750" y="3048000"/>
            <a:ext cx="2809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Line 16"/>
          <p:cNvSpPr>
            <a:spLocks noChangeShapeType="1"/>
          </p:cNvSpPr>
          <p:nvPr/>
        </p:nvSpPr>
        <p:spPr bwMode="auto">
          <a:xfrm>
            <a:off x="2825750" y="3048000"/>
            <a:ext cx="9842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89" name="AutoShape 27"/>
          <p:cNvSpPr>
            <a:spLocks noChangeArrowheads="1"/>
          </p:cNvSpPr>
          <p:nvPr/>
        </p:nvSpPr>
        <p:spPr bwMode="auto">
          <a:xfrm>
            <a:off x="1277938" y="3048000"/>
            <a:ext cx="280987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0" name="AutoShape 28"/>
          <p:cNvSpPr>
            <a:spLocks noChangeArrowheads="1"/>
          </p:cNvSpPr>
          <p:nvPr/>
        </p:nvSpPr>
        <p:spPr bwMode="auto">
          <a:xfrm>
            <a:off x="2232025" y="3505200"/>
            <a:ext cx="282575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1" name="AutoShape 29"/>
          <p:cNvSpPr>
            <a:spLocks noChangeArrowheads="1"/>
          </p:cNvSpPr>
          <p:nvPr/>
        </p:nvSpPr>
        <p:spPr bwMode="auto">
          <a:xfrm>
            <a:off x="3757612" y="3581400"/>
            <a:ext cx="280988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2" name="AutoShape 30"/>
          <p:cNvSpPr>
            <a:spLocks noChangeArrowheads="1"/>
          </p:cNvSpPr>
          <p:nvPr/>
        </p:nvSpPr>
        <p:spPr bwMode="auto">
          <a:xfrm>
            <a:off x="4595813" y="2971800"/>
            <a:ext cx="280987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15398" name="Text Box 36"/>
          <p:cNvSpPr txBox="1">
            <a:spLocks noChangeArrowheads="1"/>
          </p:cNvSpPr>
          <p:nvPr/>
        </p:nvSpPr>
        <p:spPr bwMode="auto">
          <a:xfrm>
            <a:off x="1752600" y="4419600"/>
            <a:ext cx="3000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charset="0"/>
              </a:rPr>
              <a:t>1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4178300" y="3870325"/>
            <a:ext cx="4965700" cy="2759075"/>
            <a:chOff x="4419600" y="3581400"/>
            <a:chExt cx="4965700" cy="2759075"/>
          </a:xfrm>
        </p:grpSpPr>
        <p:sp>
          <p:nvSpPr>
            <p:cNvPr id="15368" name="Text Box 6"/>
            <p:cNvSpPr txBox="1">
              <a:spLocks noChangeArrowheads="1"/>
            </p:cNvSpPr>
            <p:nvPr/>
          </p:nvSpPr>
          <p:spPr bwMode="auto">
            <a:xfrm>
              <a:off x="4419600" y="3581400"/>
              <a:ext cx="4965700" cy="27590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Times New Roman" panose="02020603050405020304" charset="0"/>
                </a:rPr>
                <a:t>	</a:t>
              </a:r>
              <a:r>
                <a:rPr lang="en-US" sz="2000" dirty="0">
                  <a:latin typeface="Times New Roman" panose="02020603050405020304" charset="0"/>
                </a:rPr>
                <a:t>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Courier New" panose="02070309020205020404" pitchFamily="49" charset="0"/>
                </a:rPr>
                <a:t>if</a:t>
              </a:r>
              <a:r>
                <a:rPr lang="en-US" sz="2000" dirty="0">
                  <a:latin typeface="Times New Roman" panose="02020603050405020304" charset="0"/>
                </a:rPr>
                <a:t>   </a:t>
              </a:r>
              <a:r>
                <a:rPr lang="en-US" sz="2000" dirty="0" err="1">
                  <a:latin typeface="Times New Roman" panose="02020603050405020304" charset="0"/>
                </a:rPr>
                <a:t>expr</a:t>
              </a:r>
              <a:r>
                <a:rPr lang="en-US" sz="2000" dirty="0">
                  <a:latin typeface="Times New Roman" panose="02020603050405020304" charset="0"/>
                </a:rPr>
                <a:t>  </a:t>
              </a:r>
              <a:r>
                <a:rPr lang="en-US" sz="2000" dirty="0">
                  <a:latin typeface="Courier New" panose="02070309020205020404" pitchFamily="49" charset="0"/>
                </a:rPr>
                <a:t>then</a:t>
              </a:r>
              <a:r>
                <a:rPr lang="en-US" sz="2000" dirty="0">
                  <a:latin typeface="Times New Roman" panose="02020603050405020304" charset="0"/>
                </a:rPr>
                <a:t>   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Times New Roman" panose="02020603050405020304" charset="0"/>
                </a:rPr>
                <a:t>         E</a:t>
              </a:r>
              <a:r>
                <a:rPr lang="en-US" sz="2000" baseline="-25000" dirty="0">
                  <a:latin typeface="Times New Roman" panose="02020603050405020304" charset="0"/>
                </a:rPr>
                <a:t>1</a:t>
              </a:r>
              <a:r>
                <a:rPr lang="en-US" sz="2000" dirty="0">
                  <a:latin typeface="Times New Roman" panose="02020603050405020304" charset="0"/>
                </a:rPr>
                <a:t>     </a:t>
              </a:r>
              <a:r>
                <a:rPr lang="en-US" sz="2000" dirty="0">
                  <a:latin typeface="Courier New" panose="02070309020205020404" pitchFamily="49" charset="0"/>
                </a:rPr>
                <a:t>if</a:t>
              </a:r>
              <a:r>
                <a:rPr lang="en-US" sz="2000" dirty="0">
                  <a:latin typeface="Times New Roman" panose="02020603050405020304" charset="0"/>
                </a:rPr>
                <a:t>  </a:t>
              </a:r>
              <a:r>
                <a:rPr lang="en-US" sz="2000" dirty="0" err="1">
                  <a:latin typeface="Times New Roman" panose="02020603050405020304" charset="0"/>
                </a:rPr>
                <a:t>expr</a:t>
              </a:r>
              <a:r>
                <a:rPr lang="en-US" sz="2000" dirty="0">
                  <a:latin typeface="Times New Roman" panose="02020603050405020304" charset="0"/>
                </a:rPr>
                <a:t>   </a:t>
              </a:r>
              <a:r>
                <a:rPr lang="en-US" sz="2000" dirty="0">
                  <a:latin typeface="Courier New" panose="02070309020205020404" pitchFamily="49" charset="0"/>
                </a:rPr>
                <a:t>then</a:t>
              </a:r>
              <a:r>
                <a:rPr lang="en-US" sz="2000" dirty="0">
                  <a:latin typeface="Times New Roman" panose="02020603050405020304" charset="0"/>
                </a:rPr>
                <a:t>   stmt  </a:t>
              </a:r>
              <a:r>
                <a:rPr lang="en-US" sz="2000" dirty="0">
                  <a:latin typeface="Courier New" panose="02070309020205020404" pitchFamily="49" charset="0"/>
                </a:rPr>
                <a:t>else</a:t>
              </a:r>
              <a:r>
                <a:rPr lang="en-US" sz="2000" dirty="0">
                  <a:latin typeface="Times New Roman" panose="02020603050405020304" charset="0"/>
                </a:rPr>
                <a:t>  stmt</a:t>
              </a:r>
            </a:p>
            <a:p>
              <a:endParaRPr lang="en-US" sz="2000" dirty="0">
                <a:latin typeface="Times New Roman" panose="02020603050405020304" charset="0"/>
              </a:endParaRPr>
            </a:p>
            <a:p>
              <a:r>
                <a:rPr lang="en-US" sz="2000" dirty="0">
                  <a:latin typeface="Times New Roman" panose="02020603050405020304" charset="0"/>
                </a:rPr>
                <a:t>	           E</a:t>
              </a:r>
              <a:r>
                <a:rPr lang="en-US" sz="2000" baseline="-25000" dirty="0">
                  <a:latin typeface="Times New Roman" panose="02020603050405020304" charset="0"/>
                </a:rPr>
                <a:t>2 	          </a:t>
              </a:r>
              <a:r>
                <a:rPr lang="en-US" sz="2000" dirty="0">
                  <a:latin typeface="Times New Roman" panose="02020603050405020304" charset="0"/>
                </a:rPr>
                <a:t>S</a:t>
              </a:r>
              <a:r>
                <a:rPr lang="en-US" sz="2000" baseline="-25000" dirty="0">
                  <a:latin typeface="Times New Roman" panose="02020603050405020304" charset="0"/>
                </a:rPr>
                <a:t>1 	                  </a:t>
              </a:r>
              <a:r>
                <a:rPr lang="en-US" sz="2000" dirty="0">
                  <a:latin typeface="Times New Roman" panose="02020603050405020304" charset="0"/>
                </a:rPr>
                <a:t>S</a:t>
              </a:r>
              <a:r>
                <a:rPr lang="en-US" sz="2000" baseline="-25000" dirty="0">
                  <a:latin typeface="Times New Roman" panose="02020603050405020304" charset="0"/>
                </a:rPr>
                <a:t>2</a:t>
              </a:r>
            </a:p>
            <a:p>
              <a:endParaRPr lang="en-US" sz="2000" baseline="-25000" dirty="0">
                <a:latin typeface="Times New Roman" panose="02020603050405020304" charset="0"/>
              </a:endParaRPr>
            </a:p>
            <a:p>
              <a:endParaRPr lang="en-US" sz="2000" dirty="0">
                <a:latin typeface="Times New Roman" panose="02020603050405020304" charset="0"/>
              </a:endParaRPr>
            </a:p>
          </p:txBody>
        </p:sp>
        <p:sp>
          <p:nvSpPr>
            <p:cNvPr id="15379" name="Line 17"/>
            <p:cNvSpPr>
              <a:spLocks noChangeShapeType="1"/>
            </p:cNvSpPr>
            <p:nvPr/>
          </p:nvSpPr>
          <p:spPr bwMode="auto">
            <a:xfrm flipH="1">
              <a:off x="4852988" y="3962400"/>
              <a:ext cx="7747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18"/>
            <p:cNvSpPr>
              <a:spLocks noChangeShapeType="1"/>
            </p:cNvSpPr>
            <p:nvPr/>
          </p:nvSpPr>
          <p:spPr bwMode="auto">
            <a:xfrm flipH="1">
              <a:off x="5345113" y="3962400"/>
              <a:ext cx="282575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Line 19"/>
            <p:cNvSpPr>
              <a:spLocks noChangeShapeType="1"/>
            </p:cNvSpPr>
            <p:nvPr/>
          </p:nvSpPr>
          <p:spPr bwMode="auto">
            <a:xfrm>
              <a:off x="5627688" y="3962400"/>
              <a:ext cx="35083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Line 20"/>
            <p:cNvSpPr>
              <a:spLocks noChangeShapeType="1"/>
            </p:cNvSpPr>
            <p:nvPr/>
          </p:nvSpPr>
          <p:spPr bwMode="auto">
            <a:xfrm>
              <a:off x="5627688" y="3962400"/>
              <a:ext cx="914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Line 21"/>
            <p:cNvSpPr>
              <a:spLocks noChangeShapeType="1"/>
            </p:cNvSpPr>
            <p:nvPr/>
          </p:nvSpPr>
          <p:spPr bwMode="auto">
            <a:xfrm flipH="1">
              <a:off x="5838825" y="4572000"/>
              <a:ext cx="703263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22"/>
            <p:cNvSpPr>
              <a:spLocks noChangeShapeType="1"/>
            </p:cNvSpPr>
            <p:nvPr/>
          </p:nvSpPr>
          <p:spPr bwMode="auto">
            <a:xfrm flipH="1">
              <a:off x="6330950" y="4572000"/>
              <a:ext cx="211138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23"/>
            <p:cNvSpPr>
              <a:spLocks noChangeShapeType="1"/>
            </p:cNvSpPr>
            <p:nvPr/>
          </p:nvSpPr>
          <p:spPr bwMode="auto">
            <a:xfrm>
              <a:off x="6542088" y="4572000"/>
              <a:ext cx="42068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24"/>
            <p:cNvSpPr>
              <a:spLocks noChangeShapeType="1"/>
            </p:cNvSpPr>
            <p:nvPr/>
          </p:nvSpPr>
          <p:spPr bwMode="auto">
            <a:xfrm>
              <a:off x="6542088" y="4572000"/>
              <a:ext cx="10541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25"/>
            <p:cNvSpPr>
              <a:spLocks noChangeShapeType="1"/>
            </p:cNvSpPr>
            <p:nvPr/>
          </p:nvSpPr>
          <p:spPr bwMode="auto">
            <a:xfrm>
              <a:off x="6542088" y="4572000"/>
              <a:ext cx="1617662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Line 26"/>
            <p:cNvSpPr>
              <a:spLocks noChangeShapeType="1"/>
            </p:cNvSpPr>
            <p:nvPr/>
          </p:nvSpPr>
          <p:spPr bwMode="auto">
            <a:xfrm>
              <a:off x="6542088" y="4572000"/>
              <a:ext cx="2249487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AutoShape 31"/>
            <p:cNvSpPr>
              <a:spLocks noChangeArrowheads="1"/>
            </p:cNvSpPr>
            <p:nvPr/>
          </p:nvSpPr>
          <p:spPr bwMode="auto">
            <a:xfrm>
              <a:off x="8875712" y="5105400"/>
              <a:ext cx="280988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4" name="AutoShape 32"/>
            <p:cNvSpPr>
              <a:spLocks noChangeArrowheads="1"/>
            </p:cNvSpPr>
            <p:nvPr/>
          </p:nvSpPr>
          <p:spPr bwMode="auto">
            <a:xfrm>
              <a:off x="7580313" y="5121275"/>
              <a:ext cx="280987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5" name="AutoShape 33"/>
            <p:cNvSpPr>
              <a:spLocks noChangeArrowheads="1"/>
            </p:cNvSpPr>
            <p:nvPr/>
          </p:nvSpPr>
          <p:spPr bwMode="auto">
            <a:xfrm>
              <a:off x="6056313" y="5121275"/>
              <a:ext cx="280987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6" name="AutoShape 34"/>
            <p:cNvSpPr>
              <a:spLocks noChangeArrowheads="1"/>
            </p:cNvSpPr>
            <p:nvPr/>
          </p:nvSpPr>
          <p:spPr bwMode="auto">
            <a:xfrm>
              <a:off x="5041900" y="4511675"/>
              <a:ext cx="282575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charset="0"/>
              </a:endParaRPr>
            </a:p>
          </p:txBody>
        </p:sp>
        <p:sp>
          <p:nvSpPr>
            <p:cNvPr id="15397" name="Line 35"/>
            <p:cNvSpPr>
              <a:spLocks noChangeShapeType="1"/>
            </p:cNvSpPr>
            <p:nvPr/>
          </p:nvSpPr>
          <p:spPr bwMode="auto">
            <a:xfrm>
              <a:off x="4430713" y="3657600"/>
              <a:ext cx="0" cy="2362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Text Box 37"/>
            <p:cNvSpPr txBox="1">
              <a:spLocks noChangeArrowheads="1"/>
            </p:cNvSpPr>
            <p:nvPr/>
          </p:nvSpPr>
          <p:spPr bwMode="auto">
            <a:xfrm>
              <a:off x="6823075" y="5791200"/>
              <a:ext cx="300038" cy="3698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 New Roman" panose="02020603050405020304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(cont.)</a:t>
            </a:r>
          </a:p>
        </p:txBody>
      </p:sp>
      <p:sp>
        <p:nvSpPr>
          <p:cNvPr id="16391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53314EC-59AC-40B6-9489-6CD954D12051}" type="datetime1">
              <a:rPr lang="en-US" smtClean="0"/>
              <a:t>10/8/2025</a:t>
            </a:fld>
            <a:endParaRPr lang="en-US"/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EDB816E-29F4-4784-826C-6CCE7E67CEE7}" type="slidenum">
              <a:rPr lang="en-US" smtClean="0"/>
              <a:t>10</a:t>
            </a:fld>
            <a:endParaRPr lang="en-US"/>
          </a:p>
        </p:txBody>
      </p:sp>
      <p:sp>
        <p:nvSpPr>
          <p:cNvPr id="16389" name="Text Box 3"/>
          <p:cNvSpPr txBox="1">
            <a:spLocks noChangeArrowheads="1"/>
          </p:cNvSpPr>
          <p:nvPr/>
        </p:nvSpPr>
        <p:spPr bwMode="auto">
          <a:xfrm>
            <a:off x="619125" y="1489075"/>
            <a:ext cx="8220075" cy="17235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We prefer the second parse tree (else matches with closest if).</a:t>
            </a: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So, we have to disambiguate our grammar to reflect this choice.</a:t>
            </a:r>
          </a:p>
          <a:p>
            <a:endParaRPr lang="en-US" sz="2200" dirty="0">
              <a:latin typeface="Times New Roman" panose="02020603050405020304" charset="0"/>
            </a:endParaRP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The unambiguous grammar will be:</a:t>
            </a:r>
          </a:p>
          <a:p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16390" name="Text Box 4"/>
          <p:cNvSpPr txBox="1">
            <a:spLocks noChangeArrowheads="1"/>
          </p:cNvSpPr>
          <p:nvPr/>
        </p:nvSpPr>
        <p:spPr bwMode="auto">
          <a:xfrm>
            <a:off x="395287" y="3276600"/>
            <a:ext cx="8371202" cy="2462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>
                <a:latin typeface="Times New Roman" panose="02020603050405020304" charset="0"/>
              </a:rPr>
              <a:t>stmt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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|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                         | 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otherstmts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stmt    |</a:t>
            </a: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                          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expr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matchedstmt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unmatchedstmt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Ambiguity – Operator Precedence</a:t>
            </a:r>
          </a:p>
        </p:txBody>
      </p:sp>
      <p:sp>
        <p:nvSpPr>
          <p:cNvPr id="17415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63ECA1-F094-43B3-8284-D66EF3A7CD06}" type="datetime1">
              <a:rPr lang="en-US" smtClean="0"/>
              <a:t>10/8/2025</a:t>
            </a:fld>
            <a:endParaRPr lang="en-US"/>
          </a:p>
        </p:txBody>
      </p:sp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286D380-8FCC-41AB-A2D8-75A2714BBB52}" type="slidenum">
              <a:rPr lang="en-US" smtClean="0"/>
              <a:t>11</a:t>
            </a:fld>
            <a:endParaRPr lang="en-US"/>
          </a:p>
        </p:txBody>
      </p:sp>
      <p:sp>
        <p:nvSpPr>
          <p:cNvPr id="1741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Ambiguous grammars (because of ambiguous operators) can be disambiguated according to the precedence and associativity rules.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	E </a:t>
            </a:r>
            <a:r>
              <a:rPr lang="en-US" dirty="0">
                <a:sym typeface="Symbol" panose="05050102010706020507" pitchFamily="18" charset="2"/>
              </a:rPr>
              <a:t> E+E  |  E*E  |  E^E  |  id  |  (E)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    </a:t>
            </a:r>
            <a:r>
              <a:rPr lang="en-US" sz="1800" dirty="0">
                <a:sym typeface="Symbol" panose="05050102010706020507" pitchFamily="18" charset="2"/>
              </a:rPr>
              <a:t>disambiguate the grammar 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precedence:  	^   (right to left)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*   (left to right)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					+   (left to right)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E  E+T  |  T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T  T*F  |  F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F  G^F  |  G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G  id  |  (E)</a:t>
            </a: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1143000" y="3657600"/>
            <a:ext cx="542925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endParaRPr lang="en-US" sz="36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78</TotalTime>
  <Words>1052</Words>
  <Application>Microsoft Office PowerPoint</Application>
  <PresentationFormat>On-screen Show (4:3)</PresentationFormat>
  <Paragraphs>219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Courier New</vt:lpstr>
      <vt:lpstr>Georgia</vt:lpstr>
      <vt:lpstr>Symbol</vt:lpstr>
      <vt:lpstr>Times New Roman</vt:lpstr>
      <vt:lpstr>Wingdings</vt:lpstr>
      <vt:lpstr>Wingdings 2</vt:lpstr>
      <vt:lpstr>Civic</vt:lpstr>
      <vt:lpstr>Syntax Analysis</vt:lpstr>
      <vt:lpstr>CFG - Terminology</vt:lpstr>
      <vt:lpstr>Derivation Example</vt:lpstr>
      <vt:lpstr>Left-Most and Right-Most Derivations</vt:lpstr>
      <vt:lpstr>Parse Tree</vt:lpstr>
      <vt:lpstr>Ambiguity</vt:lpstr>
      <vt:lpstr>Ambiguity (cont.)</vt:lpstr>
      <vt:lpstr>PowerPoint Presentation</vt:lpstr>
      <vt:lpstr>Ambiguity (cont.)</vt:lpstr>
      <vt:lpstr>Ambiguity (cont.)</vt:lpstr>
      <vt:lpstr>Ambiguity – Operator Precedence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K.M.Azharul Hasan</dc:creator>
  <cp:lastModifiedBy>Md Manirujjaman</cp:lastModifiedBy>
  <cp:revision>60</cp:revision>
  <dcterms:created xsi:type="dcterms:W3CDTF">2014-01-13T03:44:00Z</dcterms:created>
  <dcterms:modified xsi:type="dcterms:W3CDTF">2025-10-08T08:43:30Z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7C3197E1DBC44EEDBED7F137840BBDF8_12</vt:lpwstr>
  </property>
  <property fmtid="{D5CDD505-2E9C-101B-9397-08002B2CF9AE}" pid="3" name="KSOProductBuildVer">
    <vt:lpwstr>1033-12.2.0.18199</vt:lpwstr>
  </property>
</Properties>
</file>