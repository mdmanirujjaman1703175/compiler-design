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7" r:id="rId3"/>
    <p:sldId id="278" r:id="rId5"/>
    <p:sldId id="302" r:id="rId6"/>
    <p:sldId id="303" r:id="rId7"/>
    <p:sldId id="304" r:id="rId8"/>
    <p:sldId id="279" r:id="rId9"/>
    <p:sldId id="280" r:id="rId10"/>
    <p:sldId id="281" r:id="rId11"/>
    <p:sldId id="292" r:id="rId12"/>
    <p:sldId id="28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F761C-D59A-4DBA-B359-4583657C573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F2AAF-B118-4C61-ADE6-2F12701FF42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6CC19BE-7371-47B2-943B-F4A7FF6ACF5A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C19BE-7371-47B2-943B-F4A7FF6ACF5A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 smtClean="0">
                <a:solidFill>
                  <a:schemeClr val="tx1"/>
                </a:solidFill>
                <a:latin typeface="+mn-lt"/>
              </a:rPr>
              <a:t>Syntax Analysis</a:t>
            </a:r>
            <a:endParaRPr lang="en-US" sz="48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26FD60-F092-4190-B331-9840380FBE71}" type="datetime1">
              <a:rPr lang="en-US" smtClean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Arial" panose="020B0604020202020204" pitchFamily="34" charset="0"/>
              </a:rPr>
              <a:t>Md Zahim Hassan, BAUST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 smtClean="0">
                <a:latin typeface="Arial" panose="020B0604020202020204" pitchFamily="34" charset="0"/>
              </a:rPr>
            </a:fld>
            <a:endParaRPr lang="en-US" dirty="0" smtClean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Part I</a:t>
            </a:r>
            <a:endParaRPr lang="en-US" sz="4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Ambiguity – Operator Precedence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7415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163ECA1-F094-43B3-8284-D66EF3A7CD06}" type="datetime1">
              <a:rPr lang="en-US" smtClean="0"/>
            </a:fld>
            <a:endParaRPr lang="en-US"/>
          </a:p>
        </p:txBody>
      </p:sp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Md Zahim Hassan, BAUST</a:t>
            </a:r>
            <a:endParaRPr lang="en-US"/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86D380-8FCC-41AB-A2D8-75A2714BBB52}" type="slidenum">
              <a:rPr lang="en-US" smtClean="0"/>
            </a:fld>
            <a:endParaRPr lang="en-US" smtClean="0"/>
          </a:p>
        </p:txBody>
      </p:sp>
      <p:sp>
        <p:nvSpPr>
          <p:cNvPr id="1741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Ambiguous grammars (because of ambiguous operators) can be disambiguated according to the precedence and associativity rules.</a:t>
            </a:r>
            <a:endParaRPr lang="en-US" dirty="0" smtClean="0"/>
          </a:p>
          <a:p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	E </a:t>
            </a:r>
            <a:r>
              <a:rPr lang="en-US" dirty="0" smtClean="0">
                <a:sym typeface="Symbol" panose="05050102010706020507" pitchFamily="18" charset="2"/>
              </a:rPr>
              <a:t> E+E  |  E*E  |  E^E  |  id  |  (E)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 smtClean="0">
                <a:sym typeface="Symbol" panose="05050102010706020507" pitchFamily="18" charset="2"/>
              </a:rPr>
              <a:t>		    </a:t>
            </a:r>
            <a:r>
              <a:rPr lang="en-US" sz="1800" dirty="0" smtClean="0">
                <a:sym typeface="Symbol" panose="05050102010706020507" pitchFamily="18" charset="2"/>
              </a:rPr>
              <a:t>disambiguate the grammar </a:t>
            </a:r>
            <a:endParaRPr lang="en-US" sz="1800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 smtClean="0">
                <a:sym typeface="Symbol" panose="05050102010706020507" pitchFamily="18" charset="2"/>
              </a:rPr>
              <a:t>			precedence:  	^   (right to left)</a:t>
            </a:r>
            <a:endParaRPr lang="en-US" sz="1800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 smtClean="0">
                <a:sym typeface="Symbol" panose="05050102010706020507" pitchFamily="18" charset="2"/>
              </a:rPr>
              <a:t>					*   (left to right)</a:t>
            </a:r>
            <a:endParaRPr lang="en-US" sz="1800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 smtClean="0">
                <a:sym typeface="Symbol" panose="05050102010706020507" pitchFamily="18" charset="2"/>
              </a:rPr>
              <a:t>					+   (left to right)</a:t>
            </a:r>
            <a:endParaRPr lang="en-US" sz="1800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 smtClean="0">
                <a:sym typeface="Symbol" panose="05050102010706020507" pitchFamily="18" charset="2"/>
              </a:rPr>
              <a:t>	E  E+T  |  T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 smtClean="0">
                <a:sym typeface="Symbol" panose="05050102010706020507" pitchFamily="18" charset="2"/>
              </a:rPr>
              <a:t>	T  T*F  |  F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 smtClean="0">
                <a:sym typeface="Symbol" panose="05050102010706020507" pitchFamily="18" charset="2"/>
              </a:rPr>
              <a:t>	F  G^F  |  G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 smtClean="0">
                <a:sym typeface="Symbol" panose="05050102010706020507" pitchFamily="18" charset="2"/>
              </a:rPr>
              <a:t>	G  id  |  (E)</a:t>
            </a:r>
            <a:endParaRPr lang="en-US" dirty="0" smtClean="0">
              <a:sym typeface="Symbol" panose="05050102010706020507" pitchFamily="18" charset="2"/>
            </a:endParaRPr>
          </a:p>
        </p:txBody>
      </p:sp>
      <p:sp>
        <p:nvSpPr>
          <p:cNvPr id="17414" name="Text Box 4"/>
          <p:cNvSpPr txBox="1">
            <a:spLocks noChangeArrowheads="1"/>
          </p:cNvSpPr>
          <p:nvPr/>
        </p:nvSpPr>
        <p:spPr bwMode="auto">
          <a:xfrm>
            <a:off x="1143000" y="3657600"/>
            <a:ext cx="542925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endParaRPr lang="en-US" sz="36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 smtClean="0">
                <a:solidFill>
                  <a:schemeClr val="tx1"/>
                </a:solidFill>
                <a:sym typeface="+mn-ea"/>
              </a:rPr>
              <a:t>Ambiguity – </a:t>
            </a:r>
            <a:r>
              <a:rPr lang="en-US" dirty="0" smtClean="0">
                <a:solidFill>
                  <a:schemeClr val="tx1"/>
                </a:solidFill>
                <a:sym typeface="+mn-ea"/>
              </a:rPr>
              <a:t>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/>
          </a:bodyPr>
          <a:p>
            <a:r>
              <a:rPr lang="en-US"/>
              <a:t>If the same precedence operators are in production, we must examine their associativity.</a:t>
            </a:r>
            <a:endParaRPr lang="en-US"/>
          </a:p>
          <a:p>
            <a:r>
              <a:rPr lang="en-US"/>
              <a:t>If the associativity is left to right, we must initiate a left recursion in the production. The parse tree will be left-recursive and grow on the left side. </a:t>
            </a:r>
            <a:endParaRPr lang="en-US"/>
          </a:p>
          <a:p>
            <a:pPr lvl="1"/>
            <a:r>
              <a:rPr lang="en-US"/>
              <a:t>+, -, *, and / are left associative operators.</a:t>
            </a:r>
            <a:endParaRPr lang="en-US"/>
          </a:p>
          <a:p>
            <a:r>
              <a:rPr lang="en-US"/>
              <a:t>If the associativity is right to left, we must prompt the appropriate recursion in the productions. The parse tree will also be right-recursive, growing on the right side. </a:t>
            </a:r>
            <a:endParaRPr lang="en-US"/>
          </a:p>
          <a:p>
            <a:pPr lvl="1"/>
            <a:r>
              <a:rPr lang="en-US"/>
              <a:t>^ denotes a right associative operator.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6CC19BE-7371-47B2-943B-F4A7FF6ACF5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 smtClean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p>
            <a:r>
              <a:rPr lang="en-US"/>
              <a:t>Grammer:</a:t>
            </a:r>
            <a:endParaRPr lang="en-US"/>
          </a:p>
          <a:p>
            <a:pPr marL="0" indent="0">
              <a:buNone/>
            </a:pPr>
            <a:r>
              <a:rPr lang="en-US"/>
              <a:t>X -&gt; X - X  </a:t>
            </a:r>
            <a:endParaRPr lang="en-US"/>
          </a:p>
          <a:p>
            <a:pPr marL="0" indent="0">
              <a:buNone/>
            </a:pPr>
            <a:r>
              <a:rPr lang="en-US"/>
              <a:t>X -&gt; var/const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6CC19BE-7371-47B2-943B-F4A7FF6ACF5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3306445"/>
            <a:ext cx="3141345" cy="29603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71600"/>
            <a:ext cx="3138805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 smtClean="0">
                <a:solidFill>
                  <a:schemeClr val="tx1"/>
                </a:solidFill>
                <a:sym typeface="+mn-ea"/>
              </a:rPr>
              <a:t>Ambiguity – Associativity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4245610" cy="4572000"/>
          </a:xfrm>
        </p:spPr>
        <p:txBody>
          <a:bodyPr/>
          <a:p>
            <a:r>
              <a:rPr lang="en-US"/>
              <a:t>Grammer:</a:t>
            </a:r>
            <a:endParaRPr lang="en-US"/>
          </a:p>
          <a:p>
            <a:pPr marL="0" indent="0">
              <a:buNone/>
            </a:pPr>
            <a:r>
              <a:rPr lang="en-US"/>
              <a:t>X -&gt; X - P/P  </a:t>
            </a:r>
            <a:endParaRPr lang="en-US"/>
          </a:p>
          <a:p>
            <a:pPr marL="0" indent="0">
              <a:buNone/>
            </a:pPr>
            <a:r>
              <a:rPr lang="en-US"/>
              <a:t>P -&gt; var/ const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Md Zahim Hassan, BAUST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4674235" y="1527175"/>
            <a:ext cx="4245610" cy="45720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 panose="05020102010507070707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 panose="05000000000000000000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 panose="05020102010507070707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Corrected Grammer:</a:t>
            </a:r>
            <a:endParaRPr lang="en-US"/>
          </a:p>
          <a:p>
            <a:pPr marL="0" indent="0">
              <a:buNone/>
            </a:pPr>
            <a:r>
              <a:rPr lang="en-US"/>
              <a:t>X -&gt; X - P  </a:t>
            </a:r>
            <a:endParaRPr lang="en-US"/>
          </a:p>
          <a:p>
            <a:pPr marL="0" indent="457200">
              <a:buNone/>
            </a:pPr>
            <a:r>
              <a:rPr lang="en-US"/>
              <a:t>   X - X - P  </a:t>
            </a:r>
            <a:endParaRPr lang="en-US"/>
          </a:p>
          <a:p>
            <a:pPr marL="0" indent="457200">
              <a:buNone/>
            </a:pPr>
            <a:r>
              <a:rPr lang="en-US"/>
              <a:t>   P - P - var  </a:t>
            </a:r>
            <a:endParaRPr lang="en-US"/>
          </a:p>
          <a:p>
            <a:pPr marL="0" indent="0">
              <a:buNone/>
            </a:pPr>
            <a:r>
              <a:rPr lang="en-US"/>
              <a:t>        var - var - var</a:t>
            </a:r>
            <a:endParaRPr lang="en-US"/>
          </a:p>
          <a:p>
            <a:pPr marL="0" indent="0">
              <a:buNone/>
            </a:pPr>
            <a:r>
              <a:rPr lang="en-US"/>
              <a:t>        a-b-c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String: “a-b-c”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Left Recursion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8439" name="Date Placeholder 7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6642B7-F82B-4458-9F1D-16C34E130234}" type="datetime1">
              <a:rPr lang="en-US" smtClean="0"/>
            </a:fld>
            <a:endParaRPr lang="en-US"/>
          </a:p>
        </p:txBody>
      </p:sp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Md Zahim Hassan, BAUST</a:t>
            </a:r>
            <a:endParaRPr lang="en-US"/>
          </a:p>
        </p:txBody>
      </p:sp>
      <p:sp>
        <p:nvSpPr>
          <p:cNvPr id="184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E15B154-3387-4085-9D6D-F485D2B8ACFE}" type="slidenum">
              <a:rPr lang="en-US" smtClean="0"/>
            </a:fld>
            <a:endParaRPr lang="en-US" smtClean="0"/>
          </a:p>
        </p:txBody>
      </p:sp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grammar is  </a:t>
            </a:r>
            <a:r>
              <a:rPr lang="en-US" b="1" i="1" dirty="0" smtClean="0"/>
              <a:t>left recursive</a:t>
            </a:r>
            <a:r>
              <a:rPr lang="en-US" dirty="0" smtClean="0"/>
              <a:t>  if it has a non-terminal A such that there is  a derivation</a:t>
            </a:r>
            <a:endParaRPr lang="en-US" dirty="0" smtClean="0"/>
          </a:p>
          <a:p>
            <a:pPr>
              <a:buFontTx/>
              <a:buNone/>
            </a:pPr>
            <a:r>
              <a:rPr lang="en-US" sz="1000" dirty="0" smtClean="0"/>
              <a:t>	</a:t>
            </a:r>
            <a:endParaRPr lang="en-US" sz="1000" dirty="0" smtClean="0"/>
          </a:p>
          <a:p>
            <a:pPr>
              <a:buFontTx/>
              <a:buNone/>
            </a:pPr>
            <a:r>
              <a:rPr lang="en-US" dirty="0" smtClean="0"/>
              <a:t>	 A </a:t>
            </a:r>
            <a:r>
              <a:rPr lang="en-US" dirty="0" smtClean="0">
                <a:sym typeface="Symbol" panose="05050102010706020507" pitchFamily="18" charset="2"/>
              </a:rPr>
              <a:t> A	for some string  </a:t>
            </a:r>
            <a:endParaRPr lang="en-US" dirty="0" smtClean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dirty="0" smtClean="0">
              <a:sym typeface="Symbol" panose="05050102010706020507" pitchFamily="18" charset="2"/>
            </a:endParaRPr>
          </a:p>
          <a:p>
            <a:r>
              <a:rPr lang="en-US" dirty="0" smtClean="0">
                <a:sym typeface="Symbol" panose="05050102010706020507" pitchFamily="18" charset="2"/>
              </a:rPr>
              <a:t>Top-down parsing techniques </a:t>
            </a:r>
            <a:r>
              <a:rPr lang="en-US" b="1" dirty="0" smtClean="0">
                <a:sym typeface="Symbol" panose="05050102010706020507" pitchFamily="18" charset="2"/>
              </a:rPr>
              <a:t>cannot</a:t>
            </a:r>
            <a:r>
              <a:rPr lang="en-US" dirty="0" smtClean="0">
                <a:sym typeface="Symbol" panose="05050102010706020507" pitchFamily="18" charset="2"/>
              </a:rPr>
              <a:t> handle left-recursive grammars.</a:t>
            </a:r>
            <a:endParaRPr lang="en-US" dirty="0" smtClean="0">
              <a:sym typeface="Symbol" panose="05050102010706020507" pitchFamily="18" charset="2"/>
            </a:endParaRPr>
          </a:p>
          <a:p>
            <a:r>
              <a:rPr lang="en-US" dirty="0" smtClean="0">
                <a:sym typeface="Symbol" panose="05050102010706020507" pitchFamily="18" charset="2"/>
              </a:rPr>
              <a:t>So, we have to convert left-recursive grammar into an equivalent grammar which is not left-recursive.</a:t>
            </a:r>
            <a:endParaRPr lang="en-US" dirty="0" smtClean="0">
              <a:sym typeface="Symbol" panose="05050102010706020507" pitchFamily="18" charset="2"/>
            </a:endParaRPr>
          </a:p>
          <a:p>
            <a:r>
              <a:rPr lang="en-US" dirty="0" smtClean="0">
                <a:sym typeface="Symbol" panose="05050102010706020507" pitchFamily="18" charset="2"/>
              </a:rPr>
              <a:t>The left-recursion may appear in a single step of the derivation (</a:t>
            </a:r>
            <a:r>
              <a:rPr lang="en-US" i="1" dirty="0" smtClean="0">
                <a:sym typeface="Symbol" panose="05050102010706020507" pitchFamily="18" charset="2"/>
              </a:rPr>
              <a:t>immediate left-recursion</a:t>
            </a:r>
            <a:r>
              <a:rPr lang="en-US" dirty="0" smtClean="0">
                <a:sym typeface="Symbol" panose="05050102010706020507" pitchFamily="18" charset="2"/>
              </a:rPr>
              <a:t>), or may appear in more than one step of the derivation.</a:t>
            </a:r>
            <a:endParaRPr lang="en-US" dirty="0" smtClean="0">
              <a:sym typeface="Symbol" panose="05050102010706020507" pitchFamily="18" charset="2"/>
            </a:endParaRP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990600" y="2362200"/>
            <a:ext cx="261937" cy="30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sz="1400" dirty="0" smtClean="0">
                <a:latin typeface="Times New Roman" panose="02020603050405020304" charset="0"/>
              </a:rPr>
              <a:t>+</a:t>
            </a:r>
            <a:endParaRPr lang="en-US" sz="14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Eliminate Left-Recursion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9464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A3E1CD5-B13D-49DE-8F31-3FE8BCD3EB40}" type="datetime1">
              <a:rPr lang="en-US" smtClean="0"/>
            </a:fld>
            <a:endParaRPr lang="en-US"/>
          </a:p>
        </p:txBody>
      </p:sp>
      <p:sp>
        <p:nvSpPr>
          <p:cNvPr id="1945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Md Zahim Hassan, BAUST</a:t>
            </a:r>
            <a:endParaRPr lang="en-US"/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B2EE0C-D57F-42B6-B160-17A0276C3FF6}" type="slidenum">
              <a:rPr lang="en-US" smtClean="0"/>
            </a:fld>
            <a:endParaRPr lang="en-US" smtClean="0"/>
          </a:p>
        </p:txBody>
      </p: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914400" y="2209800"/>
            <a:ext cx="7467600" cy="20744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  A  |       	where  does not start with A</a:t>
            </a:r>
            <a:endParaRPr lang="en-US" sz="28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	</a:t>
            </a: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	eliminate immediate left </a:t>
            </a: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recursion</a:t>
            </a:r>
            <a:endParaRPr lang="en-US" sz="28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A   </a:t>
            </a: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8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800" baseline="30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800" baseline="30000" dirty="0" smtClean="0">
                <a:latin typeface="Times New Roman" panose="02020603050405020304" charset="0"/>
                <a:sym typeface="Symbol" panose="05050102010706020507"/>
              </a:rPr>
              <a:t> </a:t>
            </a: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 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 </a:t>
            </a: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800" baseline="30000" dirty="0" smtClean="0">
                <a:latin typeface="Times New Roman" panose="02020603050405020304" charset="0"/>
                <a:sym typeface="Symbol" panose="05050102010706020507"/>
              </a:rPr>
              <a:t> </a:t>
            </a:r>
            <a:r>
              <a:rPr lang="en-US" sz="28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800" dirty="0">
                <a:latin typeface="Times New Roman" panose="02020603050405020304" charset="0"/>
                <a:sym typeface="Symbol" panose="05050102010706020507" pitchFamily="18" charset="2"/>
              </a:rPr>
              <a:t>|   	an equivalent grammar</a:t>
            </a:r>
            <a:endParaRPr lang="en-US" sz="28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Immediate Left-Recursion - Example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0489" name="Date Placeholder 9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4F5D467-1797-4A78-85E3-F71F77B0F7BE}" type="datetime1">
              <a:rPr lang="en-US" smtClean="0"/>
            </a:fld>
            <a:endParaRPr lang="en-US"/>
          </a:p>
        </p:txBody>
      </p:sp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/>
              <a:t>Md Zahim Hassan, BAUST</a:t>
            </a:r>
            <a:endParaRPr lang="en-US"/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03012EF-1294-4D6B-B2DB-EFAAFE0B2569}" type="slidenum">
              <a:rPr lang="en-US" smtClean="0"/>
            </a:fld>
            <a:endParaRPr lang="en-US" smtClean="0"/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1476374" y="1508125"/>
            <a:ext cx="2943225" cy="15204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 E+T  |  T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  T*F  |  F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F  id  |  (E)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1547813" y="3505200"/>
            <a:ext cx="1730410" cy="23945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  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TE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baseline="-25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E</a:t>
            </a:r>
            <a:r>
              <a:rPr lang="en-US" sz="20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000" baseline="-250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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+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TE</a:t>
            </a:r>
            <a:r>
              <a:rPr lang="en-US" sz="20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| 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  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FT</a:t>
            </a:r>
            <a:r>
              <a:rPr lang="en-US" sz="20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T</a:t>
            </a:r>
            <a:r>
              <a:rPr lang="en-US" sz="2200" baseline="30000" dirty="0">
                <a:latin typeface="Times New Roman" panose="02020603050405020304" charset="0"/>
                <a:sym typeface="Symbol" panose="05050102010706020507" pitchFamily="18" charset="2"/>
              </a:rPr>
              <a:t>’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 *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FT</a:t>
            </a:r>
            <a:r>
              <a:rPr lang="en-US" sz="20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| 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F  id 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| (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E)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</a:endParaRPr>
          </a:p>
        </p:txBody>
      </p:sp>
      <p:sp>
        <p:nvSpPr>
          <p:cNvPr id="20487" name="Text Box 5"/>
          <p:cNvSpPr txBox="1">
            <a:spLocks noChangeArrowheads="1"/>
          </p:cNvSpPr>
          <p:nvPr/>
        </p:nvSpPr>
        <p:spPr bwMode="auto">
          <a:xfrm>
            <a:off x="1743075" y="2784475"/>
            <a:ext cx="185738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20488" name="Text Box 6"/>
          <p:cNvSpPr txBox="1">
            <a:spLocks noChangeArrowheads="1"/>
          </p:cNvSpPr>
          <p:nvPr/>
        </p:nvSpPr>
        <p:spPr bwMode="auto">
          <a:xfrm>
            <a:off x="1828800" y="2819400"/>
            <a:ext cx="4987263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charset="0"/>
                <a:sym typeface="Symbol" panose="05050102010706020507" pitchFamily="18" charset="2"/>
              </a:rPr>
              <a:t></a:t>
            </a:r>
            <a:r>
              <a:rPr lang="en-US" dirty="0">
                <a:latin typeface="Times New Roman" panose="02020603050405020304" charset="0"/>
                <a:sym typeface="Symbol" panose="05050102010706020507" pitchFamily="18" charset="2"/>
              </a:rPr>
              <a:t> 	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eliminate immediate left recursion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Immediate Left-Recursion</a:t>
            </a:r>
            <a:endParaRPr lang="en-US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28600" y="3048000"/>
            <a:ext cx="8610599" cy="17912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  A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... | A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m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| ...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   where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...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do not start with A</a:t>
            </a:r>
            <a:endParaRPr lang="en-US" sz="24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		eliminate immediate left recursion</a:t>
            </a:r>
            <a:endParaRPr lang="en-US" sz="24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A 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| ... | 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n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/>
              </a:rPr>
              <a:t> </a:t>
            </a:r>
            <a:endParaRPr lang="en-US" sz="2400" baseline="300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pPr>
              <a:spcBef>
                <a:spcPct val="20000"/>
              </a:spcBef>
            </a:pP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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1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 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| ... | </a:t>
            </a:r>
            <a:r>
              <a:rPr lang="en-US" sz="2400" baseline="-25000" dirty="0">
                <a:latin typeface="Times New Roman" panose="02020603050405020304" charset="0"/>
                <a:sym typeface="Symbol" panose="05050102010706020507" pitchFamily="18" charset="2"/>
              </a:rPr>
              <a:t>m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A</a:t>
            </a:r>
            <a:r>
              <a:rPr lang="en-US" sz="2400" baseline="30000" dirty="0" smtClean="0">
                <a:latin typeface="Times New Roman" panose="02020603050405020304" charset="0"/>
                <a:sym typeface="Symbol" panose="05050102010706020507"/>
              </a:rPr>
              <a:t></a:t>
            </a:r>
            <a:r>
              <a:rPr lang="en-US" sz="24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400" dirty="0">
                <a:latin typeface="Times New Roman" panose="02020603050405020304" charset="0"/>
                <a:sym typeface="Symbol" panose="05050102010706020507" pitchFamily="18" charset="2"/>
              </a:rPr>
              <a:t>|  		an equivalent grammar</a:t>
            </a:r>
            <a:endParaRPr lang="en-US" sz="24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57200" y="2286000"/>
            <a:ext cx="171874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charset="0"/>
              </a:rPr>
              <a:t>In general,</a:t>
            </a:r>
            <a:endParaRPr lang="en-US" sz="2800" dirty="0">
              <a:latin typeface="Times New Roman" panose="0202060305040502030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10832E6-B55A-4E24-AC1A-FA114B576BC7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6CC19BE-7371-47B2-943B-F4A7FF6ACF5A}" type="slidenum">
              <a:rPr lang="en-US" smtClean="0"/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Md Zahim Hassan, BAUST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Left-Recursion -- Problem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1512" name="Date Placeholder 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9460068-D3C0-4B19-8C05-08B63B7F6871}" type="datetime1">
              <a:rPr lang="en-US" smtClean="0"/>
            </a:fld>
            <a:endParaRPr lang="en-US"/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Md Zahim Hassan, BAUST</a:t>
            </a:r>
            <a:endParaRPr lang="en-US" dirty="0"/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67428E2-6891-43D8-B6C3-B4A4CFB6D734}" type="slidenum">
              <a:rPr lang="en-US" smtClean="0"/>
            </a:fld>
            <a:endParaRPr lang="en-US" smtClean="0"/>
          </a:p>
        </p:txBody>
      </p:sp>
      <p:sp>
        <p:nvSpPr>
          <p:cNvPr id="21509" name="Text Box 3"/>
          <p:cNvSpPr txBox="1">
            <a:spLocks noChangeArrowheads="1"/>
          </p:cNvSpPr>
          <p:nvPr/>
        </p:nvSpPr>
        <p:spPr bwMode="auto">
          <a:xfrm>
            <a:off x="492124" y="1466850"/>
            <a:ext cx="8194675" cy="144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A grammar cannot be immediately left-recursive, but it still can be </a:t>
            </a:r>
            <a:endParaRPr lang="en-US" sz="2200" dirty="0">
              <a:latin typeface="Times New Roman" panose="02020603050405020304" charset="0"/>
            </a:endParaRPr>
          </a:p>
          <a:p>
            <a:r>
              <a:rPr lang="en-US" sz="2200" dirty="0">
                <a:latin typeface="Times New Roman" panose="02020603050405020304" charset="0"/>
              </a:rPr>
              <a:t>   left-recursive.</a:t>
            </a:r>
            <a:endParaRPr lang="en-US" sz="2200" dirty="0">
              <a:latin typeface="Times New Roman" panose="02020603050405020304" charset="0"/>
            </a:endParaRPr>
          </a:p>
          <a:p>
            <a:pPr>
              <a:buFontTx/>
              <a:buChar char="•"/>
            </a:pPr>
            <a:r>
              <a:rPr lang="en-US" sz="2200" dirty="0">
                <a:latin typeface="Times New Roman" panose="02020603050405020304" charset="0"/>
              </a:rPr>
              <a:t>  By just eliminating the immediate left-recursion, we may not get </a:t>
            </a:r>
            <a:endParaRPr lang="en-US" sz="2200" dirty="0">
              <a:latin typeface="Times New Roman" panose="02020603050405020304" charset="0"/>
            </a:endParaRPr>
          </a:p>
          <a:p>
            <a:r>
              <a:rPr lang="en-US" sz="2200" dirty="0">
                <a:latin typeface="Times New Roman" panose="02020603050405020304" charset="0"/>
              </a:rPr>
              <a:t>   a grammar which is not left-recursive.</a:t>
            </a:r>
            <a:endParaRPr lang="en-US" sz="2200" dirty="0">
              <a:latin typeface="Times New Roman" panose="02020603050405020304" charset="0"/>
            </a:endParaRP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688975" y="3470275"/>
            <a:ext cx="184150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en-US">
              <a:latin typeface="Times New Roman" panose="02020603050405020304" charset="0"/>
            </a:endParaRPr>
          </a:p>
        </p:txBody>
      </p:sp>
      <p:sp>
        <p:nvSpPr>
          <p:cNvPr id="21511" name="Text Box 5"/>
          <p:cNvSpPr txBox="1">
            <a:spLocks noChangeArrowheads="1"/>
          </p:cNvSpPr>
          <p:nvPr/>
        </p:nvSpPr>
        <p:spPr bwMode="auto">
          <a:xfrm>
            <a:off x="561975" y="3124200"/>
            <a:ext cx="7725192" cy="28007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S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| b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A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 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Ac |</a:t>
            </a:r>
            <a:r>
              <a:rPr lang="en-US" sz="2200" dirty="0" err="1" smtClean="0">
                <a:latin typeface="Times New Roman" panose="02020603050405020304" charset="0"/>
                <a:sym typeface="Symbol" panose="05050102010706020507" pitchFamily="18" charset="2"/>
              </a:rPr>
              <a:t>Sd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| </a:t>
            </a:r>
            <a:r>
              <a:rPr lang="en-US" sz="2000" dirty="0" smtClean="0">
                <a:latin typeface="Times New Roman" panose="02020603050405020304" charset="0"/>
                <a:sym typeface="Symbol" panose="05050102010706020507" pitchFamily="18" charset="2"/>
              </a:rPr>
              <a:t>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This grammar is not immediately left-recursive,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		but it is still left-recursive.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S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 </a:t>
            </a:r>
            <a:r>
              <a:rPr lang="en-US" sz="2200" dirty="0" err="1">
                <a:latin typeface="Times New Roman" panose="02020603050405020304" charset="0"/>
                <a:sym typeface="Symbol" panose="05050102010706020507" pitchFamily="18" charset="2"/>
              </a:rPr>
              <a:t>Aa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  </a:t>
            </a:r>
            <a:r>
              <a:rPr lang="en-US" sz="2200" dirty="0" err="1" smtClean="0">
                <a:latin typeface="Times New Roman" panose="02020603050405020304" charset="0"/>
                <a:sym typeface="Symbol" panose="05050102010706020507" pitchFamily="18" charset="2"/>
              </a:rPr>
              <a:t>Sda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  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or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A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 </a:t>
            </a:r>
            <a:r>
              <a:rPr lang="en-US" sz="2200" dirty="0" err="1" smtClean="0">
                <a:latin typeface="Times New Roman" panose="02020603050405020304" charset="0"/>
                <a:sym typeface="Symbol" panose="05050102010706020507" pitchFamily="18" charset="2"/>
              </a:rPr>
              <a:t>Sd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 </a:t>
            </a:r>
            <a:r>
              <a:rPr lang="en-US" sz="2200" dirty="0" err="1" smtClean="0">
                <a:latin typeface="Times New Roman" panose="02020603050405020304" charset="0"/>
                <a:sym typeface="Symbol" panose="05050102010706020507" pitchFamily="18" charset="2"/>
              </a:rPr>
              <a:t>Aad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	causes to a left-recursion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  <a:p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</a:t>
            </a:r>
            <a:r>
              <a:rPr lang="en-US" sz="2200" dirty="0">
                <a:latin typeface="Times New Roman" panose="02020603050405020304" charset="0"/>
                <a:sym typeface="Symbol" panose="05050102010706020507" pitchFamily="18" charset="2"/>
              </a:rPr>
              <a:t>So, we have to eliminate all left-recursions from </a:t>
            </a:r>
            <a:r>
              <a:rPr lang="en-US" sz="2200" dirty="0" smtClean="0">
                <a:latin typeface="Times New Roman" panose="02020603050405020304" charset="0"/>
                <a:sym typeface="Symbol" panose="05050102010706020507" pitchFamily="18" charset="2"/>
              </a:rPr>
              <a:t> this grammar</a:t>
            </a:r>
            <a:endParaRPr lang="en-US" sz="2200" dirty="0">
              <a:latin typeface="Times New Roman" panose="0202060305040502030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0</TotalTime>
  <Words>2862</Words>
  <Application>WPS Presentation</Application>
  <PresentationFormat>On-screen Show (4:3)</PresentationFormat>
  <Paragraphs>176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Wingdings 2</vt:lpstr>
      <vt:lpstr>Wingdings</vt:lpstr>
      <vt:lpstr>Symbol</vt:lpstr>
      <vt:lpstr>Courier New</vt:lpstr>
      <vt:lpstr>Georgia</vt:lpstr>
      <vt:lpstr>Microsoft YaHei</vt:lpstr>
      <vt:lpstr>Arial Unicode MS</vt:lpstr>
      <vt:lpstr>Calibri</vt:lpstr>
      <vt:lpstr>Times New Roman</vt:lpstr>
      <vt:lpstr>Symbol</vt:lpstr>
      <vt:lpstr>方正舒体</vt:lpstr>
      <vt:lpstr>Siyam Rupali</vt:lpstr>
      <vt:lpstr>Civic</vt:lpstr>
      <vt:lpstr>Syntax Analysis</vt:lpstr>
      <vt:lpstr>Ambiguity – Operator Precedence</vt:lpstr>
      <vt:lpstr>Ambiguity – Associativity</vt:lpstr>
      <vt:lpstr>Ambiguity – Associativity</vt:lpstr>
      <vt:lpstr>Ambiguity – Associativity</vt:lpstr>
      <vt:lpstr>Left Recursion</vt:lpstr>
      <vt:lpstr>Eliminate Left-Recursion</vt:lpstr>
      <vt:lpstr>Immediate Left-Recursion - Example</vt:lpstr>
      <vt:lpstr>Immediate Left-Recursion</vt:lpstr>
      <vt:lpstr>Left-Recursion --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K.M.Azharul Hasan</dc:creator>
  <cp:lastModifiedBy>Asus</cp:lastModifiedBy>
  <cp:revision>59</cp:revision>
  <dcterms:created xsi:type="dcterms:W3CDTF">2014-01-13T03:44:00Z</dcterms:created>
  <dcterms:modified xsi:type="dcterms:W3CDTF">2024-09-16T16:20:20Z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7C3197E1DBC44EEDBED7F137840BBDF8_12</vt:lpwstr>
  </property>
  <property fmtid="{D5CDD505-2E9C-101B-9397-08002B2CF9AE}" pid="3" name="KSOProductBuildVer">
    <vt:lpwstr>1033-12.2.0.18283</vt:lpwstr>
  </property>
</Properties>
</file>