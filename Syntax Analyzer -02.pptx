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7" r:id="rId2"/>
    <p:sldId id="259" r:id="rId3"/>
    <p:sldId id="288" r:id="rId4"/>
    <p:sldId id="260" r:id="rId5"/>
    <p:sldId id="277" r:id="rId6"/>
    <p:sldId id="261" r:id="rId7"/>
    <p:sldId id="262" r:id="rId8"/>
    <p:sldId id="263" r:id="rId9"/>
    <p:sldId id="264" r:id="rId10"/>
    <p:sldId id="289" r:id="rId11"/>
    <p:sldId id="265" r:id="rId12"/>
    <p:sldId id="266" r:id="rId13"/>
    <p:sldId id="267" r:id="rId14"/>
    <p:sldId id="258" r:id="rId15"/>
  </p:sldIdLst>
  <p:sldSz cx="9144000" cy="6858000" type="screen4x3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A0F27-E506-48B5-B12F-DDB3AB2F6F71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6719D9-0D54-468E-9D6A-52EE7CFF4AA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2184D40-4F0F-49A5-ADCD-8A936DA22F34}" type="slidenum">
              <a:rPr lang="en-US">
                <a:latin typeface="Arial" panose="020B0604020202020204" pitchFamily="34" charset="0"/>
              </a:rPr>
              <a:t>1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ln>
            <a:miter lim="800000"/>
          </a:ln>
        </p:spPr>
        <p:txBody>
          <a:bodyPr wrap="square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/>
              <a:t>lec04-bottomupparser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ln>
            <a:miter lim="800000"/>
          </a:ln>
        </p:spPr>
        <p:txBody>
          <a:bodyPr wrap="square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7FCC91F-1FF2-4F80-B51E-37EA44C44252}" type="datetime4">
              <a:rPr lang="en-US"/>
              <a:t>November 26, 2025</a:t>
            </a:fld>
            <a:endParaRPr lang="en-US"/>
          </a:p>
        </p:txBody>
      </p:sp>
      <p:sp>
        <p:nvSpPr>
          <p:cNvPr id="12698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D2821DB-D52A-4683-A19C-EE8A993D934F}" type="slidenum">
              <a:rPr lang="en-US"/>
              <a:t>2</a:t>
            </a:fld>
            <a:endParaRPr lang="en-US"/>
          </a:p>
        </p:txBody>
      </p:sp>
      <p:sp>
        <p:nvSpPr>
          <p:cNvPr id="1269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2698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B18FA-0101-49B4-91AE-A96DDC31DB15}" type="datetime1">
              <a:rPr lang="en-US" smtClean="0"/>
              <a:t>11/26/2025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1F8A606-8ADA-4191-AC01-87413FC9764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8F89-2773-466C-9BC0-004AAE412BD6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1F8A606-8ADA-4191-AC01-87413FC9764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990BF-9DB1-4B1E-927A-365EE0355E2A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1F8A606-8ADA-4191-AC01-87413FC9764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1AC7FF52-27A0-44E7-A350-DABEF752F7B5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A606-8ADA-4191-AC01-87413FC9764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1664B-0D21-4308-BC60-6D5D7DF6C75A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1F8A606-8ADA-4191-AC01-87413FC97642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F3219-A5F0-4D44-8433-1B0220E13F6A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1F8A606-8ADA-4191-AC01-87413FC976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A5-C620-44FE-9538-A344AF85243B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1F8A606-8ADA-4191-AC01-87413FC976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1F8A606-8ADA-4191-AC01-87413FC97642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3FA5A-33F2-4B85-9AD3-C70A99AB191B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1F8A606-8ADA-4191-AC01-87413FC97642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03188BF7-EF46-43C4-9EB5-4A58B025A58C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6B95C-7156-4215-B2B0-13866F199EE3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A606-8ADA-4191-AC01-87413FC9764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1F8A606-8ADA-4191-AC01-87413FC9764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859DB-2F0E-4155-8EC8-452BA62B3152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321B3515-1D11-467B-B830-6C16EBF8CFA6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1F8A606-8ADA-4191-AC01-87413FC97642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 panose="05000000000000000000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 panose="05020102010507070707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 panose="05000000000000000000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057400"/>
            <a:ext cx="8077200" cy="1219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4800" b="1" dirty="0">
                <a:solidFill>
                  <a:schemeClr val="tx1"/>
                </a:solidFill>
                <a:latin typeface="+mn-lt"/>
              </a:rPr>
              <a:t>Syntax Analysis</a:t>
            </a:r>
          </a:p>
        </p:txBody>
      </p:sp>
      <p:sp>
        <p:nvSpPr>
          <p:cNvPr id="307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3FB5B34-BF00-46F4-B9F5-824F4E951847}" type="datetime1">
              <a:rPr lang="en-US" smtClean="0">
                <a:latin typeface="Arial" panose="020B0604020202020204" pitchFamily="34" charset="0"/>
              </a:rPr>
              <a:t>11/26/2025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0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96DA8DC-BF72-4030-82CD-5BDDC1EA7C12}" type="slidenum">
              <a:rPr lang="en-US" smtClean="0">
                <a:latin typeface="Arial" panose="020B0604020202020204" pitchFamily="34" charset="0"/>
              </a:rPr>
              <a:t>1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3600" y="3429000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Part III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Parsing</a:t>
            </a:r>
          </a:p>
        </p:txBody>
      </p:sp>
      <p:sp>
        <p:nvSpPr>
          <p:cNvPr id="63494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B071B66-41A2-464B-B048-706C5ADEDBDF}" type="datetime1">
              <a:rPr lang="en-US" smtClean="0"/>
              <a:t>11/26/2025</a:t>
            </a:fld>
            <a:endParaRPr lang="en-US"/>
          </a:p>
        </p:txBody>
      </p:sp>
      <p:sp>
        <p:nvSpPr>
          <p:cNvPr id="6349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6F8C07D-89C7-4F17-AD42-29139673E6F5}" type="slidenum">
              <a:rPr lang="en-US" smtClean="0"/>
              <a:t>2</a:t>
            </a:fld>
            <a:endParaRPr lang="en-US"/>
          </a:p>
        </p:txBody>
      </p:sp>
      <p:sp>
        <p:nvSpPr>
          <p:cNvPr id="6349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371600"/>
            <a:ext cx="8651875" cy="495300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bottom-up parser</a:t>
            </a:r>
            <a:r>
              <a:rPr lang="en-US" dirty="0"/>
              <a:t> creates the parse tree of the given input starting from </a:t>
            </a:r>
            <a:r>
              <a:rPr lang="en-US" dirty="0">
                <a:solidFill>
                  <a:srgbClr val="FF0000"/>
                </a:solidFill>
              </a:rPr>
              <a:t>leaves towards </a:t>
            </a:r>
            <a:r>
              <a:rPr lang="en-US" dirty="0"/>
              <a:t>the root.</a:t>
            </a:r>
          </a:p>
          <a:p>
            <a:r>
              <a:rPr lang="en-US" dirty="0"/>
              <a:t>A bottom-up parser tries to find the </a:t>
            </a:r>
            <a:r>
              <a:rPr lang="en-US" dirty="0">
                <a:solidFill>
                  <a:srgbClr val="FF0000"/>
                </a:solidFill>
              </a:rPr>
              <a:t>right-most derivation </a:t>
            </a:r>
            <a:r>
              <a:rPr lang="en-US" dirty="0"/>
              <a:t>of the given input in the reverse order.</a:t>
            </a:r>
          </a:p>
          <a:p>
            <a:pPr lvl="1">
              <a:buFontTx/>
              <a:buNone/>
            </a:pPr>
            <a:r>
              <a:rPr lang="en-US" sz="2400" dirty="0"/>
              <a:t>	S </a:t>
            </a:r>
            <a:r>
              <a:rPr lang="en-US" sz="2400" dirty="0">
                <a:sym typeface="Symbol" panose="05050102010706020507" pitchFamily="18" charset="2"/>
              </a:rPr>
              <a:t> ...     (the right-most derivation of )		</a:t>
            </a:r>
            <a:endParaRPr lang="en-US" sz="2400" dirty="0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29698" name="AutoShape 2" descr="https://encrypted-tbn2.gstatic.com/images?q=tbn:ANd9GcR9Fzsj8APV1wP3NANrVMK_8T2PLEcJuwzYSSvAtvZleSLiZz4SkQ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GB"/>
          </a:p>
        </p:txBody>
      </p:sp>
      <p:pic>
        <p:nvPicPr>
          <p:cNvPr id="8" name="Picture 7" descr="b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3810000"/>
            <a:ext cx="4800600" cy="2514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Parsing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8F89-2773-466C-9BC0-004AAE412BD6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A606-8ADA-4191-AC01-87413FC97642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Bottom-up parsing is also known as </a:t>
            </a:r>
            <a:r>
              <a:rPr lang="en-US" b="1" dirty="0"/>
              <a:t>shift-reduce parsing</a:t>
            </a:r>
            <a:r>
              <a:rPr lang="en-US" dirty="0"/>
              <a:t> because its two main actions;  shift and reduce.</a:t>
            </a:r>
          </a:p>
          <a:p>
            <a:pPr lvl="1"/>
            <a:r>
              <a:rPr lang="en-US" sz="2400" dirty="0"/>
              <a:t>At each shift action, the current symbol in the input string is pushed to a stack.</a:t>
            </a:r>
          </a:p>
          <a:p>
            <a:pPr lvl="1"/>
            <a:r>
              <a:rPr lang="en-US" sz="2400" dirty="0"/>
              <a:t>At each reduction step, the symbols at the top of the stack will be replaced by the non-terminal at the left side of that production.</a:t>
            </a:r>
          </a:p>
          <a:p>
            <a:pPr lvl="1"/>
            <a:r>
              <a:rPr lang="en-US" sz="2400" dirty="0"/>
              <a:t>There are also two more actions: accept and error.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Shift-Reduce Parsing</a:t>
            </a:r>
          </a:p>
        </p:txBody>
      </p:sp>
      <p:sp>
        <p:nvSpPr>
          <p:cNvPr id="64522" name="Date Placeholder 10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D6755E4-9B37-4181-967D-8422BD62D518}" type="datetime1">
              <a:rPr lang="en-US" smtClean="0"/>
              <a:t>11/26/2025</a:t>
            </a:fld>
            <a:endParaRPr lang="en-US"/>
          </a:p>
        </p:txBody>
      </p:sp>
      <p:sp>
        <p:nvSpPr>
          <p:cNvPr id="6451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DF59781-9C49-476B-A382-E4F73F2C82CC}" type="slidenum">
              <a:rPr lang="en-US" smtClean="0"/>
              <a:t>4</a:t>
            </a:fld>
            <a:endParaRPr lang="en-US"/>
          </a:p>
        </p:txBody>
      </p:sp>
      <p:sp>
        <p:nvSpPr>
          <p:cNvPr id="6451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A shift-reduce parser tries to </a:t>
            </a:r>
            <a:r>
              <a:rPr lang="en-US" sz="2400" dirty="0">
                <a:solidFill>
                  <a:srgbClr val="FF0000"/>
                </a:solidFill>
              </a:rPr>
              <a:t>reduce </a:t>
            </a:r>
            <a:r>
              <a:rPr lang="en-US" sz="2400" dirty="0"/>
              <a:t>the given input string into the </a:t>
            </a:r>
            <a:r>
              <a:rPr lang="en-US" sz="2400" dirty="0">
                <a:solidFill>
                  <a:srgbClr val="FF0000"/>
                </a:solidFill>
              </a:rPr>
              <a:t>starting symbol</a:t>
            </a:r>
            <a:r>
              <a:rPr lang="en-US" sz="2400" dirty="0"/>
              <a:t>.</a:t>
            </a:r>
          </a:p>
          <a:p>
            <a:endParaRPr lang="en-US" sz="1000" dirty="0"/>
          </a:p>
          <a:p>
            <a:r>
              <a:rPr lang="en-US" sz="2400" dirty="0"/>
              <a:t>At each reduction step, </a:t>
            </a:r>
          </a:p>
          <a:p>
            <a:pPr lvl="1"/>
            <a:r>
              <a:rPr lang="en-US" sz="2400" dirty="0"/>
              <a:t>a substring of the input matched to the right side of a production rule</a:t>
            </a:r>
          </a:p>
          <a:p>
            <a:pPr lvl="1"/>
            <a:r>
              <a:rPr lang="en-US" sz="2400" dirty="0"/>
              <a:t>And replaced by the non-terminal at the left side of that production rule.</a:t>
            </a:r>
          </a:p>
          <a:p>
            <a:r>
              <a:rPr lang="en-US" sz="2400" dirty="0"/>
              <a:t>If the substring is chosen correctly, the right most derivation of that string is created in the </a:t>
            </a:r>
            <a:r>
              <a:rPr lang="en-US" sz="2400" dirty="0">
                <a:solidFill>
                  <a:srgbClr val="FF0000"/>
                </a:solidFill>
              </a:rPr>
              <a:t>reverse order</a:t>
            </a:r>
            <a:r>
              <a:rPr lang="en-US" sz="2400" dirty="0"/>
              <a:t>.</a:t>
            </a:r>
          </a:p>
          <a:p>
            <a:endParaRPr lang="en-US" sz="1000" dirty="0"/>
          </a:p>
          <a:p>
            <a:pPr>
              <a:buFontTx/>
              <a:buNone/>
            </a:pPr>
            <a:r>
              <a:rPr lang="en-US" sz="2000" dirty="0"/>
              <a:t>		</a:t>
            </a:r>
            <a:r>
              <a:rPr lang="en-US" sz="2000" dirty="0">
                <a:sym typeface="Symbol" panose="05050102010706020507" pitchFamily="18" charset="2"/>
              </a:rPr>
              <a:t>		</a:t>
            </a:r>
          </a:p>
          <a:p>
            <a:pPr>
              <a:buFontTx/>
              <a:buNone/>
            </a:pPr>
            <a:r>
              <a:rPr lang="en-US" sz="2000" dirty="0"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Shift-Reduce Parsing -- Example</a:t>
            </a:r>
          </a:p>
        </p:txBody>
      </p:sp>
      <p:sp>
        <p:nvSpPr>
          <p:cNvPr id="65551" name="Date Placeholder 15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F09BCD5-0807-4709-9701-A8ACBD0BD2C2}" type="datetime1">
              <a:rPr lang="en-US" smtClean="0"/>
              <a:t>11/26/2025</a:t>
            </a:fld>
            <a:endParaRPr lang="en-US"/>
          </a:p>
        </p:txBody>
      </p:sp>
      <p:sp>
        <p:nvSpPr>
          <p:cNvPr id="655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0CAA2BC-A0A5-40FC-A8D4-F22E555E2F35}" type="slidenum">
              <a:rPr lang="en-US" smtClean="0"/>
              <a:t>5</a:t>
            </a:fld>
            <a:endParaRPr lang="en-US"/>
          </a:p>
        </p:txBody>
      </p:sp>
      <p:sp>
        <p:nvSpPr>
          <p:cNvPr id="6554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Tx/>
              <a:buNone/>
            </a:pPr>
            <a:r>
              <a:rPr lang="en-US" dirty="0"/>
              <a:t>S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 err="1">
                <a:sym typeface="Symbol" panose="05050102010706020507" pitchFamily="18" charset="2"/>
              </a:rPr>
              <a:t>aABe</a:t>
            </a:r>
            <a:r>
              <a:rPr lang="en-US" dirty="0">
                <a:sym typeface="Symbol" panose="05050102010706020507" pitchFamily="18" charset="2"/>
              </a:rPr>
              <a:t>			 input string:	</a:t>
            </a:r>
            <a:r>
              <a:rPr lang="en-US" dirty="0" err="1">
                <a:latin typeface="Courier New" panose="02070309020205020404" pitchFamily="49" charset="0"/>
                <a:sym typeface="Symbol" panose="05050102010706020507" pitchFamily="18" charset="2"/>
              </a:rPr>
              <a:t>a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b</a:t>
            </a:r>
            <a:r>
              <a:rPr lang="en-US" dirty="0" err="1">
                <a:latin typeface="Courier New" panose="02070309020205020404" pitchFamily="49" charset="0"/>
                <a:sym typeface="Symbol" panose="05050102010706020507" pitchFamily="18" charset="2"/>
              </a:rPr>
              <a:t>bcde</a:t>
            </a:r>
            <a:endParaRPr 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A  </a:t>
            </a:r>
            <a:r>
              <a:rPr lang="en-US" dirty="0" err="1">
                <a:sym typeface="Symbol" panose="05050102010706020507" pitchFamily="18" charset="2"/>
              </a:rPr>
              <a:t>Abc</a:t>
            </a:r>
            <a:r>
              <a:rPr lang="en-US" dirty="0">
                <a:sym typeface="Symbol" panose="05050102010706020507" pitchFamily="18" charset="2"/>
              </a:rPr>
              <a:t>  |b				            </a:t>
            </a:r>
            <a:r>
              <a:rPr lang="en-US" dirty="0" err="1">
                <a:sym typeface="Symbol" panose="05050102010706020507" pitchFamily="18" charset="2"/>
              </a:rPr>
              <a:t>a</a:t>
            </a:r>
            <a:r>
              <a:rPr lang="en-US" dirty="0" err="1">
                <a:solidFill>
                  <a:srgbClr val="FF0000"/>
                </a:solidFill>
                <a:sym typeface="Symbol" panose="05050102010706020507" pitchFamily="18" charset="2"/>
              </a:rPr>
              <a:t>Abc</a:t>
            </a:r>
            <a:r>
              <a:rPr lang="en-US" dirty="0" err="1">
                <a:sym typeface="Symbol" panose="05050102010706020507" pitchFamily="18" charset="2"/>
              </a:rPr>
              <a:t>de</a:t>
            </a:r>
            <a:r>
              <a:rPr lang="en-US" dirty="0">
                <a:sym typeface="Symbol" panose="05050102010706020507" pitchFamily="18" charset="2"/>
              </a:rPr>
              <a:t> 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B  d					            </a:t>
            </a:r>
            <a:r>
              <a:rPr lang="en-US" dirty="0" err="1">
                <a:sym typeface="Symbol" panose="05050102010706020507" pitchFamily="18" charset="2"/>
              </a:rPr>
              <a:t>aA</a:t>
            </a:r>
            <a:r>
              <a:rPr lang="en-US" dirty="0" err="1">
                <a:solidFill>
                  <a:srgbClr val="FF0000"/>
                </a:solidFill>
                <a:sym typeface="Symbol" panose="05050102010706020507" pitchFamily="18" charset="2"/>
              </a:rPr>
              <a:t>d</a:t>
            </a:r>
            <a:r>
              <a:rPr lang="en-US" dirty="0" err="1">
                <a:sym typeface="Symbol" panose="05050102010706020507" pitchFamily="18" charset="2"/>
              </a:rPr>
              <a:t>e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 									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aABe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							S</a:t>
            </a:r>
            <a:endParaRPr lang="en-US" dirty="0">
              <a:solidFill>
                <a:srgbClr val="CC0000"/>
              </a:solidFill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							</a:t>
            </a:r>
          </a:p>
          <a:p>
            <a:pPr>
              <a:buFontTx/>
              <a:buNone/>
            </a:pPr>
            <a:endParaRPr lang="en-US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S  </a:t>
            </a:r>
            <a:r>
              <a:rPr lang="en-US" dirty="0" err="1">
                <a:latin typeface="Courier New" panose="02070309020205020404" pitchFamily="49" charset="0"/>
                <a:sym typeface="Symbol" panose="05050102010706020507" pitchFamily="18" charset="2"/>
              </a:rPr>
              <a:t>aABe</a:t>
            </a:r>
            <a:r>
              <a:rPr lang="en-US" dirty="0">
                <a:sym typeface="Symbol" panose="05050102010706020507" pitchFamily="18" charset="2"/>
              </a:rPr>
              <a:t>  </a:t>
            </a:r>
            <a:r>
              <a:rPr lang="en-US" dirty="0" err="1">
                <a:sym typeface="Symbol" panose="05050102010706020507" pitchFamily="18" charset="2"/>
              </a:rPr>
              <a:t>aAde</a:t>
            </a:r>
            <a:r>
              <a:rPr lang="en-US" dirty="0">
                <a:sym typeface="Symbol" panose="05050102010706020507" pitchFamily="18" charset="2"/>
              </a:rPr>
              <a:t>  </a:t>
            </a:r>
            <a:r>
              <a:rPr lang="en-US" dirty="0" err="1">
                <a:sym typeface="Symbol" panose="05050102010706020507" pitchFamily="18" charset="2"/>
              </a:rPr>
              <a:t>aAbcde</a:t>
            </a:r>
            <a:r>
              <a:rPr lang="en-US" dirty="0">
                <a:sym typeface="Symbol" panose="05050102010706020507" pitchFamily="18" charset="2"/>
              </a:rPr>
              <a:t>  </a:t>
            </a:r>
            <a:r>
              <a:rPr lang="en-US" dirty="0" err="1">
                <a:latin typeface="Courier New" panose="02070309020205020404" pitchFamily="49" charset="0"/>
                <a:sym typeface="Symbol" panose="05050102010706020507" pitchFamily="18" charset="2"/>
              </a:rPr>
              <a:t>abbcde</a:t>
            </a:r>
            <a:endParaRPr 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	Right Sentential Forms</a:t>
            </a:r>
          </a:p>
          <a:p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     </a:t>
            </a:r>
            <a:endParaRPr lang="en-US" dirty="0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65542" name="Text Box 4"/>
          <p:cNvSpPr txBox="1">
            <a:spLocks noChangeArrowheads="1"/>
          </p:cNvSpPr>
          <p:nvPr/>
        </p:nvSpPr>
        <p:spPr bwMode="auto">
          <a:xfrm>
            <a:off x="3868738" y="4038600"/>
            <a:ext cx="414337" cy="338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anose="02020603050405020304" charset="0"/>
              </a:rPr>
              <a:t>rm</a:t>
            </a:r>
          </a:p>
        </p:txBody>
      </p:sp>
      <p:sp>
        <p:nvSpPr>
          <p:cNvPr id="65543" name="Text Box 5"/>
          <p:cNvSpPr txBox="1">
            <a:spLocks noChangeArrowheads="1"/>
          </p:cNvSpPr>
          <p:nvPr/>
        </p:nvSpPr>
        <p:spPr bwMode="auto">
          <a:xfrm>
            <a:off x="2673350" y="4038600"/>
            <a:ext cx="412750" cy="338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600" dirty="0" err="1">
                <a:latin typeface="Times New Roman" panose="02020603050405020304" charset="0"/>
              </a:rPr>
              <a:t>rm</a:t>
            </a:r>
            <a:endParaRPr lang="en-US" sz="1600" dirty="0">
              <a:latin typeface="Times New Roman" panose="02020603050405020304" charset="0"/>
            </a:endParaRPr>
          </a:p>
        </p:txBody>
      </p:sp>
      <p:sp>
        <p:nvSpPr>
          <p:cNvPr id="65544" name="Text Box 6"/>
          <p:cNvSpPr txBox="1">
            <a:spLocks noChangeArrowheads="1"/>
          </p:cNvSpPr>
          <p:nvPr/>
        </p:nvSpPr>
        <p:spPr bwMode="auto">
          <a:xfrm>
            <a:off x="1687513" y="4038600"/>
            <a:ext cx="414337" cy="338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600" dirty="0" err="1">
                <a:latin typeface="Times New Roman" panose="02020603050405020304" charset="0"/>
              </a:rPr>
              <a:t>rm</a:t>
            </a:r>
            <a:endParaRPr lang="en-US" sz="1600" dirty="0">
              <a:latin typeface="Times New Roman" panose="02020603050405020304" charset="0"/>
            </a:endParaRPr>
          </a:p>
        </p:txBody>
      </p:sp>
      <p:sp>
        <p:nvSpPr>
          <p:cNvPr id="65545" name="Text Box 7"/>
          <p:cNvSpPr txBox="1">
            <a:spLocks noChangeArrowheads="1"/>
          </p:cNvSpPr>
          <p:nvPr/>
        </p:nvSpPr>
        <p:spPr bwMode="auto">
          <a:xfrm>
            <a:off x="561975" y="4038600"/>
            <a:ext cx="414338" cy="338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anose="02020603050405020304" charset="0"/>
              </a:rPr>
              <a:t>rm</a:t>
            </a:r>
          </a:p>
        </p:txBody>
      </p:sp>
      <p:sp>
        <p:nvSpPr>
          <p:cNvPr id="65546" name="Line 8"/>
          <p:cNvSpPr>
            <a:spLocks noChangeShapeType="1"/>
          </p:cNvSpPr>
          <p:nvPr/>
        </p:nvSpPr>
        <p:spPr bwMode="auto">
          <a:xfrm flipH="1" flipV="1">
            <a:off x="1336675" y="4267200"/>
            <a:ext cx="1476375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547" name="Line 9"/>
          <p:cNvSpPr>
            <a:spLocks noChangeShapeType="1"/>
          </p:cNvSpPr>
          <p:nvPr/>
        </p:nvSpPr>
        <p:spPr bwMode="auto">
          <a:xfrm flipH="1" flipV="1">
            <a:off x="2320925" y="4267200"/>
            <a:ext cx="492125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548" name="Line 10"/>
          <p:cNvSpPr>
            <a:spLocks noChangeShapeType="1"/>
          </p:cNvSpPr>
          <p:nvPr/>
        </p:nvSpPr>
        <p:spPr bwMode="auto">
          <a:xfrm flipV="1">
            <a:off x="2813050" y="4267200"/>
            <a:ext cx="633413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549" name="Line 11"/>
          <p:cNvSpPr>
            <a:spLocks noChangeShapeType="1"/>
          </p:cNvSpPr>
          <p:nvPr/>
        </p:nvSpPr>
        <p:spPr bwMode="auto">
          <a:xfrm flipV="1">
            <a:off x="2813050" y="4343400"/>
            <a:ext cx="16891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550" name="Line 12"/>
          <p:cNvSpPr>
            <a:spLocks noChangeShapeType="1"/>
          </p:cNvSpPr>
          <p:nvPr/>
        </p:nvSpPr>
        <p:spPr bwMode="auto">
          <a:xfrm flipH="1" flipV="1">
            <a:off x="492125" y="4343400"/>
            <a:ext cx="2320925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Shift-Reduce Parsing -- Example</a:t>
            </a:r>
          </a:p>
        </p:txBody>
      </p:sp>
      <p:sp>
        <p:nvSpPr>
          <p:cNvPr id="65551" name="Date Placeholder 15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B57660F-8273-40E4-A1A4-B8213DEE4887}" type="datetime1">
              <a:rPr lang="en-US" smtClean="0"/>
              <a:t>11/26/2025</a:t>
            </a:fld>
            <a:endParaRPr lang="en-US"/>
          </a:p>
        </p:txBody>
      </p:sp>
      <p:sp>
        <p:nvSpPr>
          <p:cNvPr id="655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0CAA2BC-A0A5-40FC-A8D4-F22E555E2F35}" type="slidenum">
              <a:rPr lang="en-US" smtClean="0"/>
              <a:t>6</a:t>
            </a:fld>
            <a:endParaRPr lang="en-US"/>
          </a:p>
        </p:txBody>
      </p:sp>
      <p:sp>
        <p:nvSpPr>
          <p:cNvPr id="6554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Tx/>
              <a:buNone/>
            </a:pPr>
            <a:r>
              <a:rPr lang="en-US" dirty="0"/>
              <a:t>S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 err="1">
                <a:sym typeface="Symbol" panose="05050102010706020507" pitchFamily="18" charset="2"/>
              </a:rPr>
              <a:t>aABb</a:t>
            </a:r>
            <a:r>
              <a:rPr lang="en-US" dirty="0">
                <a:sym typeface="Symbol" panose="05050102010706020507" pitchFamily="18" charset="2"/>
              </a:rPr>
              <a:t>			 input string:	</a:t>
            </a:r>
            <a:r>
              <a:rPr lang="en-US" dirty="0" err="1">
                <a:latin typeface="Courier New" panose="02070309020205020404" pitchFamily="49" charset="0"/>
                <a:sym typeface="Symbol" panose="05050102010706020507" pitchFamily="18" charset="2"/>
              </a:rPr>
              <a:t>aa</a:t>
            </a:r>
            <a:r>
              <a:rPr lang="en-US" dirty="0" err="1">
                <a:solidFill>
                  <a:srgbClr val="CC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a</a:t>
            </a:r>
            <a:r>
              <a:rPr lang="en-US" dirty="0" err="1">
                <a:latin typeface="Courier New" panose="02070309020205020404" pitchFamily="49" charset="0"/>
                <a:sym typeface="Symbol" panose="05050102010706020507" pitchFamily="18" charset="2"/>
              </a:rPr>
              <a:t>bb</a:t>
            </a:r>
            <a:endParaRPr 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A  </a:t>
            </a:r>
            <a:r>
              <a:rPr lang="en-US" dirty="0" err="1">
                <a:sym typeface="Symbol" panose="05050102010706020507" pitchFamily="18" charset="2"/>
              </a:rPr>
              <a:t>aA</a:t>
            </a:r>
            <a:r>
              <a:rPr lang="en-US" dirty="0">
                <a:sym typeface="Symbol" panose="05050102010706020507" pitchFamily="18" charset="2"/>
              </a:rPr>
              <a:t>  |  a					</a:t>
            </a:r>
            <a:r>
              <a:rPr lang="en-US" dirty="0" err="1">
                <a:latin typeface="Courier New" panose="02070309020205020404" pitchFamily="49" charset="0"/>
                <a:sym typeface="Symbol" panose="05050102010706020507" pitchFamily="18" charset="2"/>
              </a:rPr>
              <a:t>a</a:t>
            </a:r>
            <a:r>
              <a:rPr lang="en-US" dirty="0" err="1">
                <a:solidFill>
                  <a:srgbClr val="CC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aA</a:t>
            </a:r>
            <a:r>
              <a:rPr lang="en-US" dirty="0" err="1">
                <a:latin typeface="Courier New" panose="02070309020205020404" pitchFamily="49" charset="0"/>
                <a:sym typeface="Symbol" panose="05050102010706020507" pitchFamily="18" charset="2"/>
              </a:rPr>
              <a:t>bb</a:t>
            </a:r>
            <a:endParaRPr 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B  </a:t>
            </a:r>
            <a:r>
              <a:rPr lang="en-US" dirty="0" err="1">
                <a:sym typeface="Symbol" panose="05050102010706020507" pitchFamily="18" charset="2"/>
              </a:rPr>
              <a:t>bB</a:t>
            </a:r>
            <a:r>
              <a:rPr lang="en-US" dirty="0">
                <a:sym typeface="Symbol" panose="05050102010706020507" pitchFamily="18" charset="2"/>
              </a:rPr>
              <a:t>  | b					</a:t>
            </a:r>
            <a:r>
              <a:rPr lang="en-US" dirty="0" err="1">
                <a:latin typeface="Courier New" panose="02070309020205020404" pitchFamily="49" charset="0"/>
                <a:sym typeface="Symbol" panose="05050102010706020507" pitchFamily="18" charset="2"/>
              </a:rPr>
              <a:t>aA</a:t>
            </a:r>
            <a:r>
              <a:rPr lang="en-US" dirty="0" err="1">
                <a:solidFill>
                  <a:srgbClr val="CC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b</a:t>
            </a:r>
            <a:r>
              <a:rPr lang="en-US" dirty="0" err="1">
                <a:latin typeface="Courier New" panose="02070309020205020404" pitchFamily="49" charset="0"/>
                <a:sym typeface="Symbol" panose="05050102010706020507" pitchFamily="18" charset="2"/>
              </a:rPr>
              <a:t>b</a:t>
            </a: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	    									</a:t>
            </a:r>
            <a:r>
              <a:rPr lang="en-US" dirty="0">
                <a:sym typeface="Symbol" panose="05050102010706020507" pitchFamily="18" charset="2"/>
              </a:rPr>
              <a:t>reduction</a:t>
            </a:r>
            <a:endParaRPr lang="en-US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							</a:t>
            </a:r>
            <a:r>
              <a:rPr lang="en-US" dirty="0" err="1">
                <a:solidFill>
                  <a:srgbClr val="CC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aABb</a:t>
            </a:r>
            <a:endParaRPr lang="en-US" dirty="0">
              <a:solidFill>
                <a:srgbClr val="CC0000"/>
              </a:solidFill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>
                <a:latin typeface="Courier New" panose="02070309020205020404" pitchFamily="49" charset="0"/>
                <a:sym typeface="Symbol" panose="05050102010706020507" pitchFamily="18" charset="2"/>
              </a:rPr>
              <a:t>							S</a:t>
            </a:r>
          </a:p>
          <a:p>
            <a:pPr>
              <a:buFontTx/>
              <a:buNone/>
            </a:pPr>
            <a:endParaRPr lang="en-US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S  </a:t>
            </a:r>
            <a:r>
              <a:rPr lang="en-US" dirty="0" err="1">
                <a:solidFill>
                  <a:srgbClr val="CC0000"/>
                </a:solidFill>
                <a:sym typeface="Symbol" panose="05050102010706020507" pitchFamily="18" charset="2"/>
              </a:rPr>
              <a:t>aABb</a:t>
            </a:r>
            <a:r>
              <a:rPr lang="en-US" dirty="0">
                <a:sym typeface="Symbol" panose="05050102010706020507" pitchFamily="18" charset="2"/>
              </a:rPr>
              <a:t>  </a:t>
            </a:r>
            <a:r>
              <a:rPr lang="en-US" dirty="0" err="1">
                <a:sym typeface="Symbol" panose="05050102010706020507" pitchFamily="18" charset="2"/>
              </a:rPr>
              <a:t>aA</a:t>
            </a:r>
            <a:r>
              <a:rPr lang="en-US" dirty="0" err="1">
                <a:solidFill>
                  <a:srgbClr val="CC0000"/>
                </a:solidFill>
                <a:sym typeface="Symbol" panose="05050102010706020507" pitchFamily="18" charset="2"/>
              </a:rPr>
              <a:t>b</a:t>
            </a:r>
            <a:r>
              <a:rPr lang="en-US" dirty="0" err="1">
                <a:sym typeface="Symbol" panose="05050102010706020507" pitchFamily="18" charset="2"/>
              </a:rPr>
              <a:t>b</a:t>
            </a:r>
            <a:r>
              <a:rPr lang="en-US" dirty="0">
                <a:sym typeface="Symbol" panose="05050102010706020507" pitchFamily="18" charset="2"/>
              </a:rPr>
              <a:t>  </a:t>
            </a:r>
            <a:r>
              <a:rPr lang="en-US" dirty="0" err="1">
                <a:sym typeface="Symbol" panose="05050102010706020507" pitchFamily="18" charset="2"/>
              </a:rPr>
              <a:t>a</a:t>
            </a:r>
            <a:r>
              <a:rPr lang="en-US" dirty="0" err="1">
                <a:solidFill>
                  <a:srgbClr val="CC0000"/>
                </a:solidFill>
                <a:sym typeface="Symbol" panose="05050102010706020507" pitchFamily="18" charset="2"/>
              </a:rPr>
              <a:t>aA</a:t>
            </a:r>
            <a:r>
              <a:rPr lang="en-US" dirty="0" err="1">
                <a:sym typeface="Symbol" panose="05050102010706020507" pitchFamily="18" charset="2"/>
              </a:rPr>
              <a:t>bb</a:t>
            </a:r>
            <a:r>
              <a:rPr lang="en-US" dirty="0">
                <a:sym typeface="Symbol" panose="05050102010706020507" pitchFamily="18" charset="2"/>
              </a:rPr>
              <a:t>  </a:t>
            </a:r>
            <a:r>
              <a:rPr lang="en-US" dirty="0" err="1">
                <a:sym typeface="Symbol" panose="05050102010706020507" pitchFamily="18" charset="2"/>
              </a:rPr>
              <a:t>aa</a:t>
            </a:r>
            <a:r>
              <a:rPr lang="en-US" dirty="0" err="1">
                <a:solidFill>
                  <a:srgbClr val="CC0000"/>
                </a:solidFill>
                <a:sym typeface="Symbol" panose="05050102010706020507" pitchFamily="18" charset="2"/>
              </a:rPr>
              <a:t>a</a:t>
            </a:r>
            <a:r>
              <a:rPr lang="en-US" dirty="0" err="1">
                <a:sym typeface="Symbol" panose="05050102010706020507" pitchFamily="18" charset="2"/>
              </a:rPr>
              <a:t>bb</a:t>
            </a:r>
            <a:r>
              <a:rPr lang="en-US" dirty="0">
                <a:sym typeface="Symbol" panose="05050102010706020507" pitchFamily="18" charset="2"/>
              </a:rPr>
              <a:t> </a:t>
            </a: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	Right Sentential Forms</a:t>
            </a:r>
          </a:p>
          <a:p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How do we know which substring to be replaced at each reduction step?</a:t>
            </a:r>
            <a:endParaRPr lang="en-US" dirty="0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65542" name="Text Box 4"/>
          <p:cNvSpPr txBox="1">
            <a:spLocks noChangeArrowheads="1"/>
          </p:cNvSpPr>
          <p:nvPr/>
        </p:nvSpPr>
        <p:spPr bwMode="auto">
          <a:xfrm>
            <a:off x="3868738" y="4038600"/>
            <a:ext cx="414337" cy="338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anose="02020603050405020304" charset="0"/>
              </a:rPr>
              <a:t>rm</a:t>
            </a:r>
          </a:p>
        </p:txBody>
      </p:sp>
      <p:sp>
        <p:nvSpPr>
          <p:cNvPr id="65543" name="Text Box 5"/>
          <p:cNvSpPr txBox="1">
            <a:spLocks noChangeArrowheads="1"/>
          </p:cNvSpPr>
          <p:nvPr/>
        </p:nvSpPr>
        <p:spPr bwMode="auto">
          <a:xfrm>
            <a:off x="2673350" y="4038600"/>
            <a:ext cx="412750" cy="338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anose="02020603050405020304" charset="0"/>
              </a:rPr>
              <a:t>rm</a:t>
            </a:r>
          </a:p>
        </p:txBody>
      </p:sp>
      <p:sp>
        <p:nvSpPr>
          <p:cNvPr id="65544" name="Text Box 6"/>
          <p:cNvSpPr txBox="1">
            <a:spLocks noChangeArrowheads="1"/>
          </p:cNvSpPr>
          <p:nvPr/>
        </p:nvSpPr>
        <p:spPr bwMode="auto">
          <a:xfrm>
            <a:off x="1687513" y="4038600"/>
            <a:ext cx="414337" cy="338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anose="02020603050405020304" charset="0"/>
              </a:rPr>
              <a:t>rm</a:t>
            </a:r>
          </a:p>
        </p:txBody>
      </p:sp>
      <p:sp>
        <p:nvSpPr>
          <p:cNvPr id="65545" name="Text Box 7"/>
          <p:cNvSpPr txBox="1">
            <a:spLocks noChangeArrowheads="1"/>
          </p:cNvSpPr>
          <p:nvPr/>
        </p:nvSpPr>
        <p:spPr bwMode="auto">
          <a:xfrm>
            <a:off x="561975" y="4038600"/>
            <a:ext cx="414338" cy="338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anose="02020603050405020304" charset="0"/>
              </a:rPr>
              <a:t>rm</a:t>
            </a:r>
          </a:p>
        </p:txBody>
      </p:sp>
      <p:sp>
        <p:nvSpPr>
          <p:cNvPr id="65546" name="Line 8"/>
          <p:cNvSpPr>
            <a:spLocks noChangeShapeType="1"/>
          </p:cNvSpPr>
          <p:nvPr/>
        </p:nvSpPr>
        <p:spPr bwMode="auto">
          <a:xfrm flipH="1" flipV="1">
            <a:off x="1336675" y="4267200"/>
            <a:ext cx="1476375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547" name="Line 9"/>
          <p:cNvSpPr>
            <a:spLocks noChangeShapeType="1"/>
          </p:cNvSpPr>
          <p:nvPr/>
        </p:nvSpPr>
        <p:spPr bwMode="auto">
          <a:xfrm flipH="1" flipV="1">
            <a:off x="2320925" y="4267200"/>
            <a:ext cx="492125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548" name="Line 10"/>
          <p:cNvSpPr>
            <a:spLocks noChangeShapeType="1"/>
          </p:cNvSpPr>
          <p:nvPr/>
        </p:nvSpPr>
        <p:spPr bwMode="auto">
          <a:xfrm flipV="1">
            <a:off x="2813050" y="4267200"/>
            <a:ext cx="633413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549" name="Line 11"/>
          <p:cNvSpPr>
            <a:spLocks noChangeShapeType="1"/>
          </p:cNvSpPr>
          <p:nvPr/>
        </p:nvSpPr>
        <p:spPr bwMode="auto">
          <a:xfrm flipV="1">
            <a:off x="2813050" y="4343400"/>
            <a:ext cx="16891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5550" name="Line 12"/>
          <p:cNvSpPr>
            <a:spLocks noChangeShapeType="1"/>
          </p:cNvSpPr>
          <p:nvPr/>
        </p:nvSpPr>
        <p:spPr bwMode="auto">
          <a:xfrm flipH="1" flipV="1">
            <a:off x="492125" y="4343400"/>
            <a:ext cx="2320925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Handle</a:t>
            </a:r>
          </a:p>
        </p:txBody>
      </p:sp>
      <p:sp>
        <p:nvSpPr>
          <p:cNvPr id="66569" name="Date Placeholder 9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9F04FE4-7FE7-43B6-B410-3F8554B9FE67}" type="datetime1">
              <a:rPr lang="en-US" smtClean="0"/>
              <a:t>11/26/2025</a:t>
            </a:fld>
            <a:endParaRPr lang="en-US"/>
          </a:p>
        </p:txBody>
      </p:sp>
      <p:sp>
        <p:nvSpPr>
          <p:cNvPr id="665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3069C84-5B03-4A67-ADE1-35456DEEF268}" type="slidenum">
              <a:rPr lang="en-US" smtClean="0"/>
              <a:t>7</a:t>
            </a:fld>
            <a:endParaRPr lang="en-US"/>
          </a:p>
        </p:txBody>
      </p:sp>
      <p:sp>
        <p:nvSpPr>
          <p:cNvPr id="6656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371600"/>
            <a:ext cx="8651875" cy="4876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dirty="0"/>
              <a:t>A </a:t>
            </a:r>
            <a:r>
              <a:rPr lang="en-US" sz="2200" b="1" dirty="0"/>
              <a:t>handle</a:t>
            </a:r>
            <a:r>
              <a:rPr lang="en-US" sz="2200" dirty="0"/>
              <a:t> of a string is a substring that matches the right side of a production rule.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But not every substring  that matches the right side of a production rule is handle</a:t>
            </a:r>
          </a:p>
          <a:p>
            <a:pPr lvl="1">
              <a:lnSpc>
                <a:spcPct val="90000"/>
              </a:lnSpc>
            </a:pP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200" dirty="0"/>
              <a:t>A </a:t>
            </a:r>
            <a:r>
              <a:rPr lang="en-US" sz="2200" b="1" dirty="0"/>
              <a:t>handle</a:t>
            </a:r>
            <a:r>
              <a:rPr lang="en-US" sz="2200" dirty="0"/>
              <a:t> of a right sentential form </a:t>
            </a:r>
            <a:r>
              <a:rPr lang="en-US" sz="2200" dirty="0">
                <a:sym typeface="Symbol" panose="05050102010706020507" pitchFamily="18" charset="2"/>
              </a:rPr>
              <a:t> ( )  is </a:t>
            </a:r>
            <a:r>
              <a:rPr lang="en-US" sz="2200" dirty="0"/>
              <a:t>a production rule A </a:t>
            </a:r>
            <a:r>
              <a:rPr lang="en-US" sz="2200" dirty="0">
                <a:sym typeface="Symbol" panose="05050102010706020507" pitchFamily="18" charset="2"/>
              </a:rPr>
              <a:t>  and a position of 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200" dirty="0">
                <a:sym typeface="Symbol" panose="05050102010706020507" pitchFamily="18" charset="2"/>
              </a:rPr>
              <a:t>	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  <a:sym typeface="Symbol" panose="05050102010706020507" pitchFamily="18" charset="2"/>
              </a:rPr>
              <a:t>	where the string  may be found and replaced by A to 	produce  the previous right-sentential form in  a rightmost 	derivation of .	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200" dirty="0">
              <a:solidFill>
                <a:schemeClr val="accent1">
                  <a:lumMod val="75000"/>
                </a:schemeClr>
              </a:solidFill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sz="2200" dirty="0">
                <a:sym typeface="Symbol" panose="05050102010706020507" pitchFamily="18" charset="2"/>
              </a:rPr>
              <a:t>If the grammar is </a:t>
            </a:r>
            <a:r>
              <a:rPr lang="en-US" sz="2200" dirty="0">
                <a:solidFill>
                  <a:srgbClr val="FF0000"/>
                </a:solidFill>
                <a:sym typeface="Symbol" panose="05050102010706020507" pitchFamily="18" charset="2"/>
              </a:rPr>
              <a:t>unambiguous</a:t>
            </a:r>
            <a:r>
              <a:rPr lang="en-US" sz="2200" dirty="0">
                <a:sym typeface="Symbol" panose="05050102010706020507" pitchFamily="18" charset="2"/>
              </a:rPr>
              <a:t>, then every right-sentential form of the grammar has </a:t>
            </a:r>
            <a:r>
              <a:rPr lang="en-US" sz="2200" dirty="0">
                <a:solidFill>
                  <a:srgbClr val="FF0000"/>
                </a:solidFill>
                <a:sym typeface="Symbol" panose="05050102010706020507" pitchFamily="18" charset="2"/>
              </a:rPr>
              <a:t>exactly one handle</a:t>
            </a:r>
            <a:r>
              <a:rPr lang="en-US" sz="2200" dirty="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Handle Pruning</a:t>
            </a:r>
          </a:p>
        </p:txBody>
      </p:sp>
      <p:sp>
        <p:nvSpPr>
          <p:cNvPr id="67596" name="Date Placeholder 12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AD248E1-F7F3-4C7A-9745-BF0DA126542F}" type="datetime1">
              <a:rPr lang="en-US" smtClean="0"/>
              <a:t>11/26/2025</a:t>
            </a:fld>
            <a:endParaRPr lang="en-US"/>
          </a:p>
        </p:txBody>
      </p:sp>
      <p:sp>
        <p:nvSpPr>
          <p:cNvPr id="675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51DED02-ED91-49F5-AE17-66DB66016E71}" type="slidenum">
              <a:rPr lang="en-US" smtClean="0"/>
              <a:t>8</a:t>
            </a:fld>
            <a:endParaRPr lang="en-US"/>
          </a:p>
        </p:txBody>
      </p:sp>
      <p:sp>
        <p:nvSpPr>
          <p:cNvPr id="6758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right-most derivation can be obtained by </a:t>
            </a:r>
            <a:r>
              <a:rPr lang="en-US" b="1" dirty="0"/>
              <a:t>handle-pruning</a:t>
            </a:r>
            <a:r>
              <a:rPr lang="en-US" dirty="0"/>
              <a:t>.</a:t>
            </a:r>
          </a:p>
          <a:p>
            <a:pPr lvl="8"/>
            <a:endParaRPr lang="en-US" dirty="0"/>
          </a:p>
          <a:p>
            <a:pPr>
              <a:buFontTx/>
              <a:buNone/>
            </a:pPr>
            <a:r>
              <a:rPr lang="en-US" dirty="0"/>
              <a:t>	S=</a:t>
            </a:r>
            <a:r>
              <a:rPr lang="en-US" dirty="0">
                <a:sym typeface="Symbol" panose="05050102010706020507" pitchFamily="18" charset="2"/>
              </a:rPr>
              <a:t></a:t>
            </a:r>
            <a:r>
              <a:rPr lang="en-US" baseline="-25000" dirty="0">
                <a:sym typeface="Symbol" panose="05050102010706020507" pitchFamily="18" charset="2"/>
              </a:rPr>
              <a:t>0 </a:t>
            </a:r>
            <a:r>
              <a:rPr lang="en-US" dirty="0">
                <a:sym typeface="Symbol" panose="05050102010706020507" pitchFamily="18" charset="2"/>
              </a:rPr>
              <a:t> </a:t>
            </a:r>
            <a:r>
              <a:rPr lang="en-US" baseline="-25000" dirty="0">
                <a:sym typeface="Symbol" panose="05050102010706020507" pitchFamily="18" charset="2"/>
              </a:rPr>
              <a:t>1 </a:t>
            </a:r>
            <a:r>
              <a:rPr lang="en-US" dirty="0">
                <a:sym typeface="Symbol" panose="05050102010706020507" pitchFamily="18" charset="2"/>
              </a:rPr>
              <a:t> </a:t>
            </a:r>
            <a:r>
              <a:rPr lang="en-US" baseline="-25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  ...  </a:t>
            </a:r>
            <a:r>
              <a:rPr lang="en-US" baseline="-25000" dirty="0">
                <a:sym typeface="Symbol" panose="05050102010706020507" pitchFamily="18" charset="2"/>
              </a:rPr>
              <a:t>n-1 </a:t>
            </a:r>
            <a:r>
              <a:rPr lang="en-US" dirty="0">
                <a:sym typeface="Symbol" panose="05050102010706020507" pitchFamily="18" charset="2"/>
              </a:rPr>
              <a:t> </a:t>
            </a:r>
            <a:r>
              <a:rPr lang="en-US" baseline="-25000" dirty="0">
                <a:sym typeface="Symbol" panose="05050102010706020507" pitchFamily="18" charset="2"/>
              </a:rPr>
              <a:t>n</a:t>
            </a:r>
            <a:r>
              <a:rPr lang="en-US" dirty="0">
                <a:sym typeface="Symbol" panose="05050102010706020507" pitchFamily="18" charset="2"/>
              </a:rPr>
              <a:t>=</a:t>
            </a:r>
            <a:r>
              <a:rPr lang="en-US" baseline="-25000" dirty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</a:t>
            </a:r>
          </a:p>
          <a:p>
            <a:pPr>
              <a:buFontTx/>
              <a:buNone/>
            </a:pPr>
            <a:r>
              <a:rPr lang="en-US" dirty="0">
                <a:sym typeface="Symbol" panose="05050102010706020507" pitchFamily="18" charset="2"/>
              </a:rPr>
              <a:t>							input string</a:t>
            </a:r>
          </a:p>
          <a:p>
            <a:pPr>
              <a:buFontTx/>
              <a:buNone/>
            </a:pPr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Start from </a:t>
            </a:r>
            <a:r>
              <a:rPr lang="en-US" baseline="-25000" dirty="0">
                <a:sym typeface="Symbol" panose="05050102010706020507" pitchFamily="18" charset="2"/>
              </a:rPr>
              <a:t>n</a:t>
            </a:r>
            <a:r>
              <a:rPr lang="en-US" dirty="0">
                <a:sym typeface="Symbol" panose="05050102010706020507" pitchFamily="18" charset="2"/>
              </a:rPr>
              <a:t>, find a handle </a:t>
            </a:r>
            <a:r>
              <a:rPr lang="en-US" i="1" dirty="0">
                <a:sym typeface="Symbol" panose="05050102010706020507" pitchFamily="18" charset="2"/>
              </a:rPr>
              <a:t>A</a:t>
            </a:r>
            <a:r>
              <a:rPr lang="en-US" i="1" baseline="-25000" dirty="0">
                <a:sym typeface="Symbol" panose="05050102010706020507" pitchFamily="18" charset="2"/>
              </a:rPr>
              <a:t>n</a:t>
            </a:r>
            <a:r>
              <a:rPr lang="en-US" i="1" dirty="0">
                <a:sym typeface="Symbol" panose="05050102010706020507" pitchFamily="18" charset="2"/>
              </a:rPr>
              <a:t></a:t>
            </a:r>
            <a:r>
              <a:rPr lang="en-US" i="1" baseline="-25000" dirty="0">
                <a:sym typeface="Symbol" panose="05050102010706020507" pitchFamily="18" charset="2"/>
              </a:rPr>
              <a:t>n</a:t>
            </a:r>
            <a:r>
              <a:rPr lang="en-US" i="1" dirty="0">
                <a:sym typeface="Symbol" panose="05050102010706020507" pitchFamily="18" charset="2"/>
              </a:rPr>
              <a:t> </a:t>
            </a:r>
            <a:r>
              <a:rPr lang="en-US" dirty="0">
                <a:sym typeface="Symbol" panose="05050102010706020507" pitchFamily="18" charset="2"/>
              </a:rPr>
              <a:t>in </a:t>
            </a:r>
            <a:r>
              <a:rPr lang="en-US" baseline="-25000" dirty="0">
                <a:sym typeface="Symbol" panose="05050102010706020507" pitchFamily="18" charset="2"/>
              </a:rPr>
              <a:t>n</a:t>
            </a:r>
            <a:r>
              <a:rPr lang="en-US" dirty="0">
                <a:sym typeface="Symbol" panose="05050102010706020507" pitchFamily="18" charset="2"/>
              </a:rPr>
              <a:t>, and replace </a:t>
            </a:r>
            <a:r>
              <a:rPr lang="en-US" baseline="-25000" dirty="0">
                <a:sym typeface="Symbol" panose="05050102010706020507" pitchFamily="18" charset="2"/>
              </a:rPr>
              <a:t>n</a:t>
            </a:r>
            <a:r>
              <a:rPr lang="en-US" dirty="0">
                <a:sym typeface="Symbol" panose="05050102010706020507" pitchFamily="18" charset="2"/>
              </a:rPr>
              <a:t>  by A</a:t>
            </a:r>
            <a:r>
              <a:rPr lang="en-US" baseline="-25000" dirty="0">
                <a:sym typeface="Symbol" panose="05050102010706020507" pitchFamily="18" charset="2"/>
              </a:rPr>
              <a:t>n</a:t>
            </a:r>
            <a:r>
              <a:rPr lang="en-US" dirty="0">
                <a:sym typeface="Symbol" panose="05050102010706020507" pitchFamily="18" charset="2"/>
              </a:rPr>
              <a:t> to get </a:t>
            </a:r>
            <a:r>
              <a:rPr lang="en-US" baseline="-25000" dirty="0">
                <a:sym typeface="Symbol" panose="05050102010706020507" pitchFamily="18" charset="2"/>
              </a:rPr>
              <a:t>n-1</a:t>
            </a:r>
            <a:r>
              <a:rPr lang="en-US" dirty="0">
                <a:sym typeface="Symbol" panose="05050102010706020507" pitchFamily="18" charset="2"/>
              </a:rPr>
              <a:t>. </a:t>
            </a:r>
          </a:p>
          <a:p>
            <a:r>
              <a:rPr lang="en-US" dirty="0">
                <a:sym typeface="Symbol" panose="05050102010706020507" pitchFamily="18" charset="2"/>
              </a:rPr>
              <a:t>Then find a handle A</a:t>
            </a:r>
            <a:r>
              <a:rPr lang="en-US" baseline="-25000" dirty="0">
                <a:sym typeface="Symbol" panose="05050102010706020507" pitchFamily="18" charset="2"/>
              </a:rPr>
              <a:t>n-1</a:t>
            </a:r>
            <a:r>
              <a:rPr lang="en-US" dirty="0">
                <a:sym typeface="Symbol" panose="05050102010706020507" pitchFamily="18" charset="2"/>
              </a:rPr>
              <a:t></a:t>
            </a:r>
            <a:r>
              <a:rPr lang="en-US" baseline="-25000" dirty="0">
                <a:sym typeface="Symbol" panose="05050102010706020507" pitchFamily="18" charset="2"/>
              </a:rPr>
              <a:t>n-1</a:t>
            </a:r>
            <a:r>
              <a:rPr lang="en-US" dirty="0">
                <a:sym typeface="Symbol" panose="05050102010706020507" pitchFamily="18" charset="2"/>
              </a:rPr>
              <a:t> in </a:t>
            </a:r>
            <a:r>
              <a:rPr lang="en-US" baseline="-25000" dirty="0">
                <a:sym typeface="Symbol" panose="05050102010706020507" pitchFamily="18" charset="2"/>
              </a:rPr>
              <a:t>n-1</a:t>
            </a:r>
            <a:r>
              <a:rPr lang="en-US" dirty="0">
                <a:sym typeface="Symbol" panose="05050102010706020507" pitchFamily="18" charset="2"/>
              </a:rPr>
              <a:t>, and replace </a:t>
            </a:r>
            <a:r>
              <a:rPr lang="en-US" baseline="-25000" dirty="0">
                <a:sym typeface="Symbol" panose="05050102010706020507" pitchFamily="18" charset="2"/>
              </a:rPr>
              <a:t>n-1</a:t>
            </a:r>
            <a:r>
              <a:rPr lang="en-US" dirty="0">
                <a:sym typeface="Symbol" panose="05050102010706020507" pitchFamily="18" charset="2"/>
              </a:rPr>
              <a:t> by A</a:t>
            </a:r>
            <a:r>
              <a:rPr lang="en-US" baseline="-25000" dirty="0">
                <a:sym typeface="Symbol" panose="05050102010706020507" pitchFamily="18" charset="2"/>
              </a:rPr>
              <a:t>n-1</a:t>
            </a:r>
            <a:r>
              <a:rPr lang="en-US" dirty="0">
                <a:sym typeface="Symbol" panose="05050102010706020507" pitchFamily="18" charset="2"/>
              </a:rPr>
              <a:t> to get </a:t>
            </a:r>
            <a:r>
              <a:rPr lang="en-US" baseline="-25000" dirty="0">
                <a:sym typeface="Symbol" panose="05050102010706020507" pitchFamily="18" charset="2"/>
              </a:rPr>
              <a:t>n-2</a:t>
            </a:r>
            <a:r>
              <a:rPr lang="en-US" dirty="0">
                <a:sym typeface="Symbol" panose="05050102010706020507" pitchFamily="18" charset="2"/>
              </a:rPr>
              <a:t>. </a:t>
            </a:r>
          </a:p>
          <a:p>
            <a:r>
              <a:rPr lang="en-US" dirty="0">
                <a:sym typeface="Symbol" panose="05050102010706020507" pitchFamily="18" charset="2"/>
              </a:rPr>
              <a:t>Repeat this, until we reach S.</a:t>
            </a:r>
          </a:p>
        </p:txBody>
      </p:sp>
      <p:sp>
        <p:nvSpPr>
          <p:cNvPr id="67590" name="Line 4"/>
          <p:cNvSpPr>
            <a:spLocks noChangeShapeType="1"/>
          </p:cNvSpPr>
          <p:nvPr/>
        </p:nvSpPr>
        <p:spPr bwMode="auto">
          <a:xfrm flipH="1" flipV="1">
            <a:off x="5334000" y="3124200"/>
            <a:ext cx="492125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7591" name="Text Box 5"/>
          <p:cNvSpPr txBox="1">
            <a:spLocks noChangeArrowheads="1"/>
          </p:cNvSpPr>
          <p:nvPr/>
        </p:nvSpPr>
        <p:spPr bwMode="auto">
          <a:xfrm>
            <a:off x="3095625" y="2286000"/>
            <a:ext cx="412750" cy="338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600" dirty="0" err="1">
                <a:latin typeface="Times New Roman" panose="02020603050405020304" charset="0"/>
              </a:rPr>
              <a:t>rm</a:t>
            </a:r>
            <a:endParaRPr lang="en-US" sz="1600" dirty="0">
              <a:latin typeface="Times New Roman" panose="02020603050405020304" charset="0"/>
            </a:endParaRPr>
          </a:p>
        </p:txBody>
      </p:sp>
      <p:sp>
        <p:nvSpPr>
          <p:cNvPr id="67592" name="Text Box 6"/>
          <p:cNvSpPr txBox="1">
            <a:spLocks noChangeArrowheads="1"/>
          </p:cNvSpPr>
          <p:nvPr/>
        </p:nvSpPr>
        <p:spPr bwMode="auto">
          <a:xfrm>
            <a:off x="2462213" y="2286000"/>
            <a:ext cx="412750" cy="338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anose="02020603050405020304" charset="0"/>
              </a:rPr>
              <a:t>rm</a:t>
            </a:r>
          </a:p>
        </p:txBody>
      </p:sp>
      <p:sp>
        <p:nvSpPr>
          <p:cNvPr id="67593" name="Text Box 7"/>
          <p:cNvSpPr txBox="1">
            <a:spLocks noChangeArrowheads="1"/>
          </p:cNvSpPr>
          <p:nvPr/>
        </p:nvSpPr>
        <p:spPr bwMode="auto">
          <a:xfrm>
            <a:off x="1828800" y="2286000"/>
            <a:ext cx="414338" cy="338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600" dirty="0" err="1">
                <a:latin typeface="Times New Roman" panose="02020603050405020304" charset="0"/>
              </a:rPr>
              <a:t>rm</a:t>
            </a:r>
            <a:endParaRPr lang="en-US" sz="1600" dirty="0">
              <a:latin typeface="Times New Roman" panose="02020603050405020304" charset="0"/>
            </a:endParaRPr>
          </a:p>
        </p:txBody>
      </p:sp>
      <p:sp>
        <p:nvSpPr>
          <p:cNvPr id="67594" name="Text Box 8"/>
          <p:cNvSpPr txBox="1">
            <a:spLocks noChangeArrowheads="1"/>
          </p:cNvSpPr>
          <p:nvPr/>
        </p:nvSpPr>
        <p:spPr bwMode="auto">
          <a:xfrm>
            <a:off x="3868738" y="2286000"/>
            <a:ext cx="414337" cy="338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600" dirty="0" err="1">
                <a:latin typeface="Times New Roman" panose="02020603050405020304" charset="0"/>
              </a:rPr>
              <a:t>rm</a:t>
            </a:r>
            <a:endParaRPr lang="en-US" sz="1600" dirty="0">
              <a:latin typeface="Times New Roman" panose="02020603050405020304" charset="0"/>
            </a:endParaRPr>
          </a:p>
        </p:txBody>
      </p:sp>
      <p:sp>
        <p:nvSpPr>
          <p:cNvPr id="67595" name="Text Box 9"/>
          <p:cNvSpPr txBox="1">
            <a:spLocks noChangeArrowheads="1"/>
          </p:cNvSpPr>
          <p:nvPr/>
        </p:nvSpPr>
        <p:spPr bwMode="auto">
          <a:xfrm>
            <a:off x="1266825" y="2286000"/>
            <a:ext cx="412750" cy="338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sz="1600">
                <a:latin typeface="Times New Roman" panose="02020603050405020304" charset="0"/>
              </a:rPr>
              <a:t>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Shift-Reduce Parser</a:t>
            </a:r>
          </a:p>
        </p:txBody>
      </p:sp>
      <p:sp>
        <p:nvSpPr>
          <p:cNvPr id="68614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4AFC224-02A8-4A30-B899-00BC45836B3D}" type="datetime1">
              <a:rPr lang="en-US" smtClean="0"/>
              <a:t>11/26/2025</a:t>
            </a:fld>
            <a:endParaRPr lang="en-US"/>
          </a:p>
        </p:txBody>
      </p:sp>
      <p:sp>
        <p:nvSpPr>
          <p:cNvPr id="686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8EFA4A0-611C-4217-A964-6824DAEA3530}" type="slidenum">
              <a:rPr lang="en-US" smtClean="0"/>
              <a:t>9</a:t>
            </a:fld>
            <a:endParaRPr lang="en-US"/>
          </a:p>
        </p:txBody>
      </p:sp>
      <p:sp>
        <p:nvSpPr>
          <p:cNvPr id="6861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527048"/>
            <a:ext cx="8503920" cy="4572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E </a:t>
            </a:r>
            <a:r>
              <a:rPr lang="en-US" sz="2000" dirty="0">
                <a:sym typeface="Symbol" panose="05050102010706020507" pitchFamily="18" charset="2"/>
              </a:rPr>
              <a:t> E+T  | T	       Right-Most Derivation of   </a:t>
            </a:r>
            <a:r>
              <a:rPr lang="en-US" sz="2000" dirty="0" err="1">
                <a:latin typeface="Courier New" panose="02070309020205020404" pitchFamily="49" charset="0"/>
                <a:sym typeface="Symbol" panose="05050102010706020507" pitchFamily="18" charset="2"/>
              </a:rPr>
              <a:t>id+id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*id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T </a:t>
            </a:r>
            <a:r>
              <a:rPr lang="en-US" sz="2000" dirty="0">
                <a:sym typeface="Symbol" panose="05050102010706020507" pitchFamily="18" charset="2"/>
              </a:rPr>
              <a:t> T*F  | F		E  E+T  E+T*F  E+T*id  E+F*id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/>
              <a:t>F </a:t>
            </a:r>
            <a:r>
              <a:rPr lang="en-US" sz="2000" dirty="0">
                <a:sym typeface="Symbol" panose="05050102010706020507" pitchFamily="18" charset="2"/>
              </a:rPr>
              <a:t> (E)  |  id		     </a:t>
            </a:r>
            <a:r>
              <a:rPr lang="en-US" sz="2000" dirty="0" err="1">
                <a:sym typeface="Symbol" panose="05050102010706020507" pitchFamily="18" charset="2"/>
              </a:rPr>
              <a:t>E+id</a:t>
            </a:r>
            <a:r>
              <a:rPr lang="en-US" sz="2000" dirty="0">
                <a:sym typeface="Symbol" panose="05050102010706020507" pitchFamily="18" charset="2"/>
              </a:rPr>
              <a:t>*id  </a:t>
            </a:r>
            <a:r>
              <a:rPr lang="en-US" sz="2000" dirty="0" err="1">
                <a:sym typeface="Symbol" panose="05050102010706020507" pitchFamily="18" charset="2"/>
              </a:rPr>
              <a:t>T+id</a:t>
            </a:r>
            <a:r>
              <a:rPr lang="en-US" sz="2000" dirty="0">
                <a:sym typeface="Symbol" panose="05050102010706020507" pitchFamily="18" charset="2"/>
              </a:rPr>
              <a:t>*id  </a:t>
            </a:r>
            <a:r>
              <a:rPr lang="en-US" sz="2000" dirty="0" err="1">
                <a:sym typeface="Symbol" panose="05050102010706020507" pitchFamily="18" charset="2"/>
              </a:rPr>
              <a:t>F+id</a:t>
            </a:r>
            <a:r>
              <a:rPr lang="en-US" sz="2000" dirty="0">
                <a:sym typeface="Symbol" panose="05050102010706020507" pitchFamily="18" charset="2"/>
              </a:rPr>
              <a:t>*id  </a:t>
            </a:r>
            <a:r>
              <a:rPr lang="en-US" sz="2000" dirty="0" err="1">
                <a:sym typeface="Symbol" panose="05050102010706020507" pitchFamily="18" charset="2"/>
              </a:rPr>
              <a:t>id+id</a:t>
            </a:r>
            <a:r>
              <a:rPr lang="en-US" sz="2000" dirty="0">
                <a:sym typeface="Symbol" panose="05050102010706020507" pitchFamily="18" charset="2"/>
              </a:rPr>
              <a:t>*id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u="sng" dirty="0">
                <a:sym typeface="Symbol" panose="05050102010706020507" pitchFamily="18" charset="2"/>
              </a:rPr>
              <a:t>Right-Most Sentential Form</a:t>
            </a:r>
            <a:r>
              <a:rPr lang="en-US" sz="2000" dirty="0">
                <a:sym typeface="Symbol" panose="05050102010706020507" pitchFamily="18" charset="2"/>
              </a:rPr>
              <a:t>	</a:t>
            </a:r>
            <a:r>
              <a:rPr lang="en-US" sz="2000" u="sng" dirty="0">
                <a:sym typeface="Symbol" panose="05050102010706020507" pitchFamily="18" charset="2"/>
              </a:rPr>
              <a:t>Reducing Production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u="sng" dirty="0" err="1">
                <a:solidFill>
                  <a:srgbClr val="CC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id</a:t>
            </a:r>
            <a:r>
              <a:rPr lang="en-US" sz="2000" dirty="0" err="1">
                <a:latin typeface="Courier New" panose="02070309020205020404" pitchFamily="49" charset="0"/>
                <a:sym typeface="Symbol" panose="05050102010706020507" pitchFamily="18" charset="2"/>
              </a:rPr>
              <a:t>+id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*id			</a:t>
            </a:r>
            <a:r>
              <a:rPr lang="en-US" sz="2000" dirty="0"/>
              <a:t>F </a:t>
            </a:r>
            <a:r>
              <a:rPr lang="en-US" sz="2000" dirty="0">
                <a:sym typeface="Symbol" panose="05050102010706020507" pitchFamily="18" charset="2"/>
              </a:rPr>
              <a:t> id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u="sng" dirty="0" err="1">
                <a:solidFill>
                  <a:srgbClr val="CC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F</a:t>
            </a:r>
            <a:r>
              <a:rPr lang="en-US" sz="2000" dirty="0" err="1">
                <a:latin typeface="Courier New" panose="02070309020205020404" pitchFamily="49" charset="0"/>
                <a:sym typeface="Symbol" panose="05050102010706020507" pitchFamily="18" charset="2"/>
              </a:rPr>
              <a:t>+id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*id			</a:t>
            </a:r>
            <a:r>
              <a:rPr lang="en-US" sz="2000" dirty="0"/>
              <a:t>T </a:t>
            </a:r>
            <a:r>
              <a:rPr lang="en-US" sz="2000" dirty="0">
                <a:sym typeface="Symbol" panose="05050102010706020507" pitchFamily="18" charset="2"/>
              </a:rPr>
              <a:t> F</a:t>
            </a:r>
            <a:endParaRPr lang="en-US" sz="2000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u="sng" dirty="0" err="1">
                <a:solidFill>
                  <a:srgbClr val="CC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T</a:t>
            </a:r>
            <a:r>
              <a:rPr lang="en-US" sz="2000" dirty="0" err="1">
                <a:latin typeface="Courier New" panose="02070309020205020404" pitchFamily="49" charset="0"/>
                <a:sym typeface="Symbol" panose="05050102010706020507" pitchFamily="18" charset="2"/>
              </a:rPr>
              <a:t>+id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*id			</a:t>
            </a:r>
            <a:r>
              <a:rPr lang="en-US" sz="2000" dirty="0"/>
              <a:t>E </a:t>
            </a:r>
            <a:r>
              <a:rPr lang="en-US" sz="2000" dirty="0">
                <a:sym typeface="Symbol" panose="05050102010706020507" pitchFamily="18" charset="2"/>
              </a:rPr>
              <a:t> T</a:t>
            </a:r>
            <a:endParaRPr lang="en-US" sz="2000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 err="1">
                <a:latin typeface="Courier New" panose="02070309020205020404" pitchFamily="49" charset="0"/>
                <a:sym typeface="Symbol" panose="05050102010706020507" pitchFamily="18" charset="2"/>
              </a:rPr>
              <a:t>E+</a:t>
            </a:r>
            <a:r>
              <a:rPr lang="en-US" sz="2000" u="sng" dirty="0" err="1">
                <a:solidFill>
                  <a:srgbClr val="CC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id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*id			</a:t>
            </a:r>
            <a:r>
              <a:rPr lang="en-US" sz="2000" dirty="0"/>
              <a:t>F </a:t>
            </a:r>
            <a:r>
              <a:rPr lang="en-US" sz="2000" dirty="0">
                <a:sym typeface="Symbol" panose="05050102010706020507" pitchFamily="18" charset="2"/>
              </a:rPr>
              <a:t> id</a:t>
            </a:r>
            <a:endParaRPr lang="en-US" sz="2000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E+</a:t>
            </a:r>
            <a:r>
              <a:rPr lang="en-US" sz="2000" u="sng" dirty="0">
                <a:solidFill>
                  <a:srgbClr val="CC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F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*id			      </a:t>
            </a:r>
            <a:r>
              <a:rPr lang="en-US" sz="2000" dirty="0"/>
              <a:t>T </a:t>
            </a:r>
            <a:r>
              <a:rPr lang="en-US" sz="2000" dirty="0">
                <a:sym typeface="Symbol" panose="05050102010706020507" pitchFamily="18" charset="2"/>
              </a:rPr>
              <a:t> F</a:t>
            </a:r>
            <a:endParaRPr lang="en-US" sz="2000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E+T*</a:t>
            </a:r>
            <a:r>
              <a:rPr lang="en-US" sz="2000" u="sng" dirty="0">
                <a:solidFill>
                  <a:srgbClr val="CC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id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			      </a:t>
            </a:r>
            <a:r>
              <a:rPr lang="en-US" sz="2000" dirty="0"/>
              <a:t>F </a:t>
            </a:r>
            <a:r>
              <a:rPr lang="en-US" sz="2000" dirty="0">
                <a:sym typeface="Symbol" panose="05050102010706020507" pitchFamily="18" charset="2"/>
              </a:rPr>
              <a:t> id</a:t>
            </a:r>
            <a:endParaRPr lang="en-US" sz="2000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E+</a:t>
            </a:r>
            <a:r>
              <a:rPr lang="en-US" sz="2000" u="sng" dirty="0">
                <a:solidFill>
                  <a:srgbClr val="CC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T*F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				</a:t>
            </a:r>
            <a:r>
              <a:rPr lang="en-US" sz="2000" dirty="0"/>
              <a:t>T </a:t>
            </a:r>
            <a:r>
              <a:rPr lang="en-US" sz="2000" dirty="0">
                <a:sym typeface="Symbol" panose="05050102010706020507" pitchFamily="18" charset="2"/>
              </a:rPr>
              <a:t> T*F </a:t>
            </a:r>
            <a:endParaRPr lang="en-US" sz="2000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u="sng" dirty="0">
                <a:solidFill>
                  <a:srgbClr val="CC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E+T</a:t>
            </a: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				</a:t>
            </a:r>
            <a:r>
              <a:rPr lang="en-US" sz="2000" dirty="0"/>
              <a:t>E </a:t>
            </a:r>
            <a:r>
              <a:rPr lang="en-US" sz="2000" dirty="0">
                <a:sym typeface="Symbol" panose="05050102010706020507" pitchFamily="18" charset="2"/>
              </a:rPr>
              <a:t> E+T </a:t>
            </a:r>
            <a:endParaRPr lang="en-US" sz="2000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latin typeface="Courier New" panose="02070309020205020404" pitchFamily="49" charset="0"/>
                <a:sym typeface="Symbol" panose="05050102010706020507" pitchFamily="18" charset="2"/>
              </a:rPr>
              <a:t>		</a:t>
            </a:r>
            <a:r>
              <a:rPr lang="en-US" sz="2000" u="sng" dirty="0">
                <a:solidFill>
                  <a:srgbClr val="CC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Handles</a:t>
            </a:r>
            <a:r>
              <a:rPr lang="en-US" sz="2000" dirty="0">
                <a:solidFill>
                  <a:srgbClr val="CC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US" sz="2000" dirty="0">
                <a:sym typeface="Symbol" panose="05050102010706020507" pitchFamily="18" charset="2"/>
              </a:rPr>
              <a:t>are red and underlined in the right-sentential forms.</a:t>
            </a:r>
            <a:endParaRPr lang="en-US" sz="2000" u="sng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Shift-Reduce Parser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8F89-2773-466C-9BC0-004AAE412BD6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A606-8ADA-4191-AC01-87413FC97642}" type="slidenum">
              <a:rPr lang="en-US" smtClean="0"/>
              <a:t>10</a:t>
            </a:fld>
            <a:endParaRPr lang="en-US"/>
          </a:p>
        </p:txBody>
      </p:sp>
      <p:pic>
        <p:nvPicPr>
          <p:cNvPr id="7" name="Content Placeholder 6" descr="sr.pn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447800" y="2401243"/>
            <a:ext cx="5638800" cy="3707284"/>
          </a:xfrm>
        </p:spPr>
      </p:pic>
      <p:sp>
        <p:nvSpPr>
          <p:cNvPr id="8" name="Rectangle 7"/>
          <p:cNvSpPr/>
          <p:nvPr/>
        </p:nvSpPr>
        <p:spPr>
          <a:xfrm>
            <a:off x="228600" y="1390471"/>
            <a:ext cx="8610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b="1" dirty="0"/>
              <a:t>Shift</a:t>
            </a:r>
            <a:r>
              <a:rPr lang="en-GB" dirty="0"/>
              <a:t>-</a:t>
            </a:r>
            <a:r>
              <a:rPr lang="en-GB" b="1" dirty="0"/>
              <a:t>reduce parsing</a:t>
            </a:r>
            <a:r>
              <a:rPr lang="en-GB" dirty="0"/>
              <a:t> attempts to construct a </a:t>
            </a:r>
            <a:r>
              <a:rPr lang="en-GB" b="1" dirty="0"/>
              <a:t>parse</a:t>
            </a:r>
            <a:r>
              <a:rPr lang="en-GB" dirty="0"/>
              <a:t> tree for an input string beginning at the leaves and working up towards the root. </a:t>
            </a:r>
          </a:p>
          <a:p>
            <a:pPr algn="just"/>
            <a:r>
              <a:rPr lang="en-GB" dirty="0"/>
              <a:t>It is a process of “</a:t>
            </a:r>
            <a:r>
              <a:rPr lang="en-GB" b="1" dirty="0"/>
              <a:t>reducing</a:t>
            </a:r>
            <a:r>
              <a:rPr lang="en-GB" dirty="0"/>
              <a:t>” a string w to the start symbol S of a grammar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Stack Implementation of  Shift-Reduce Parser</a:t>
            </a:r>
          </a:p>
        </p:txBody>
      </p:sp>
      <p:sp>
        <p:nvSpPr>
          <p:cNvPr id="69638" name="Date Placeholder 6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46891C1-A293-42F1-8C2E-A6126305B8CC}" type="datetime1">
              <a:rPr lang="en-US" smtClean="0"/>
              <a:t>11/26/2025</a:t>
            </a:fld>
            <a:endParaRPr lang="en-US" dirty="0"/>
          </a:p>
        </p:txBody>
      </p:sp>
      <p:sp>
        <p:nvSpPr>
          <p:cNvPr id="696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709950A-733D-4C9F-A73E-8CE89E06925F}" type="slidenum">
              <a:rPr lang="en-US" smtClean="0"/>
              <a:t>11</a:t>
            </a:fld>
            <a:endParaRPr lang="en-US"/>
          </a:p>
        </p:txBody>
      </p:sp>
      <p:sp>
        <p:nvSpPr>
          <p:cNvPr id="6963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/>
            <a:r>
              <a:rPr lang="en-US" dirty="0"/>
              <a:t>There are four possible actions of a shift-reduce parser </a:t>
            </a:r>
          </a:p>
          <a:p>
            <a:pPr marL="457200" indent="-457200"/>
            <a:endParaRPr lang="en-US" dirty="0"/>
          </a:p>
          <a:p>
            <a:pPr marL="800100" lvl="1" indent="-342900">
              <a:buFontTx/>
              <a:buAutoNum type="arabicPeriod"/>
            </a:pPr>
            <a:r>
              <a:rPr lang="en-US" sz="2400" b="1" dirty="0"/>
              <a:t>Shift</a:t>
            </a:r>
            <a:r>
              <a:rPr lang="en-US" sz="2400" dirty="0"/>
              <a:t> :  The next input symbol is shifted onto the top of the stack.</a:t>
            </a:r>
          </a:p>
          <a:p>
            <a:pPr marL="800100" lvl="1" indent="-342900">
              <a:buFontTx/>
              <a:buAutoNum type="arabicPeriod"/>
            </a:pPr>
            <a:r>
              <a:rPr lang="en-US" sz="2400" b="1" dirty="0"/>
              <a:t>Reduce</a:t>
            </a:r>
            <a:r>
              <a:rPr lang="en-US" sz="2400" dirty="0"/>
              <a:t>: Replace the handle on the top of the stack by the non-terminal.</a:t>
            </a:r>
          </a:p>
          <a:p>
            <a:pPr marL="800100" lvl="1" indent="-342900">
              <a:buFontTx/>
              <a:buAutoNum type="arabicPeriod"/>
            </a:pPr>
            <a:r>
              <a:rPr lang="en-US" sz="2400" b="1" dirty="0"/>
              <a:t>Accept</a:t>
            </a:r>
            <a:r>
              <a:rPr lang="en-US" sz="2400" dirty="0"/>
              <a:t>: Successful completion of parsing.</a:t>
            </a:r>
          </a:p>
          <a:p>
            <a:pPr marL="800100" lvl="1" indent="-342900">
              <a:buFontTx/>
              <a:buAutoNum type="arabicPeriod"/>
            </a:pPr>
            <a:r>
              <a:rPr lang="en-US" sz="2400" b="1" dirty="0"/>
              <a:t>Error</a:t>
            </a:r>
            <a:r>
              <a:rPr lang="en-US" sz="2400" dirty="0"/>
              <a:t>: Parser discovers a syntax error, and calls an error recovery routine.</a:t>
            </a:r>
          </a:p>
          <a:p>
            <a:pPr marL="457200" indent="-457200">
              <a:buFontTx/>
              <a:buNone/>
            </a:pPr>
            <a:endParaRPr lang="en-US" sz="3200" dirty="0"/>
          </a:p>
          <a:p>
            <a:pPr marL="457200" indent="-457200"/>
            <a:r>
              <a:rPr lang="en-US" dirty="0"/>
              <a:t>Initial stack just contains only the end-marker $.</a:t>
            </a:r>
          </a:p>
          <a:p>
            <a:pPr marL="457200" indent="-457200"/>
            <a:r>
              <a:rPr lang="en-US" dirty="0"/>
              <a:t>The end of the input string is marked by the end-marker $.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 Stack Implementation of A Shift-Reduce Parser </a:t>
            </a:r>
          </a:p>
        </p:txBody>
      </p:sp>
      <p:sp>
        <p:nvSpPr>
          <p:cNvPr id="70674" name="Date Placeholder 18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2C96168-44DE-43CF-B04D-E21DFD87C329}" type="datetime1">
              <a:rPr lang="en-US" smtClean="0"/>
              <a:t>11/26/2025</a:t>
            </a:fld>
            <a:endParaRPr lang="en-US"/>
          </a:p>
        </p:txBody>
      </p:sp>
      <p:sp>
        <p:nvSpPr>
          <p:cNvPr id="706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5C099D6-529C-4631-B850-35B1B12092FD}" type="slidenum">
              <a:rPr lang="en-US" smtClean="0"/>
              <a:t>12</a:t>
            </a:fld>
            <a:endParaRPr lang="en-US"/>
          </a:p>
        </p:txBody>
      </p:sp>
      <p:sp>
        <p:nvSpPr>
          <p:cNvPr id="7066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46088" y="1447800"/>
            <a:ext cx="7707312" cy="47244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2000" b="1" u="sng" dirty="0"/>
              <a:t>Stack</a:t>
            </a:r>
            <a:r>
              <a:rPr lang="en-US" sz="2000" dirty="0"/>
              <a:t>		</a:t>
            </a:r>
            <a:r>
              <a:rPr lang="en-US" sz="2000" b="1" u="sng" dirty="0"/>
              <a:t>Input</a:t>
            </a:r>
            <a:r>
              <a:rPr lang="en-US" sz="2000" dirty="0"/>
              <a:t>		</a:t>
            </a:r>
            <a:r>
              <a:rPr lang="en-US" sz="2000" b="1" u="sng" dirty="0"/>
              <a:t>Action</a:t>
            </a:r>
          </a:p>
          <a:p>
            <a:pPr>
              <a:buFontTx/>
              <a:buNone/>
            </a:pPr>
            <a:r>
              <a:rPr lang="en-US" sz="1800" dirty="0"/>
              <a:t>$			</a:t>
            </a:r>
            <a:r>
              <a:rPr lang="en-US" sz="1800" dirty="0" err="1"/>
              <a:t>id+id</a:t>
            </a:r>
            <a:r>
              <a:rPr lang="en-US" sz="1800" dirty="0"/>
              <a:t>*id$	shift</a:t>
            </a:r>
          </a:p>
          <a:p>
            <a:pPr>
              <a:buFontTx/>
              <a:buNone/>
            </a:pPr>
            <a:r>
              <a:rPr lang="en-US" sz="1800" dirty="0"/>
              <a:t>$</a:t>
            </a:r>
            <a:r>
              <a:rPr lang="en-US" sz="1800" dirty="0">
                <a:solidFill>
                  <a:srgbClr val="CC0000"/>
                </a:solidFill>
              </a:rPr>
              <a:t>id</a:t>
            </a:r>
            <a:r>
              <a:rPr lang="en-US" sz="1800" dirty="0"/>
              <a:t>		+id*id$		reduce by F </a:t>
            </a:r>
            <a:r>
              <a:rPr lang="en-US" sz="1800" dirty="0">
                <a:sym typeface="Symbol" panose="05050102010706020507" pitchFamily="18" charset="2"/>
              </a:rPr>
              <a:t> id          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>
                <a:solidFill>
                  <a:srgbClr val="CC0000"/>
                </a:solidFill>
                <a:sym typeface="Symbol" panose="05050102010706020507" pitchFamily="18" charset="2"/>
              </a:rPr>
              <a:t>F</a:t>
            </a:r>
            <a:r>
              <a:rPr lang="en-US" sz="1800" dirty="0">
                <a:sym typeface="Symbol" panose="05050102010706020507" pitchFamily="18" charset="2"/>
              </a:rPr>
              <a:t>		+id*id$		reduce by T  F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>
                <a:solidFill>
                  <a:srgbClr val="CC0000"/>
                </a:solidFill>
                <a:sym typeface="Symbol" panose="05050102010706020507" pitchFamily="18" charset="2"/>
              </a:rPr>
              <a:t>T</a:t>
            </a:r>
            <a:r>
              <a:rPr lang="en-US" sz="1800" dirty="0">
                <a:sym typeface="Symbol" panose="05050102010706020507" pitchFamily="18" charset="2"/>
              </a:rPr>
              <a:t>		+id*id$		reduce by E  T			</a:t>
            </a:r>
            <a:endParaRPr lang="en-US" sz="1800" dirty="0">
              <a:solidFill>
                <a:srgbClr val="CC0000"/>
              </a:solidFill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$E		+id*id$		shift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$E+		id*id$		shift			</a:t>
            </a:r>
            <a:endParaRPr lang="en-US" sz="1800" dirty="0">
              <a:solidFill>
                <a:srgbClr val="CC0000"/>
              </a:solidFill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 err="1">
                <a:sym typeface="Symbol" panose="05050102010706020507" pitchFamily="18" charset="2"/>
              </a:rPr>
              <a:t>E+</a:t>
            </a:r>
            <a:r>
              <a:rPr lang="en-US" sz="1800" dirty="0" err="1">
                <a:solidFill>
                  <a:srgbClr val="CC0000"/>
                </a:solidFill>
                <a:sym typeface="Symbol" panose="05050102010706020507" pitchFamily="18" charset="2"/>
              </a:rPr>
              <a:t>id</a:t>
            </a:r>
            <a:r>
              <a:rPr lang="en-US" sz="1800" dirty="0">
                <a:sym typeface="Symbol" panose="05050102010706020507" pitchFamily="18" charset="2"/>
              </a:rPr>
              <a:t>		*id$		reduce by F  id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$E+</a:t>
            </a:r>
            <a:r>
              <a:rPr lang="en-US" sz="1800" dirty="0">
                <a:solidFill>
                  <a:srgbClr val="CC0000"/>
                </a:solidFill>
                <a:sym typeface="Symbol" panose="05050102010706020507" pitchFamily="18" charset="2"/>
              </a:rPr>
              <a:t>F</a:t>
            </a:r>
            <a:r>
              <a:rPr lang="en-US" sz="1800" dirty="0">
                <a:sym typeface="Symbol" panose="05050102010706020507" pitchFamily="18" charset="2"/>
              </a:rPr>
              <a:t>		*id$		reduce by T  F			</a:t>
            </a:r>
            <a:endParaRPr lang="en-US" sz="1800" dirty="0">
              <a:solidFill>
                <a:srgbClr val="CC0000"/>
              </a:solidFill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$E+T		*id$		shift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$E+T*		id$		shift				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$E+T*</a:t>
            </a:r>
            <a:r>
              <a:rPr lang="en-US" sz="1800" dirty="0">
                <a:solidFill>
                  <a:srgbClr val="CC0000"/>
                </a:solidFill>
                <a:sym typeface="Symbol" panose="05050102010706020507" pitchFamily="18" charset="2"/>
              </a:rPr>
              <a:t>id</a:t>
            </a:r>
            <a:r>
              <a:rPr lang="en-US" sz="1800" dirty="0">
                <a:sym typeface="Symbol" panose="05050102010706020507" pitchFamily="18" charset="2"/>
              </a:rPr>
              <a:t>		$		reduce by F  id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$E+</a:t>
            </a:r>
            <a:r>
              <a:rPr lang="en-US" sz="1800" dirty="0">
                <a:solidFill>
                  <a:srgbClr val="CC0000"/>
                </a:solidFill>
                <a:sym typeface="Symbol" panose="05050102010706020507" pitchFamily="18" charset="2"/>
              </a:rPr>
              <a:t>T*F</a:t>
            </a:r>
            <a:r>
              <a:rPr lang="en-US" sz="1800" dirty="0">
                <a:sym typeface="Symbol" panose="05050102010706020507" pitchFamily="18" charset="2"/>
              </a:rPr>
              <a:t>		$		reduce by T  T*F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</a:t>
            </a:r>
            <a:r>
              <a:rPr lang="en-US" sz="1800" dirty="0">
                <a:solidFill>
                  <a:srgbClr val="CC0000"/>
                </a:solidFill>
                <a:sym typeface="Symbol" panose="05050102010706020507" pitchFamily="18" charset="2"/>
              </a:rPr>
              <a:t>E+T</a:t>
            </a:r>
            <a:r>
              <a:rPr lang="en-US" sz="1800" dirty="0">
                <a:sym typeface="Symbol" panose="05050102010706020507" pitchFamily="18" charset="2"/>
              </a:rPr>
              <a:t>		$		reduce by E  E+T</a:t>
            </a:r>
          </a:p>
          <a:p>
            <a:pPr>
              <a:buFontTx/>
              <a:buNone/>
            </a:pPr>
            <a:r>
              <a:rPr lang="en-US" sz="1800" dirty="0">
                <a:sym typeface="Symbol" panose="05050102010706020507" pitchFamily="18" charset="2"/>
              </a:rPr>
              <a:t>$E		$		accept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8912B8-1BE7-E88A-A49E-96F01C26C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676" y="1408980"/>
            <a:ext cx="1188823" cy="8001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Conflicts During Shift-Reduce Parsing</a:t>
            </a:r>
          </a:p>
        </p:txBody>
      </p:sp>
      <p:sp>
        <p:nvSpPr>
          <p:cNvPr id="71689" name="Date Placeholder 9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2539363-B93C-4A61-862A-F5710D1F9E9E}" type="datetime1">
              <a:rPr lang="en-US" smtClean="0"/>
              <a:t>11/26/2025</a:t>
            </a:fld>
            <a:endParaRPr lang="en-US"/>
          </a:p>
        </p:txBody>
      </p:sp>
      <p:sp>
        <p:nvSpPr>
          <p:cNvPr id="716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1F0C70A-02A7-4DE2-AF19-68DFFF99FD0D}" type="slidenum">
              <a:rPr lang="en-US" smtClean="0"/>
              <a:t>13</a:t>
            </a:fld>
            <a:endParaRPr lang="en-US"/>
          </a:p>
        </p:txBody>
      </p:sp>
      <p:sp>
        <p:nvSpPr>
          <p:cNvPr id="7168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There are context-free grammars for which shift-reduce parsers cannot be used.</a:t>
            </a:r>
          </a:p>
          <a:p>
            <a:r>
              <a:rPr lang="en-US" dirty="0"/>
              <a:t>Stack contents and the next input symbol may not decide action:</a:t>
            </a:r>
          </a:p>
          <a:p>
            <a:pPr lvl="1"/>
            <a:r>
              <a:rPr lang="en-US" sz="2400" b="1" dirty="0"/>
              <a:t>shift/reduce conflict</a:t>
            </a:r>
            <a:r>
              <a:rPr lang="en-US" sz="2400" dirty="0"/>
              <a:t>: Whether make a shift operation or a reduction.</a:t>
            </a:r>
          </a:p>
          <a:p>
            <a:pPr lvl="1"/>
            <a:r>
              <a:rPr lang="en-US" sz="2400" b="1" dirty="0"/>
              <a:t>reduce/reduce conflict</a:t>
            </a:r>
            <a:r>
              <a:rPr lang="en-US" sz="2400" dirty="0"/>
              <a:t>: The parser cannot decide which of several reductions to make.</a:t>
            </a:r>
            <a:endParaRPr lang="en-US" dirty="0"/>
          </a:p>
          <a:p>
            <a:r>
              <a:rPr lang="en-US" dirty="0"/>
              <a:t>If a shift-reduce parser cannot be used for a grammar, that grammar is called as non-LR(k) grammar.</a:t>
            </a:r>
          </a:p>
          <a:p>
            <a:endParaRPr lang="en-US" dirty="0"/>
          </a:p>
          <a:p>
            <a:pPr>
              <a:lnSpc>
                <a:spcPct val="70000"/>
              </a:lnSpc>
              <a:spcBef>
                <a:spcPct val="0"/>
              </a:spcBef>
              <a:buFontTx/>
              <a:buNone/>
            </a:pPr>
            <a:r>
              <a:rPr lang="en-US" dirty="0"/>
              <a:t>	An ambiguous grammar can never be a LR grammar.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3200"/>
            <a:ext cx="8534400" cy="758952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0FDE4-E08D-4BA4-A471-AA31571F87F0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A606-8ADA-4191-AC01-87413FC97642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110</TotalTime>
  <Words>1278</Words>
  <Application>Microsoft Office PowerPoint</Application>
  <PresentationFormat>On-screen Show (4:3)</PresentationFormat>
  <Paragraphs>161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Courier New</vt:lpstr>
      <vt:lpstr>Georgia</vt:lpstr>
      <vt:lpstr>Symbol</vt:lpstr>
      <vt:lpstr>Times New Roman</vt:lpstr>
      <vt:lpstr>Wingdings</vt:lpstr>
      <vt:lpstr>Wingdings 2</vt:lpstr>
      <vt:lpstr>Civic</vt:lpstr>
      <vt:lpstr>Syntax Analysis</vt:lpstr>
      <vt:lpstr>Bottom-Up Parsing</vt:lpstr>
      <vt:lpstr>Bottom-Up Parsing</vt:lpstr>
      <vt:lpstr>Shift-Reduce Parsing</vt:lpstr>
      <vt:lpstr>Shift-Reduce Parsing -- Example</vt:lpstr>
      <vt:lpstr>Shift-Reduce Parsing -- Example</vt:lpstr>
      <vt:lpstr>Handle</vt:lpstr>
      <vt:lpstr>Handle Pruning</vt:lpstr>
      <vt:lpstr>A Shift-Reduce Parser</vt:lpstr>
      <vt:lpstr>A Shift-Reduce Parser</vt:lpstr>
      <vt:lpstr>Stack Implementation of  Shift-Reduce Parser</vt:lpstr>
      <vt:lpstr>A Stack Implementation of A Shift-Reduce Parser </vt:lpstr>
      <vt:lpstr>Conflicts During Shift-Reduce Parsing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Syntax Analysis</dc:title>
  <dc:creator>K.M.Azharul Hasan</dc:creator>
  <cp:lastModifiedBy>Md Manirujjaman</cp:lastModifiedBy>
  <cp:revision>64</cp:revision>
  <dcterms:created xsi:type="dcterms:W3CDTF">2014-01-28T05:18:00Z</dcterms:created>
  <dcterms:modified xsi:type="dcterms:W3CDTF">2025-11-26T03:53:29Z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A829AC506755480CA9B24F954A91ED07_12</vt:lpwstr>
  </property>
  <property fmtid="{D5CDD505-2E9C-101B-9397-08002B2CF9AE}" pid="3" name="KSOProductBuildVer">
    <vt:lpwstr>1033-12.2.0.18283</vt:lpwstr>
  </property>
</Properties>
</file>